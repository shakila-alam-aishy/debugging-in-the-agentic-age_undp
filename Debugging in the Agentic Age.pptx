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6858000" cx="12192000"/>
  <p:notesSz cx="6858000" cy="9144000"/>
  <p:embeddedFontLst>
    <p:embeddedFont>
      <p:font typeface="Plus Jakarta Sans ExtraBold"/>
      <p:bold r:id="rId32"/>
      <p:boldItalic r:id="rId33"/>
    </p:embeddedFont>
    <p:embeddedFont>
      <p:font typeface="Inter"/>
      <p:regular r:id="rId34"/>
      <p:bold r:id="rId35"/>
      <p:italic r:id="rId36"/>
      <p:boldItalic r:id="rId37"/>
    </p:embeddedFont>
    <p:embeddedFont>
      <p:font typeface="Plus Jakarta Sans"/>
      <p:regular r:id="rId38"/>
      <p:bold r:id="rId39"/>
      <p:italic r:id="rId40"/>
      <p:boldItalic r:id="rId41"/>
    </p:embeddedFont>
    <p:embeddedFont>
      <p:font typeface="JetBrains Mono ExtraBold"/>
      <p:bold r:id="rId42"/>
      <p:boldItalic r:id="rId43"/>
    </p:embeddedFont>
    <p:embeddedFont>
      <p:font typeface="JetBrains Mono Medium"/>
      <p:regular r:id="rId44"/>
      <p:bold r:id="rId45"/>
      <p:italic r:id="rId46"/>
      <p:boldItalic r:id="rId47"/>
    </p:embeddedFont>
    <p:embeddedFont>
      <p:font typeface="Plus Jakarta Sans SemiBold"/>
      <p:regular r:id="rId48"/>
      <p:bold r:id="rId49"/>
      <p:italic r:id="rId50"/>
      <p:boldItalic r:id="rId51"/>
    </p:embeddedFont>
    <p:embeddedFont>
      <p:font typeface="Plus Jakarta Sans Medium"/>
      <p:regular r:id="rId52"/>
      <p:bold r:id="rId53"/>
      <p:italic r:id="rId54"/>
      <p:boldItalic r:id="rId55"/>
    </p:embeddedFont>
    <p:embeddedFont>
      <p:font typeface="Roboto Mono"/>
      <p:regular r:id="rId56"/>
      <p:bold r:id="rId57"/>
      <p:italic r:id="rId58"/>
      <p:boldItalic r:id="rId59"/>
    </p:embeddedFont>
    <p:embeddedFont>
      <p:font typeface="JetBrains Mono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lusJakartaSans-italic.fntdata"/><Relationship Id="rId42" Type="http://schemas.openxmlformats.org/officeDocument/2006/relationships/font" Target="fonts/JetBrainsMonoExtraBold-bold.fntdata"/><Relationship Id="rId41" Type="http://schemas.openxmlformats.org/officeDocument/2006/relationships/font" Target="fonts/PlusJakartaSans-boldItalic.fntdata"/><Relationship Id="rId44" Type="http://schemas.openxmlformats.org/officeDocument/2006/relationships/font" Target="fonts/JetBrainsMonoMedium-regular.fntdata"/><Relationship Id="rId43" Type="http://schemas.openxmlformats.org/officeDocument/2006/relationships/font" Target="fonts/JetBrainsMonoExtraBold-boldItalic.fntdata"/><Relationship Id="rId46" Type="http://schemas.openxmlformats.org/officeDocument/2006/relationships/font" Target="fonts/JetBrainsMonoMedium-italic.fntdata"/><Relationship Id="rId45" Type="http://schemas.openxmlformats.org/officeDocument/2006/relationships/font" Target="fonts/JetBrainsMono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PlusJakartaSansSemiBold-regular.fntdata"/><Relationship Id="rId47" Type="http://schemas.openxmlformats.org/officeDocument/2006/relationships/font" Target="fonts/JetBrainsMonoMedium-boldItalic.fntdata"/><Relationship Id="rId49" Type="http://schemas.openxmlformats.org/officeDocument/2006/relationships/font" Target="fonts/PlusJakartaSansSemiBold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font" Target="fonts/PlusJakartaSansExtraBold-boldItalic.fntdata"/><Relationship Id="rId32" Type="http://schemas.openxmlformats.org/officeDocument/2006/relationships/font" Target="fonts/PlusJakartaSansExtraBold-bold.fntdata"/><Relationship Id="rId35" Type="http://schemas.openxmlformats.org/officeDocument/2006/relationships/font" Target="fonts/Inter-bold.fntdata"/><Relationship Id="rId34" Type="http://schemas.openxmlformats.org/officeDocument/2006/relationships/font" Target="fonts/Inter-regular.fntdata"/><Relationship Id="rId37" Type="http://schemas.openxmlformats.org/officeDocument/2006/relationships/font" Target="fonts/Inter-boldItalic.fntdata"/><Relationship Id="rId36" Type="http://schemas.openxmlformats.org/officeDocument/2006/relationships/font" Target="fonts/Inter-italic.fntdata"/><Relationship Id="rId39" Type="http://schemas.openxmlformats.org/officeDocument/2006/relationships/font" Target="fonts/PlusJakartaSans-bold.fntdata"/><Relationship Id="rId38" Type="http://schemas.openxmlformats.org/officeDocument/2006/relationships/font" Target="fonts/PlusJakartaSans-regular.fntdata"/><Relationship Id="rId62" Type="http://schemas.openxmlformats.org/officeDocument/2006/relationships/font" Target="fonts/JetBrainsMono-italic.fntdata"/><Relationship Id="rId61" Type="http://schemas.openxmlformats.org/officeDocument/2006/relationships/font" Target="fonts/JetBrainsMono-bold.fntdata"/><Relationship Id="rId20" Type="http://schemas.openxmlformats.org/officeDocument/2006/relationships/slide" Target="slides/slide14.xml"/><Relationship Id="rId63" Type="http://schemas.openxmlformats.org/officeDocument/2006/relationships/font" Target="fonts/JetBrainsMono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JetBrainsMono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PlusJakartaSansSemiBold-boldItalic.fntdata"/><Relationship Id="rId50" Type="http://schemas.openxmlformats.org/officeDocument/2006/relationships/font" Target="fonts/PlusJakartaSansSemiBold-italic.fntdata"/><Relationship Id="rId53" Type="http://schemas.openxmlformats.org/officeDocument/2006/relationships/font" Target="fonts/PlusJakartaSansMedium-bold.fntdata"/><Relationship Id="rId52" Type="http://schemas.openxmlformats.org/officeDocument/2006/relationships/font" Target="fonts/PlusJakartaSansMedium-regular.fntdata"/><Relationship Id="rId11" Type="http://schemas.openxmlformats.org/officeDocument/2006/relationships/slide" Target="slides/slide5.xml"/><Relationship Id="rId55" Type="http://schemas.openxmlformats.org/officeDocument/2006/relationships/font" Target="fonts/PlusJakartaSansMedium-boldItalic.fntdata"/><Relationship Id="rId10" Type="http://schemas.openxmlformats.org/officeDocument/2006/relationships/slide" Target="slides/slide4.xml"/><Relationship Id="rId54" Type="http://schemas.openxmlformats.org/officeDocument/2006/relationships/font" Target="fonts/PlusJakartaSansMedium-italic.fntdata"/><Relationship Id="rId13" Type="http://schemas.openxmlformats.org/officeDocument/2006/relationships/slide" Target="slides/slide7.xml"/><Relationship Id="rId57" Type="http://schemas.openxmlformats.org/officeDocument/2006/relationships/font" Target="fonts/RobotoMono-bold.fntdata"/><Relationship Id="rId12" Type="http://schemas.openxmlformats.org/officeDocument/2006/relationships/slide" Target="slides/slide6.xml"/><Relationship Id="rId56" Type="http://schemas.openxmlformats.org/officeDocument/2006/relationships/font" Target="fonts/RobotoMono-regular.fntdata"/><Relationship Id="rId15" Type="http://schemas.openxmlformats.org/officeDocument/2006/relationships/slide" Target="slides/slide9.xml"/><Relationship Id="rId59" Type="http://schemas.openxmlformats.org/officeDocument/2006/relationships/font" Target="fonts/RobotoMono-boldItalic.fntdata"/><Relationship Id="rId14" Type="http://schemas.openxmlformats.org/officeDocument/2006/relationships/slide" Target="slides/slide8.xml"/><Relationship Id="rId58" Type="http://schemas.openxmlformats.org/officeDocument/2006/relationships/font" Target="fonts/RobotoMono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h9579ba82beaeb4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h9579ba82beaeb45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h9579ba82beaeb45_1_1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h9579ba82beaeb45_1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h9579ba82beaeb45_1_6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h9579ba82beaeb45_1_62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h9579ba82beaeb45_1_2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h9579ba82beaeb45_1_26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h9579ba82beaeb45_1_41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h9579ba82beaeb45_1_4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h9579ba82beaeb45_1_40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h9579ba82beaeb45_1_40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h9579ba82beaeb45_1_5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h9579ba82beaeb45_1_56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h9579ba82beaeb45_1_57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h9579ba82beaeb45_1_57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h9579ba82beaeb45_1_59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h9579ba82beaeb45_1_59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5700e67088d061c5_7_0)">
  <p:cSld name="Generated (h5700e67088d061c5_7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4" name="Google Shape;94;p1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6" name="Google Shape;106;p1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p19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3" name="Google Shape;113;p1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9" name="Google Shape;119;p20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0" name="Google Shape;120;p20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1" name="Google Shape;121;p20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2" name="Google Shape;122;p2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2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3" name="Google Shape;133;p22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4" name="Google Shape;134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23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1" name="Google Shape;141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4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21d2b660396d6d2d_59_0)">
  <p:cSld name="Generated (h21d2b660396d6d2d_59_0)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3" name="Google Shape;83;p1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image" Target="../media/image7.png"/><Relationship Id="rId6" Type="http://schemas.openxmlformats.org/officeDocument/2006/relationships/image" Target="../media/image17.png"/><Relationship Id="rId7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Relationship Id="rId4" Type="http://schemas.openxmlformats.org/officeDocument/2006/relationships/image" Target="../media/image16.png"/><Relationship Id="rId5" Type="http://schemas.openxmlformats.org/officeDocument/2006/relationships/image" Target="../media/image23.png"/><Relationship Id="rId6" Type="http://schemas.openxmlformats.org/officeDocument/2006/relationships/image" Target="../media/image12.png"/><Relationship Id="rId7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Relationship Id="rId4" Type="http://schemas.openxmlformats.org/officeDocument/2006/relationships/image" Target="../media/image27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7" title="und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65625" y="0"/>
            <a:ext cx="726375" cy="110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7"/>
          <p:cNvSpPr/>
          <p:nvPr/>
        </p:nvSpPr>
        <p:spPr>
          <a:xfrm>
            <a:off x="2973850" y="4010975"/>
            <a:ext cx="5750400" cy="1107300"/>
          </a:xfrm>
          <a:prstGeom prst="roundRect">
            <a:avLst>
              <a:gd fmla="val 22222" name="adj"/>
            </a:avLst>
          </a:prstGeom>
          <a:solidFill>
            <a:srgbClr val="17223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7"/>
          <p:cNvSpPr txBox="1"/>
          <p:nvPr/>
        </p:nvSpPr>
        <p:spPr>
          <a:xfrm>
            <a:off x="3659096" y="4303025"/>
            <a:ext cx="4563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Shakila Alam Aishy </a:t>
            </a:r>
            <a:endParaRPr b="1" sz="2000">
              <a:solidFill>
                <a:srgbClr val="818C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UN Volunteer – Agentic AI &amp; Vibe Coding Trainer </a:t>
            </a:r>
            <a:endParaRPr b="1">
              <a:solidFill>
                <a:srgbClr val="818C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64" name="Google Shape;164;p27"/>
          <p:cNvGrpSpPr/>
          <p:nvPr/>
        </p:nvGrpSpPr>
        <p:grpSpPr>
          <a:xfrm>
            <a:off x="647700" y="779625"/>
            <a:ext cx="11314925" cy="4054602"/>
            <a:chOff x="647700" y="762000"/>
            <a:chExt cx="11314925" cy="4054602"/>
          </a:xfrm>
        </p:grpSpPr>
        <p:sp>
          <p:nvSpPr>
            <p:cNvPr id="165" name="Google Shape;165;p27"/>
            <p:cNvSpPr/>
            <p:nvPr/>
          </p:nvSpPr>
          <p:spPr>
            <a:xfrm>
              <a:off x="647700" y="762000"/>
              <a:ext cx="38100" cy="266700"/>
            </a:xfrm>
            <a:prstGeom prst="roundRect">
              <a:avLst>
                <a:gd fmla="val 50000" name="adj"/>
              </a:avLst>
            </a:prstGeom>
            <a:solidFill>
              <a:srgbClr val="00D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7"/>
            <p:cNvSpPr txBox="1"/>
            <p:nvPr/>
          </p:nvSpPr>
          <p:spPr>
            <a:xfrm>
              <a:off x="1653125" y="1544100"/>
              <a:ext cx="10309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600">
                  <a:solidFill>
                    <a:srgbClr val="FFFFFF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Debugging in the </a:t>
              </a:r>
              <a:r>
                <a:rPr b="0" lang="en-US" sz="4600">
                  <a:solidFill>
                    <a:srgbClr val="00D2FF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Agentic Age</a:t>
              </a:r>
              <a:endParaRPr b="0" sz="4600">
                <a:solidFill>
                  <a:srgbClr val="00D2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endParaRPr>
            </a:p>
          </p:txBody>
        </p:sp>
        <p:sp>
          <p:nvSpPr>
            <p:cNvPr id="167" name="Google Shape;167;p27"/>
            <p:cNvSpPr txBox="1"/>
            <p:nvPr/>
          </p:nvSpPr>
          <p:spPr>
            <a:xfrm>
              <a:off x="2393013" y="2687100"/>
              <a:ext cx="8050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70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From Manual Error Hunting to AI-Assisted Intelligent Debugging</a:t>
              </a:r>
              <a:endParaRPr b="0" sz="17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168" name="Google Shape;168;p27"/>
            <p:cNvGrpSpPr/>
            <p:nvPr/>
          </p:nvGrpSpPr>
          <p:grpSpPr>
            <a:xfrm>
              <a:off x="895350" y="4324350"/>
              <a:ext cx="457200" cy="492252"/>
              <a:chOff x="247650" y="228600"/>
              <a:chExt cx="457200" cy="492252"/>
            </a:xfrm>
          </p:grpSpPr>
          <p:sp>
            <p:nvSpPr>
              <p:cNvPr id="169" name="Google Shape;169;p27"/>
              <p:cNvSpPr/>
              <p:nvPr/>
            </p:nvSpPr>
            <p:spPr>
              <a:xfrm>
                <a:off x="247650" y="228600"/>
                <a:ext cx="457200" cy="457200"/>
              </a:xfrm>
              <a:prstGeom prst="ellipse">
                <a:avLst/>
              </a:prstGeom>
              <a:solidFill>
                <a:srgbClr val="0D152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27"/>
              <p:cNvSpPr txBox="1"/>
              <p:nvPr/>
            </p:nvSpPr>
            <p:spPr>
              <a:xfrm>
                <a:off x="247650" y="263652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00D2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e</a:t>
                </a:r>
                <a:endParaRPr sz="2400">
                  <a:solidFill>
                    <a:srgbClr val="00D2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</p:grpSp>
      <p:sp>
        <p:nvSpPr>
          <p:cNvPr id="171" name="Google Shape;171;p27"/>
          <p:cNvSpPr txBox="1"/>
          <p:nvPr/>
        </p:nvSpPr>
        <p:spPr>
          <a:xfrm>
            <a:off x="921414" y="779628"/>
            <a:ext cx="11041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SESSION 07 · QUALITY &amp; SCALE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/>
          <p:nvPr/>
        </p:nvSpPr>
        <p:spPr>
          <a:xfrm>
            <a:off x="495300" y="461963"/>
            <a:ext cx="57300" cy="362100"/>
          </a:xfrm>
          <a:prstGeom prst="roundRect">
            <a:avLst>
              <a:gd fmla="val 50000" name="adj"/>
            </a:avLst>
          </a:prstGeom>
          <a:solidFill>
            <a:srgbClr val="00D2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8"/>
          <p:cNvSpPr txBox="1"/>
          <p:nvPr/>
        </p:nvSpPr>
        <p:spPr>
          <a:xfrm>
            <a:off x="666750" y="361950"/>
            <a:ext cx="38100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D2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About the Trainer</a:t>
            </a:r>
            <a:endParaRPr b="1" sz="2250">
              <a:solidFill>
                <a:srgbClr val="00D2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8" name="Google Shape;178;p28"/>
          <p:cNvSpPr txBox="1"/>
          <p:nvPr/>
        </p:nvSpPr>
        <p:spPr>
          <a:xfrm>
            <a:off x="666750" y="752475"/>
            <a:ext cx="3810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Academic Background &amp; Profile</a:t>
            </a:r>
            <a:endParaRPr b="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179" name="Google Shape;179;p28"/>
          <p:cNvGrpSpPr/>
          <p:nvPr/>
        </p:nvGrpSpPr>
        <p:grpSpPr>
          <a:xfrm>
            <a:off x="666750" y="1714500"/>
            <a:ext cx="2947746" cy="3474699"/>
            <a:chOff x="0" y="0"/>
            <a:chExt cx="2822700" cy="3327300"/>
          </a:xfrm>
        </p:grpSpPr>
        <p:pic>
          <p:nvPicPr>
            <p:cNvPr id="180" name="Google Shape;180;p28"/>
            <p:cNvPicPr preferRelativeResize="0"/>
            <p:nvPr/>
          </p:nvPicPr>
          <p:blipFill/>
          <p:spPr>
            <a:xfrm>
              <a:off x="0" y="0"/>
              <a:ext cx="2822700" cy="3327300"/>
            </a:xfrm>
            <a:prstGeom prst="roundRect">
              <a:avLst>
                <a:gd fmla="val 0" name="adj"/>
              </a:avLst>
            </a:prstGeom>
            <a:noFill/>
            <a:ln>
              <a:noFill/>
            </a:ln>
          </p:spPr>
        </p:pic>
        <p:sp>
          <p:nvSpPr>
            <p:cNvPr id="181" name="Google Shape;181;p28"/>
            <p:cNvSpPr/>
            <p:nvPr/>
          </p:nvSpPr>
          <p:spPr>
            <a:xfrm>
              <a:off x="0" y="0"/>
              <a:ext cx="2822700" cy="3327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19875">
              <a:solidFill>
                <a:srgbClr val="00D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" name="Google Shape;182;p28"/>
          <p:cNvSpPr/>
          <p:nvPr/>
        </p:nvSpPr>
        <p:spPr>
          <a:xfrm>
            <a:off x="3905400" y="1744238"/>
            <a:ext cx="7620000" cy="1047900"/>
          </a:xfrm>
          <a:prstGeom prst="roundRect">
            <a:avLst>
              <a:gd fmla="val 16363" name="adj"/>
            </a:avLst>
          </a:prstGeom>
          <a:solidFill>
            <a:srgbClr val="1722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8"/>
          <p:cNvSpPr txBox="1"/>
          <p:nvPr/>
        </p:nvSpPr>
        <p:spPr>
          <a:xfrm>
            <a:off x="4143525" y="1934738"/>
            <a:ext cx="71439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D2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Shakila Alam Aishy</a:t>
            </a:r>
            <a:endParaRPr b="1" sz="1500">
              <a:solidFill>
                <a:srgbClr val="00D2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4" name="Google Shape;184;p28"/>
          <p:cNvSpPr txBox="1"/>
          <p:nvPr/>
        </p:nvSpPr>
        <p:spPr>
          <a:xfrm>
            <a:off x="4143525" y="2220500"/>
            <a:ext cx="73818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Passionate about AI-driven development and modern debugging, with a focus on helping participants explore AI agents and use AI responsibly in software development.</a:t>
            </a:r>
            <a:endParaRPr sz="1300">
              <a:solidFill>
                <a:srgbClr val="E2E8F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E2E8F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5" name="Google Shape;185;p28"/>
          <p:cNvSpPr/>
          <p:nvPr/>
        </p:nvSpPr>
        <p:spPr>
          <a:xfrm>
            <a:off x="3905400" y="3189100"/>
            <a:ext cx="7620000" cy="2000100"/>
          </a:xfrm>
          <a:prstGeom prst="roundRect">
            <a:avLst>
              <a:gd fmla="val 8571" name="adj"/>
            </a:avLst>
          </a:prstGeom>
          <a:solidFill>
            <a:srgbClr val="1722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8"/>
          <p:cNvSpPr/>
          <p:nvPr/>
        </p:nvSpPr>
        <p:spPr>
          <a:xfrm>
            <a:off x="3905400" y="3189100"/>
            <a:ext cx="38100" cy="2000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8"/>
          <p:cNvSpPr txBox="1"/>
          <p:nvPr/>
        </p:nvSpPr>
        <p:spPr>
          <a:xfrm>
            <a:off x="4143525" y="3379600"/>
            <a:ext cx="71439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D2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Education &amp; Academic Status</a:t>
            </a:r>
            <a:endParaRPr b="1" sz="1500">
              <a:solidFill>
                <a:srgbClr val="00D2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8" name="Google Shape;188;p28"/>
          <p:cNvSpPr txBox="1"/>
          <p:nvPr/>
        </p:nvSpPr>
        <p:spPr>
          <a:xfrm>
            <a:off x="4143526" y="3722500"/>
            <a:ext cx="7143900" cy="14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00D2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University:</a:t>
            </a:r>
            <a:r>
              <a:rPr b="0" i="0" lang="en-US" sz="1300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Begum Rokeya University, Rangpur</a:t>
            </a:r>
            <a:endParaRPr b="1" i="0" sz="1300">
              <a:solidFill>
                <a:srgbClr val="00D2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00D2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Department:</a:t>
            </a:r>
            <a:r>
              <a:rPr b="0" i="0" lang="en-US" sz="1300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Computer Science and Engineering</a:t>
            </a:r>
            <a:endParaRPr b="1" i="0" sz="1300">
              <a:solidFill>
                <a:srgbClr val="00D2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00D2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Status:</a:t>
            </a:r>
            <a:r>
              <a:rPr b="0" i="0" lang="en-US" sz="1300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Undergraduate Student</a:t>
            </a:r>
            <a:endParaRPr b="1" i="0" sz="1300">
              <a:solidFill>
                <a:srgbClr val="00D2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700"/>
              </a:spcBef>
              <a:spcAft>
                <a:spcPts val="700"/>
              </a:spcAft>
              <a:buNone/>
            </a:pPr>
            <a:r>
              <a:rPr b="1" i="0" lang="en-US" sz="1300">
                <a:solidFill>
                  <a:srgbClr val="00D2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Country:</a:t>
            </a:r>
            <a:r>
              <a:rPr b="0" i="0" lang="en-US" sz="1300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Bangladesh</a:t>
            </a:r>
            <a:endParaRPr b="1" i="0" sz="1300">
              <a:solidFill>
                <a:srgbClr val="00D2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89" name="Google Shape;189;p28" title="und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65625" y="0"/>
            <a:ext cx="726375" cy="110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675" y="1443188"/>
            <a:ext cx="3061901" cy="40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7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oogle Shape;195;p29"/>
          <p:cNvGrpSpPr/>
          <p:nvPr/>
        </p:nvGrpSpPr>
        <p:grpSpPr>
          <a:xfrm>
            <a:off x="685800" y="514350"/>
            <a:ext cx="9696450" cy="685800"/>
            <a:chOff x="0" y="0"/>
            <a:chExt cx="9696450" cy="685800"/>
          </a:xfrm>
        </p:grpSpPr>
        <p:sp>
          <p:nvSpPr>
            <p:cNvPr id="196" name="Google Shape;196;p29"/>
            <p:cNvSpPr/>
            <p:nvPr/>
          </p:nvSpPr>
          <p:spPr>
            <a:xfrm>
              <a:off x="0" y="152400"/>
              <a:ext cx="38100" cy="266700"/>
            </a:xfrm>
            <a:prstGeom prst="roundRect">
              <a:avLst>
                <a:gd fmla="val 50000" name="adj"/>
              </a:avLst>
            </a:prstGeom>
            <a:solidFill>
              <a:srgbClr val="00D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9"/>
            <p:cNvSpPr txBox="1"/>
            <p:nvPr/>
          </p:nvSpPr>
          <p:spPr>
            <a:xfrm>
              <a:off x="171450" y="0"/>
              <a:ext cx="9525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FOUNDATIONAL CONCEPT</a:t>
              </a:r>
              <a:endParaRPr b="1" sz="12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98" name="Google Shape;198;p29"/>
            <p:cNvSpPr txBox="1"/>
            <p:nvPr/>
          </p:nvSpPr>
          <p:spPr>
            <a:xfrm>
              <a:off x="171450" y="228600"/>
              <a:ext cx="9525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FFFFFF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What Is Agentic Coding?</a:t>
              </a:r>
              <a:endParaRPr b="0" sz="280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endParaRPr>
            </a:p>
          </p:txBody>
        </p:sp>
      </p:grpSp>
      <p:grpSp>
        <p:nvGrpSpPr>
          <p:cNvPr id="199" name="Google Shape;199;p29"/>
          <p:cNvGrpSpPr/>
          <p:nvPr/>
        </p:nvGrpSpPr>
        <p:grpSpPr>
          <a:xfrm>
            <a:off x="685800" y="1714500"/>
            <a:ext cx="3352800" cy="4381500"/>
            <a:chOff x="0" y="0"/>
            <a:chExt cx="3352800" cy="4381500"/>
          </a:xfrm>
        </p:grpSpPr>
        <p:sp>
          <p:nvSpPr>
            <p:cNvPr id="200" name="Google Shape;200;p29"/>
            <p:cNvSpPr/>
            <p:nvPr/>
          </p:nvSpPr>
          <p:spPr>
            <a:xfrm>
              <a:off x="0" y="0"/>
              <a:ext cx="3352800" cy="4381500"/>
            </a:xfrm>
            <a:prstGeom prst="roundRect">
              <a:avLst>
                <a:gd fmla="val 4545" name="adj"/>
              </a:avLst>
            </a:prstGeom>
            <a:solidFill>
              <a:srgbClr val="0F172A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9"/>
            <p:cNvSpPr/>
            <p:nvPr/>
          </p:nvSpPr>
          <p:spPr>
            <a:xfrm>
              <a:off x="0" y="0"/>
              <a:ext cx="3352800" cy="57300"/>
            </a:xfrm>
            <a:prstGeom prst="roundRect">
              <a:avLst>
                <a:gd fmla="val 50000" name="adj"/>
              </a:avLst>
            </a:prstGeom>
            <a:solidFill>
              <a:srgbClr val="00D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9"/>
            <p:cNvSpPr txBox="1"/>
            <p:nvPr/>
          </p:nvSpPr>
          <p:spPr>
            <a:xfrm>
              <a:off x="304800" y="304800"/>
              <a:ext cx="2743200" cy="37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00D2FF"/>
                  </a:solidFill>
                  <a:latin typeface="JetBrains Mono ExtraBold"/>
                  <a:ea typeface="JetBrains Mono ExtraBold"/>
                  <a:cs typeface="JetBrains Mono ExtraBold"/>
                  <a:sym typeface="JetBrains Mono ExtraBold"/>
                </a:rPr>
                <a:t>01</a:t>
              </a:r>
              <a:r>
                <a:rPr lang="en-US">
                  <a:latin typeface="Plus Jakarta Sans"/>
                  <a:ea typeface="Plus Jakarta Sans"/>
                  <a:cs typeface="Plus Jakarta Sans"/>
                  <a:sym typeface="Plus Jakarta Sans"/>
                </a:rPr>
                <a:t> </a:t>
              </a:r>
              <a:r>
                <a:rPr lang="en-US" sz="2800">
                  <a:solidFill>
                    <a:srgbClr val="00D2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smart_toy</a:t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Autonomous Loop</a:t>
              </a:r>
              <a:endParaRPr b="1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just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Agents read file trees, edit multiple scripts, run shell commands, and iteratively test outcomes.</a:t>
              </a:r>
              <a:endParaRPr b="0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# EXECUTION_ENGINE</a:t>
              </a:r>
              <a:endParaRPr sz="13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203" name="Google Shape;203;p29"/>
          <p:cNvGrpSpPr/>
          <p:nvPr/>
        </p:nvGrpSpPr>
        <p:grpSpPr>
          <a:xfrm>
            <a:off x="4419600" y="1714500"/>
            <a:ext cx="3352800" cy="4381500"/>
            <a:chOff x="0" y="0"/>
            <a:chExt cx="3352800" cy="4381500"/>
          </a:xfrm>
        </p:grpSpPr>
        <p:sp>
          <p:nvSpPr>
            <p:cNvPr id="204" name="Google Shape;204;p29"/>
            <p:cNvSpPr/>
            <p:nvPr/>
          </p:nvSpPr>
          <p:spPr>
            <a:xfrm>
              <a:off x="0" y="0"/>
              <a:ext cx="3352800" cy="4381500"/>
            </a:xfrm>
            <a:prstGeom prst="roundRect">
              <a:avLst>
                <a:gd fmla="val 4545" name="adj"/>
              </a:avLst>
            </a:prstGeom>
            <a:solidFill>
              <a:srgbClr val="0F172A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9"/>
            <p:cNvSpPr/>
            <p:nvPr/>
          </p:nvSpPr>
          <p:spPr>
            <a:xfrm>
              <a:off x="0" y="0"/>
              <a:ext cx="3352800" cy="573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9"/>
            <p:cNvSpPr txBox="1"/>
            <p:nvPr/>
          </p:nvSpPr>
          <p:spPr>
            <a:xfrm>
              <a:off x="304800" y="304800"/>
              <a:ext cx="2743200" cy="37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F59E0B"/>
                  </a:solidFill>
                  <a:latin typeface="JetBrains Mono ExtraBold"/>
                  <a:ea typeface="JetBrains Mono ExtraBold"/>
                  <a:cs typeface="JetBrains Mono ExtraBold"/>
                  <a:sym typeface="JetBrains Mono ExtraBold"/>
                </a:rPr>
                <a:t>02</a:t>
              </a:r>
              <a:r>
                <a:rPr lang="en-US">
                  <a:latin typeface="Plus Jakarta Sans"/>
                  <a:ea typeface="Plus Jakarta Sans"/>
                  <a:cs typeface="Plus Jakarta Sans"/>
                  <a:sym typeface="Plus Jakarta Sans"/>
                </a:rPr>
                <a:t> </a:t>
              </a:r>
              <a:r>
                <a:rPr lang="en-US" sz="28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speed</a:t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Generation vs Quality</a:t>
              </a:r>
              <a:endParaRPr b="1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just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Plausible syntax does not equal verified software. High output velocity creates invisible technical debt.</a:t>
              </a:r>
              <a:endParaRPr b="0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59E0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# VELOCITY_PARADOX</a:t>
              </a:r>
              <a:endParaRPr sz="1300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207" name="Google Shape;207;p29"/>
          <p:cNvGrpSpPr/>
          <p:nvPr/>
        </p:nvGrpSpPr>
        <p:grpSpPr>
          <a:xfrm>
            <a:off x="8153400" y="1714500"/>
            <a:ext cx="3352800" cy="4381500"/>
            <a:chOff x="0" y="0"/>
            <a:chExt cx="3352800" cy="4381500"/>
          </a:xfrm>
        </p:grpSpPr>
        <p:sp>
          <p:nvSpPr>
            <p:cNvPr id="208" name="Google Shape;208;p29"/>
            <p:cNvSpPr/>
            <p:nvPr/>
          </p:nvSpPr>
          <p:spPr>
            <a:xfrm>
              <a:off x="0" y="0"/>
              <a:ext cx="3352800" cy="4381500"/>
            </a:xfrm>
            <a:prstGeom prst="roundRect">
              <a:avLst>
                <a:gd fmla="val 4545" name="adj"/>
              </a:avLst>
            </a:prstGeom>
            <a:solidFill>
              <a:srgbClr val="0F172A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9"/>
            <p:cNvSpPr/>
            <p:nvPr/>
          </p:nvSpPr>
          <p:spPr>
            <a:xfrm>
              <a:off x="0" y="0"/>
              <a:ext cx="3352800" cy="573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9"/>
            <p:cNvSpPr txBox="1"/>
            <p:nvPr/>
          </p:nvSpPr>
          <p:spPr>
            <a:xfrm>
              <a:off x="304800" y="304800"/>
              <a:ext cx="2743200" cy="37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EF4444"/>
                  </a:solidFill>
                  <a:latin typeface="JetBrains Mono ExtraBold"/>
                  <a:ea typeface="JetBrains Mono ExtraBold"/>
                  <a:cs typeface="JetBrains Mono ExtraBold"/>
                  <a:sym typeface="JetBrains Mono ExtraBold"/>
                </a:rPr>
                <a:t>03</a:t>
              </a:r>
              <a:r>
                <a:rPr lang="en-US">
                  <a:latin typeface="Plus Jakarta Sans"/>
                  <a:ea typeface="Plus Jakarta Sans"/>
                  <a:cs typeface="Plus Jakarta Sans"/>
                  <a:sym typeface="Plus Jakarta Sans"/>
                </a:rPr>
                <a:t> </a:t>
              </a:r>
              <a:r>
                <a:rPr lang="en-US" sz="28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warning_amber</a:t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Confidence Bias</a:t>
              </a:r>
              <a:endParaRPr b="1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An agent’s confident response does not guarantee correct, safe, or secure code.</a:t>
              </a:r>
              <a:endParaRPr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-US" sz="1300">
                  <a:solidFill>
                    <a:srgbClr val="EF444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# HALLUCINATION_RISK</a:t>
              </a:r>
              <a:endParaRPr sz="1300">
                <a:solidFill>
                  <a:srgbClr val="EF444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pic>
        <p:nvPicPr>
          <p:cNvPr id="211" name="Google Shape;211;p29" title="und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65625" y="0"/>
            <a:ext cx="726375" cy="11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7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0"/>
          <p:cNvSpPr/>
          <p:nvPr/>
        </p:nvSpPr>
        <p:spPr>
          <a:xfrm>
            <a:off x="0" y="6848475"/>
            <a:ext cx="12192000" cy="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7" name="Google Shape;21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552450"/>
            <a:ext cx="169664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0"/>
          <p:cNvSpPr txBox="1"/>
          <p:nvPr/>
        </p:nvSpPr>
        <p:spPr>
          <a:xfrm>
            <a:off x="931664" y="533400"/>
            <a:ext cx="11260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FAILURE MODES</a:t>
            </a:r>
            <a:endParaRPr sz="1200"/>
          </a:p>
        </p:txBody>
      </p:sp>
      <p:sp>
        <p:nvSpPr>
          <p:cNvPr id="219" name="Google Shape;219;p30"/>
          <p:cNvSpPr txBox="1"/>
          <p:nvPr/>
        </p:nvSpPr>
        <p:spPr>
          <a:xfrm>
            <a:off x="685800" y="790575"/>
            <a:ext cx="1150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AI-Generated Code Breaks</a:t>
            </a:r>
            <a:endParaRPr sz="2800"/>
          </a:p>
        </p:txBody>
      </p:sp>
      <p:grpSp>
        <p:nvGrpSpPr>
          <p:cNvPr id="220" name="Google Shape;220;p30"/>
          <p:cNvGrpSpPr/>
          <p:nvPr/>
        </p:nvGrpSpPr>
        <p:grpSpPr>
          <a:xfrm>
            <a:off x="685800" y="1714500"/>
            <a:ext cx="2476500" cy="4381500"/>
            <a:chOff x="0" y="0"/>
            <a:chExt cx="2476500" cy="4381500"/>
          </a:xfrm>
        </p:grpSpPr>
        <p:sp>
          <p:nvSpPr>
            <p:cNvPr id="221" name="Google Shape;221;p30"/>
            <p:cNvSpPr/>
            <p:nvPr/>
          </p:nvSpPr>
          <p:spPr>
            <a:xfrm>
              <a:off x="0" y="0"/>
              <a:ext cx="2476500" cy="4381500"/>
            </a:xfrm>
            <a:prstGeom prst="roundRect">
              <a:avLst>
                <a:gd fmla="val 6153" name="adj"/>
              </a:avLst>
            </a:prstGeom>
            <a:solidFill>
              <a:srgbClr val="0F172A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30"/>
            <p:cNvSpPr/>
            <p:nvPr/>
          </p:nvSpPr>
          <p:spPr>
            <a:xfrm>
              <a:off x="0" y="0"/>
              <a:ext cx="2476500" cy="573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30"/>
            <p:cNvSpPr txBox="1"/>
            <p:nvPr/>
          </p:nvSpPr>
          <p:spPr>
            <a:xfrm>
              <a:off x="228600" y="266700"/>
              <a:ext cx="2019300" cy="384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EF4444"/>
                  </a:solidFill>
                  <a:latin typeface="JetBrains Mono ExtraBold"/>
                  <a:ea typeface="JetBrains Mono ExtraBold"/>
                  <a:cs typeface="JetBrains Mono ExtraBold"/>
                  <a:sym typeface="JetBrains Mono ExtraBold"/>
                </a:rPr>
                <a:t>01. ASSUMPTIONS </a:t>
              </a:r>
              <a:r>
                <a:rPr b="0" lang="en-US" sz="13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b="0" sz="1300">
                <a:solidFill>
                  <a:srgbClr val="EF4444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Flawed Context</a:t>
              </a:r>
              <a:endParaRPr b="1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Hallucinates database schemas and internal APIs without reading existing contracts.</a:t>
              </a:r>
              <a:endParaRPr b="0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EF4444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# FLAWED_CONTEXT</a:t>
              </a:r>
              <a:endParaRPr b="0" sz="1300">
                <a:solidFill>
                  <a:srgbClr val="EF4444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</p:grpSp>
      <p:grpSp>
        <p:nvGrpSpPr>
          <p:cNvPr id="224" name="Google Shape;224;p30"/>
          <p:cNvGrpSpPr/>
          <p:nvPr/>
        </p:nvGrpSpPr>
        <p:grpSpPr>
          <a:xfrm>
            <a:off x="3467100" y="1714500"/>
            <a:ext cx="2476500" cy="4381500"/>
            <a:chOff x="0" y="0"/>
            <a:chExt cx="2476500" cy="4381500"/>
          </a:xfrm>
        </p:grpSpPr>
        <p:sp>
          <p:nvSpPr>
            <p:cNvPr id="225" name="Google Shape;225;p30"/>
            <p:cNvSpPr/>
            <p:nvPr/>
          </p:nvSpPr>
          <p:spPr>
            <a:xfrm>
              <a:off x="0" y="0"/>
              <a:ext cx="2476500" cy="4381500"/>
            </a:xfrm>
            <a:prstGeom prst="roundRect">
              <a:avLst>
                <a:gd fmla="val 6153" name="adj"/>
              </a:avLst>
            </a:prstGeom>
            <a:solidFill>
              <a:srgbClr val="0F172A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30"/>
            <p:cNvSpPr/>
            <p:nvPr/>
          </p:nvSpPr>
          <p:spPr>
            <a:xfrm>
              <a:off x="0" y="0"/>
              <a:ext cx="2476500" cy="573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30"/>
            <p:cNvSpPr txBox="1"/>
            <p:nvPr/>
          </p:nvSpPr>
          <p:spPr>
            <a:xfrm>
              <a:off x="228600" y="266700"/>
              <a:ext cx="2019300" cy="384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F59E0B"/>
                  </a:solidFill>
                  <a:latin typeface="JetBrains Mono ExtraBold"/>
                  <a:ea typeface="JetBrains Mono ExtraBold"/>
                  <a:cs typeface="JetBrains Mono ExtraBold"/>
                  <a:sym typeface="JetBrains Mono ExtraBold"/>
                </a:rPr>
                <a:t>02. DEPENDENCIES </a:t>
              </a:r>
              <a:r>
                <a:rPr b="0" lang="en-US" sz="13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extension</a:t>
              </a:r>
              <a:endParaRPr b="0" sz="1300">
                <a:solidFill>
                  <a:srgbClr val="F59E0B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Ghost Packages</a:t>
              </a:r>
              <a:endParaRPr b="1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Imports non-existent libraries or deprecated modules that trigger runtime failures.</a:t>
              </a:r>
              <a:endParaRPr b="0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F59E0B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# GHOST_DEPENDENCY</a:t>
              </a:r>
              <a:endParaRPr b="0" sz="1300">
                <a:solidFill>
                  <a:srgbClr val="F59E0B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</p:grpSp>
      <p:grpSp>
        <p:nvGrpSpPr>
          <p:cNvPr id="228" name="Google Shape;228;p30"/>
          <p:cNvGrpSpPr/>
          <p:nvPr/>
        </p:nvGrpSpPr>
        <p:grpSpPr>
          <a:xfrm>
            <a:off x="6248400" y="1714500"/>
            <a:ext cx="2476500" cy="4381500"/>
            <a:chOff x="0" y="0"/>
            <a:chExt cx="2476500" cy="4381500"/>
          </a:xfrm>
        </p:grpSpPr>
        <p:sp>
          <p:nvSpPr>
            <p:cNvPr id="229" name="Google Shape;229;p30"/>
            <p:cNvSpPr/>
            <p:nvPr/>
          </p:nvSpPr>
          <p:spPr>
            <a:xfrm>
              <a:off x="0" y="0"/>
              <a:ext cx="2476500" cy="4381500"/>
            </a:xfrm>
            <a:prstGeom prst="roundRect">
              <a:avLst>
                <a:gd fmla="val 6153" name="adj"/>
              </a:avLst>
            </a:prstGeom>
            <a:solidFill>
              <a:srgbClr val="0F172A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30"/>
            <p:cNvSpPr/>
            <p:nvPr/>
          </p:nvSpPr>
          <p:spPr>
            <a:xfrm>
              <a:off x="0" y="0"/>
              <a:ext cx="2476500" cy="573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30"/>
            <p:cNvSpPr txBox="1"/>
            <p:nvPr/>
          </p:nvSpPr>
          <p:spPr>
            <a:xfrm>
              <a:off x="228600" y="266700"/>
              <a:ext cx="2019300" cy="384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38BDF8"/>
                  </a:solidFill>
                  <a:latin typeface="JetBrains Mono ExtraBold"/>
                  <a:ea typeface="JetBrains Mono ExtraBold"/>
                  <a:cs typeface="JetBrains Mono ExtraBold"/>
                  <a:sym typeface="JetBrains Mono ExtraBold"/>
                </a:rPr>
                <a:t>03. VALIDATION </a:t>
              </a:r>
              <a:r>
                <a:rPr b="0" lang="en-US" sz="13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shield</a:t>
              </a:r>
              <a:endParaRPr b="0" sz="1300">
                <a:solidFill>
                  <a:srgbClr val="38BDF8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Shallow Guardrails</a:t>
              </a:r>
              <a:endParaRPr b="1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Skips boundary validation, null checks, and comprehensive edge-case handling.</a:t>
              </a:r>
              <a:endParaRPr b="0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38BDF8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# SHALLOW_GUARD</a:t>
              </a:r>
              <a:endParaRPr b="0" sz="1300">
                <a:solidFill>
                  <a:srgbClr val="38BDF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</p:grpSp>
      <p:grpSp>
        <p:nvGrpSpPr>
          <p:cNvPr id="232" name="Google Shape;232;p30"/>
          <p:cNvGrpSpPr/>
          <p:nvPr/>
        </p:nvGrpSpPr>
        <p:grpSpPr>
          <a:xfrm>
            <a:off x="9029700" y="1714500"/>
            <a:ext cx="2476500" cy="4381500"/>
            <a:chOff x="0" y="0"/>
            <a:chExt cx="2476500" cy="4381500"/>
          </a:xfrm>
        </p:grpSpPr>
        <p:sp>
          <p:nvSpPr>
            <p:cNvPr id="233" name="Google Shape;233;p30"/>
            <p:cNvSpPr/>
            <p:nvPr/>
          </p:nvSpPr>
          <p:spPr>
            <a:xfrm>
              <a:off x="0" y="0"/>
              <a:ext cx="2476500" cy="4381500"/>
            </a:xfrm>
            <a:prstGeom prst="roundRect">
              <a:avLst>
                <a:gd fmla="val 6153" name="adj"/>
              </a:avLst>
            </a:prstGeom>
            <a:solidFill>
              <a:srgbClr val="0F172A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30"/>
            <p:cNvSpPr/>
            <p:nvPr/>
          </p:nvSpPr>
          <p:spPr>
            <a:xfrm>
              <a:off x="0" y="0"/>
              <a:ext cx="2476500" cy="57300"/>
            </a:xfrm>
            <a:prstGeom prst="roundRect">
              <a:avLst>
                <a:gd fmla="val 50000" name="adj"/>
              </a:avLst>
            </a:prstGeom>
            <a:solidFill>
              <a:srgbClr val="A855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30"/>
            <p:cNvSpPr txBox="1"/>
            <p:nvPr/>
          </p:nvSpPr>
          <p:spPr>
            <a:xfrm>
              <a:off x="228600" y="266700"/>
              <a:ext cx="2019300" cy="384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A855F7"/>
                  </a:solidFill>
                  <a:latin typeface="JetBrains Mono ExtraBold"/>
                  <a:ea typeface="JetBrains Mono ExtraBold"/>
                  <a:cs typeface="JetBrains Mono ExtraBold"/>
                  <a:sym typeface="JetBrains Mono ExtraBold"/>
                </a:rPr>
                <a:t>04. REGRESSIONS </a:t>
              </a:r>
              <a:r>
                <a:rPr b="0" lang="en-US" sz="1300">
                  <a:solidFill>
                    <a:srgbClr val="A855F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bug_report</a:t>
              </a:r>
              <a:endParaRPr b="0" sz="1300">
                <a:solidFill>
                  <a:srgbClr val="A855F7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Collateral Damage</a:t>
              </a:r>
              <a:endParaRPr b="1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Patches a targeted local bug while silently breaking shared state in adjacent files.</a:t>
              </a:r>
              <a:endParaRPr b="0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A855F7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# CASCADE_FAILURE</a:t>
              </a:r>
              <a:endParaRPr b="0" sz="1300">
                <a:solidFill>
                  <a:srgbClr val="A855F7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endParaRPr>
            </a:p>
          </p:txBody>
        </p:sp>
      </p:grpSp>
      <p:pic>
        <p:nvPicPr>
          <p:cNvPr id="236" name="Google Shape;236;p30" title="und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65625" y="0"/>
            <a:ext cx="726375" cy="11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7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1"/>
          <p:cNvSpPr/>
          <p:nvPr/>
        </p:nvSpPr>
        <p:spPr>
          <a:xfrm>
            <a:off x="0" y="6848475"/>
            <a:ext cx="12192000" cy="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1"/>
          <p:cNvSpPr/>
          <p:nvPr/>
        </p:nvSpPr>
        <p:spPr>
          <a:xfrm>
            <a:off x="685800" y="495300"/>
            <a:ext cx="38100" cy="228600"/>
          </a:xfrm>
          <a:prstGeom prst="roundRect">
            <a:avLst>
              <a:gd fmla="val 50000" name="adj"/>
            </a:avLst>
          </a:prstGeom>
          <a:solidFill>
            <a:srgbClr val="00D2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1"/>
          <p:cNvSpPr txBox="1"/>
          <p:nvPr/>
        </p:nvSpPr>
        <p:spPr>
          <a:xfrm>
            <a:off x="857250" y="495300"/>
            <a:ext cx="95250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LEARNING GOAL 01</a:t>
            </a:r>
            <a:endParaRPr b="1" sz="1200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44" name="Google Shape;244;p31"/>
          <p:cNvSpPr txBox="1"/>
          <p:nvPr/>
        </p:nvSpPr>
        <p:spPr>
          <a:xfrm>
            <a:off x="685800" y="762000"/>
            <a:ext cx="108204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Read and Audit AI-Generated Code</a:t>
            </a:r>
            <a:endParaRPr b="0" sz="2800">
              <a:solidFill>
                <a:srgbClr val="FFFFFF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grpSp>
        <p:nvGrpSpPr>
          <p:cNvPr id="245" name="Google Shape;245;p31"/>
          <p:cNvGrpSpPr/>
          <p:nvPr/>
        </p:nvGrpSpPr>
        <p:grpSpPr>
          <a:xfrm>
            <a:off x="685800" y="1571625"/>
            <a:ext cx="5257800" cy="2061922"/>
            <a:chOff x="0" y="0"/>
            <a:chExt cx="5257800" cy="2238300"/>
          </a:xfrm>
        </p:grpSpPr>
        <p:sp>
          <p:nvSpPr>
            <p:cNvPr id="246" name="Google Shape;246;p31"/>
            <p:cNvSpPr/>
            <p:nvPr/>
          </p:nvSpPr>
          <p:spPr>
            <a:xfrm>
              <a:off x="0" y="0"/>
              <a:ext cx="5257800" cy="2238300"/>
            </a:xfrm>
            <a:prstGeom prst="roundRect">
              <a:avLst>
                <a:gd fmla="val 5106" name="adj"/>
              </a:avLst>
            </a:prstGeom>
            <a:solidFill>
              <a:srgbClr val="0F172A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31"/>
            <p:cNvSpPr/>
            <p:nvPr/>
          </p:nvSpPr>
          <p:spPr>
            <a:xfrm>
              <a:off x="0" y="0"/>
              <a:ext cx="5257800" cy="47700"/>
            </a:xfrm>
            <a:prstGeom prst="roundRect">
              <a:avLst>
                <a:gd fmla="val 50000" name="adj"/>
              </a:avLst>
            </a:prstGeom>
            <a:solidFill>
              <a:srgbClr val="00D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31"/>
            <p:cNvSpPr txBox="1"/>
            <p:nvPr/>
          </p:nvSpPr>
          <p:spPr>
            <a:xfrm>
              <a:off x="0" y="0"/>
              <a:ext cx="5257800" cy="22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00D2FF"/>
                  </a:solidFill>
                  <a:latin typeface="JetBrains Mono ExtraBold"/>
                  <a:ea typeface="JetBrains Mono ExtraBold"/>
                  <a:cs typeface="JetBrains Mono ExtraBold"/>
                  <a:sym typeface="JetBrains Mono ExtraBold"/>
                </a:rPr>
                <a:t>01 </a:t>
              </a:r>
              <a:r>
                <a:rPr b="0" lang="en-US" sz="1300">
                  <a:solidFill>
                    <a:srgbClr val="00D2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rule</a:t>
              </a:r>
              <a:r>
                <a:rPr b="0" lang="en-US" sz="1300">
                  <a:solidFill>
                    <a:srgbClr val="00D2FF"/>
                  </a:solidFill>
                  <a:latin typeface="JetBrains Mono ExtraBold"/>
                  <a:ea typeface="JetBrains Mono ExtraBold"/>
                  <a:cs typeface="JetBrains Mono ExtraBold"/>
                  <a:sym typeface="JetBrains Mono ExtraBold"/>
                </a:rPr>
                <a:t> </a:t>
              </a:r>
              <a:r>
                <a:rPr b="0" lang="en-US" sz="1300">
                  <a:solidFill>
                    <a:srgbClr val="38BDF8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#SCOPE_VERIFICATION</a:t>
              </a:r>
              <a:endParaRPr b="0" sz="1300">
                <a:solidFill>
                  <a:srgbClr val="00D2FF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Scope Verification</a:t>
              </a:r>
              <a:endParaRPr b="1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Inspect `git status` and diffs to confirm only requested files were touched by the agent.</a:t>
              </a:r>
              <a:endParaRPr b="0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249" name="Google Shape;249;p31"/>
          <p:cNvGrpSpPr/>
          <p:nvPr/>
        </p:nvGrpSpPr>
        <p:grpSpPr>
          <a:xfrm>
            <a:off x="6248400" y="1571625"/>
            <a:ext cx="5257800" cy="2061922"/>
            <a:chOff x="0" y="0"/>
            <a:chExt cx="5257800" cy="2238300"/>
          </a:xfrm>
        </p:grpSpPr>
        <p:sp>
          <p:nvSpPr>
            <p:cNvPr id="250" name="Google Shape;250;p31"/>
            <p:cNvSpPr/>
            <p:nvPr/>
          </p:nvSpPr>
          <p:spPr>
            <a:xfrm>
              <a:off x="0" y="0"/>
              <a:ext cx="5257800" cy="2238300"/>
            </a:xfrm>
            <a:prstGeom prst="roundRect">
              <a:avLst>
                <a:gd fmla="val 5106" name="adj"/>
              </a:avLst>
            </a:prstGeom>
            <a:solidFill>
              <a:srgbClr val="0F172A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0" y="0"/>
              <a:ext cx="5257800" cy="477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31"/>
            <p:cNvSpPr txBox="1"/>
            <p:nvPr/>
          </p:nvSpPr>
          <p:spPr>
            <a:xfrm>
              <a:off x="0" y="0"/>
              <a:ext cx="5257800" cy="22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F59E0B"/>
                  </a:solidFill>
                  <a:latin typeface="JetBrains Mono ExtraBold"/>
                  <a:ea typeface="JetBrains Mono ExtraBold"/>
                  <a:cs typeface="JetBrains Mono ExtraBold"/>
                  <a:sym typeface="JetBrains Mono ExtraBold"/>
                </a:rPr>
                <a:t>02 </a:t>
              </a:r>
              <a:r>
                <a:rPr b="0" lang="en-US" sz="13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security</a:t>
              </a:r>
              <a:r>
                <a:rPr b="0" lang="en-US" sz="1300">
                  <a:solidFill>
                    <a:srgbClr val="F59E0B"/>
                  </a:solidFill>
                  <a:latin typeface="JetBrains Mono ExtraBold"/>
                  <a:ea typeface="JetBrains Mono ExtraBold"/>
                  <a:cs typeface="JetBrains Mono ExtraBold"/>
                  <a:sym typeface="JetBrains Mono ExtraBold"/>
                </a:rPr>
                <a:t> </a:t>
              </a:r>
              <a:r>
                <a:rPr b="0" lang="en-US" sz="1300">
                  <a:solidFill>
                    <a:srgbClr val="F59E0B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#CREDENTIAL_EXPOSURE</a:t>
              </a:r>
              <a:endParaRPr b="0" sz="1300">
                <a:solidFill>
                  <a:srgbClr val="F59E0B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Credential Exposure</a:t>
              </a:r>
              <a:endParaRPr b="1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Ensure no secrets, tokens, API keys, or private credentials are hardcoded.</a:t>
              </a:r>
              <a:endParaRPr b="0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253" name="Google Shape;253;p31"/>
          <p:cNvGrpSpPr/>
          <p:nvPr/>
        </p:nvGrpSpPr>
        <p:grpSpPr>
          <a:xfrm>
            <a:off x="685800" y="4012075"/>
            <a:ext cx="5257800" cy="2274337"/>
            <a:chOff x="0" y="0"/>
            <a:chExt cx="5257800" cy="2238300"/>
          </a:xfrm>
        </p:grpSpPr>
        <p:sp>
          <p:nvSpPr>
            <p:cNvPr id="254" name="Google Shape;254;p31"/>
            <p:cNvSpPr/>
            <p:nvPr/>
          </p:nvSpPr>
          <p:spPr>
            <a:xfrm>
              <a:off x="0" y="0"/>
              <a:ext cx="5257800" cy="2238300"/>
            </a:xfrm>
            <a:prstGeom prst="roundRect">
              <a:avLst>
                <a:gd fmla="val 5106" name="adj"/>
              </a:avLst>
            </a:prstGeom>
            <a:solidFill>
              <a:srgbClr val="0F172A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0" y="0"/>
              <a:ext cx="5257800" cy="477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1"/>
            <p:cNvSpPr txBox="1"/>
            <p:nvPr/>
          </p:nvSpPr>
          <p:spPr>
            <a:xfrm>
              <a:off x="0" y="0"/>
              <a:ext cx="5257800" cy="22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38BDF8"/>
                  </a:solidFill>
                  <a:latin typeface="JetBrains Mono ExtraBold"/>
                  <a:ea typeface="JetBrains Mono ExtraBold"/>
                  <a:cs typeface="JetBrains Mono ExtraBold"/>
                  <a:sym typeface="JetBrains Mono ExtraBold"/>
                </a:rPr>
                <a:t>03 </a:t>
              </a:r>
              <a:r>
                <a:rPr b="0" lang="en-US" sz="13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hub</a:t>
              </a:r>
              <a:r>
                <a:rPr b="0" lang="en-US" sz="1300">
                  <a:solidFill>
                    <a:srgbClr val="38BDF8"/>
                  </a:solidFill>
                  <a:latin typeface="JetBrains Mono ExtraBold"/>
                  <a:ea typeface="JetBrains Mono ExtraBold"/>
                  <a:cs typeface="JetBrains Mono ExtraBold"/>
                  <a:sym typeface="JetBrains Mono ExtraBold"/>
                </a:rPr>
                <a:t> </a:t>
              </a:r>
              <a:r>
                <a:rPr b="0" lang="en-US" sz="1300">
                  <a:solidFill>
                    <a:srgbClr val="38BDF8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#NETWORK_FALLBACKS</a:t>
              </a:r>
              <a:endParaRPr b="0" sz="1300">
                <a:solidFill>
                  <a:srgbClr val="38BDF8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Network &amp; Error Paths</a:t>
              </a:r>
              <a:endParaRPr b="1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Verify fallback handling for dropped requests and failed APIs.</a:t>
              </a:r>
              <a:endParaRPr b="0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257" name="Google Shape;257;p31"/>
          <p:cNvGrpSpPr/>
          <p:nvPr/>
        </p:nvGrpSpPr>
        <p:grpSpPr>
          <a:xfrm>
            <a:off x="6248400" y="4012100"/>
            <a:ext cx="5257800" cy="2274325"/>
            <a:chOff x="0" y="-36025"/>
            <a:chExt cx="5257800" cy="2274325"/>
          </a:xfrm>
        </p:grpSpPr>
        <p:sp>
          <p:nvSpPr>
            <p:cNvPr id="258" name="Google Shape;258;p31"/>
            <p:cNvSpPr/>
            <p:nvPr/>
          </p:nvSpPr>
          <p:spPr>
            <a:xfrm>
              <a:off x="0" y="0"/>
              <a:ext cx="5257800" cy="2238300"/>
            </a:xfrm>
            <a:prstGeom prst="roundRect">
              <a:avLst>
                <a:gd fmla="val 5106" name="adj"/>
              </a:avLst>
            </a:prstGeom>
            <a:solidFill>
              <a:srgbClr val="0F172A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0" y="0"/>
              <a:ext cx="5257800" cy="477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31"/>
            <p:cNvSpPr txBox="1"/>
            <p:nvPr/>
          </p:nvSpPr>
          <p:spPr>
            <a:xfrm>
              <a:off x="0" y="-36025"/>
              <a:ext cx="5257800" cy="227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EF4444"/>
                  </a:solidFill>
                  <a:latin typeface="JetBrains Mono ExtraBold"/>
                  <a:ea typeface="JetBrains Mono ExtraBold"/>
                  <a:cs typeface="JetBrains Mono ExtraBold"/>
                  <a:sym typeface="JetBrains Mono ExtraBold"/>
                </a:rPr>
                <a:t>04 </a:t>
              </a:r>
              <a:r>
                <a:rPr b="0" lang="en-US" sz="13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gavel</a:t>
              </a:r>
              <a:r>
                <a:rPr b="0" lang="en-US" sz="1300">
                  <a:solidFill>
                    <a:srgbClr val="EF4444"/>
                  </a:solidFill>
                  <a:latin typeface="JetBrains Mono ExtraBold"/>
                  <a:ea typeface="JetBrains Mono ExtraBold"/>
                  <a:cs typeface="JetBrains Mono ExtraBold"/>
                  <a:sym typeface="JetBrains Mono ExtraBold"/>
                </a:rPr>
                <a:t> </a:t>
              </a:r>
              <a:r>
                <a:rPr b="0" lang="en-US" sz="1300">
                  <a:solidFill>
                    <a:srgbClr val="EF4444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#NO_BLIND_MERGING</a:t>
              </a:r>
              <a:endParaRPr b="0" sz="1300">
                <a:solidFill>
                  <a:srgbClr val="EF4444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No Blind Merging</a:t>
              </a:r>
              <a:endParaRPr b="1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Reject patches with logic that cannot be explained line-by-line.</a:t>
              </a:r>
              <a:endParaRPr b="0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pic>
        <p:nvPicPr>
          <p:cNvPr id="261" name="Google Shape;261;p31" title="und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65625" y="0"/>
            <a:ext cx="726375" cy="11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7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2"/>
          <p:cNvSpPr/>
          <p:nvPr/>
        </p:nvSpPr>
        <p:spPr>
          <a:xfrm>
            <a:off x="0" y="6848475"/>
            <a:ext cx="12192000" cy="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2"/>
          <p:cNvSpPr/>
          <p:nvPr/>
        </p:nvSpPr>
        <p:spPr>
          <a:xfrm>
            <a:off x="685800" y="1811588"/>
            <a:ext cx="10820400" cy="1200300"/>
          </a:xfrm>
          <a:prstGeom prst="roundRect">
            <a:avLst>
              <a:gd fmla="val 9523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2"/>
          <p:cNvSpPr/>
          <p:nvPr/>
        </p:nvSpPr>
        <p:spPr>
          <a:xfrm>
            <a:off x="685800" y="495300"/>
            <a:ext cx="38100" cy="228600"/>
          </a:xfrm>
          <a:prstGeom prst="roundRect">
            <a:avLst>
              <a:gd fmla="val 50000" name="adj"/>
            </a:avLst>
          </a:prstGeom>
          <a:solidFill>
            <a:srgbClr val="00D2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2"/>
          <p:cNvSpPr/>
          <p:nvPr/>
        </p:nvSpPr>
        <p:spPr>
          <a:xfrm>
            <a:off x="685800" y="3183188"/>
            <a:ext cx="10820400" cy="743100"/>
          </a:xfrm>
          <a:prstGeom prst="roundRect">
            <a:avLst>
              <a:gd fmla="val 15384" name="adj"/>
            </a:avLst>
          </a:prstGeom>
          <a:solidFill>
            <a:srgbClr val="0B1120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2"/>
          <p:cNvSpPr/>
          <p:nvPr/>
        </p:nvSpPr>
        <p:spPr>
          <a:xfrm>
            <a:off x="685800" y="1409700"/>
            <a:ext cx="10820400" cy="381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2"/>
          <p:cNvSpPr/>
          <p:nvPr/>
        </p:nvSpPr>
        <p:spPr>
          <a:xfrm>
            <a:off x="685800" y="4078538"/>
            <a:ext cx="10820400" cy="743100"/>
          </a:xfrm>
          <a:prstGeom prst="roundRect">
            <a:avLst>
              <a:gd fmla="val 15383" name="adj"/>
            </a:avLst>
          </a:prstGeom>
          <a:solidFill>
            <a:srgbClr val="0B1120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2" name="Google Shape;272;p32"/>
          <p:cNvGrpSpPr/>
          <p:nvPr/>
        </p:nvGrpSpPr>
        <p:grpSpPr>
          <a:xfrm>
            <a:off x="857250" y="1543900"/>
            <a:ext cx="2857500" cy="171600"/>
            <a:chOff x="0" y="0"/>
            <a:chExt cx="2857500" cy="171600"/>
          </a:xfrm>
        </p:grpSpPr>
        <p:sp>
          <p:nvSpPr>
            <p:cNvPr id="273" name="Google Shape;273;p32"/>
            <p:cNvSpPr/>
            <p:nvPr/>
          </p:nvSpPr>
          <p:spPr>
            <a:xfrm>
              <a:off x="0" y="0"/>
              <a:ext cx="2857500" cy="171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32"/>
            <p:cNvSpPr txBox="1"/>
            <p:nvPr/>
          </p:nvSpPr>
          <p:spPr>
            <a:xfrm>
              <a:off x="0" y="0"/>
              <a:ext cx="28575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8BDF8"/>
                  </a:solidFill>
                  <a:latin typeface="JetBrains Mono ExtraBold"/>
                  <a:ea typeface="JetBrains Mono ExtraBold"/>
                  <a:cs typeface="JetBrains Mono ExtraBold"/>
                  <a:sym typeface="JetBrains Mono ExtraBold"/>
                </a:rPr>
                <a:t>QUESTION</a:t>
              </a:r>
              <a:endParaRPr b="0" sz="1200">
                <a:solidFill>
                  <a:srgbClr val="38BDF8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endParaRPr>
            </a:p>
          </p:txBody>
        </p:sp>
      </p:grpSp>
      <p:sp>
        <p:nvSpPr>
          <p:cNvPr id="275" name="Google Shape;275;p32"/>
          <p:cNvSpPr/>
          <p:nvPr/>
        </p:nvSpPr>
        <p:spPr>
          <a:xfrm>
            <a:off x="876300" y="3345113"/>
            <a:ext cx="400200" cy="419100"/>
          </a:xfrm>
          <a:prstGeom prst="roundRect">
            <a:avLst>
              <a:gd fmla="val 19047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2"/>
          <p:cNvSpPr/>
          <p:nvPr/>
        </p:nvSpPr>
        <p:spPr>
          <a:xfrm>
            <a:off x="685800" y="4973888"/>
            <a:ext cx="10820400" cy="743100"/>
          </a:xfrm>
          <a:prstGeom prst="roundRect">
            <a:avLst>
              <a:gd fmla="val 15383" name="adj"/>
            </a:avLst>
          </a:prstGeom>
          <a:solidFill>
            <a:srgbClr val="0B1120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2"/>
          <p:cNvSpPr/>
          <p:nvPr/>
        </p:nvSpPr>
        <p:spPr>
          <a:xfrm>
            <a:off x="876300" y="4240463"/>
            <a:ext cx="400200" cy="419100"/>
          </a:xfrm>
          <a:prstGeom prst="roundRect">
            <a:avLst>
              <a:gd fmla="val 19047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2"/>
          <p:cNvSpPr/>
          <p:nvPr/>
        </p:nvSpPr>
        <p:spPr>
          <a:xfrm>
            <a:off x="876300" y="5135813"/>
            <a:ext cx="400200" cy="419100"/>
          </a:xfrm>
          <a:prstGeom prst="roundRect">
            <a:avLst>
              <a:gd fmla="val 19047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2"/>
          <p:cNvSpPr txBox="1"/>
          <p:nvPr/>
        </p:nvSpPr>
        <p:spPr>
          <a:xfrm>
            <a:off x="857250" y="495300"/>
            <a:ext cx="95250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KNOWLEDGE CHECK 01</a:t>
            </a:r>
            <a:endParaRPr b="1" sz="1200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80" name="Google Shape;280;p32"/>
          <p:cNvSpPr txBox="1"/>
          <p:nvPr/>
        </p:nvSpPr>
        <p:spPr>
          <a:xfrm>
            <a:off x="685800" y="781050"/>
            <a:ext cx="108204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Quick Quiz: Auditing Credentials</a:t>
            </a:r>
            <a:endParaRPr b="0" sz="2800">
              <a:solidFill>
                <a:srgbClr val="FFFFFF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281" name="Google Shape;281;p32"/>
          <p:cNvSpPr txBox="1"/>
          <p:nvPr/>
        </p:nvSpPr>
        <p:spPr>
          <a:xfrm>
            <a:off x="914400" y="2211638"/>
            <a:ext cx="102870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An AI-generated donation page embeds a live Stripe secret key directly inside client-side JavaScript. What must you do first?</a:t>
            </a:r>
            <a:endParaRPr b="0" sz="1500">
              <a:solidFill>
                <a:srgbClr val="F8FAFC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282" name="Google Shape;282;p32"/>
          <p:cNvSpPr txBox="1"/>
          <p:nvPr/>
        </p:nvSpPr>
        <p:spPr>
          <a:xfrm>
            <a:off x="876300" y="3345113"/>
            <a:ext cx="4002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64748B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rPr>
              <a:t>A</a:t>
            </a:r>
            <a:endParaRPr b="0" sz="1300">
              <a:solidFill>
                <a:srgbClr val="64748B"/>
              </a:solidFill>
              <a:latin typeface="JetBrains Mono ExtraBold"/>
              <a:ea typeface="JetBrains Mono ExtraBold"/>
              <a:cs typeface="JetBrains Mono ExtraBold"/>
              <a:sym typeface="JetBrains Mono ExtraBold"/>
            </a:endParaRPr>
          </a:p>
        </p:txBody>
      </p:sp>
      <p:sp>
        <p:nvSpPr>
          <p:cNvPr id="283" name="Google Shape;283;p32"/>
          <p:cNvSpPr txBox="1"/>
          <p:nvPr/>
        </p:nvSpPr>
        <p:spPr>
          <a:xfrm>
            <a:off x="1428750" y="3345113"/>
            <a:ext cx="97155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Ignore it if the donation page processes transactions successfully.</a:t>
            </a:r>
            <a:endParaRPr b="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84" name="Google Shape;284;p32"/>
          <p:cNvSpPr txBox="1"/>
          <p:nvPr/>
        </p:nvSpPr>
        <p:spPr>
          <a:xfrm>
            <a:off x="876300" y="4240463"/>
            <a:ext cx="4002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strike="noStrike">
                <a:solidFill>
                  <a:srgbClr val="64748B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rPr>
              <a:t>B</a:t>
            </a:r>
            <a:endParaRPr b="0" i="0" sz="1300" u="none" strike="noStrike">
              <a:solidFill>
                <a:srgbClr val="64748B"/>
              </a:solidFill>
              <a:latin typeface="JetBrains Mono ExtraBold"/>
              <a:ea typeface="JetBrains Mono ExtraBold"/>
              <a:cs typeface="JetBrains Mono ExtraBold"/>
              <a:sym typeface="JetBrains Mono ExtraBold"/>
            </a:endParaRPr>
          </a:p>
        </p:txBody>
      </p:sp>
      <p:sp>
        <p:nvSpPr>
          <p:cNvPr id="285" name="Google Shape;285;p32"/>
          <p:cNvSpPr txBox="1"/>
          <p:nvPr/>
        </p:nvSpPr>
        <p:spPr>
          <a:xfrm>
            <a:off x="1428750" y="4240463"/>
            <a:ext cx="97155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Remove the exposed secret, secure it in environment variables, and rotate the compromised credential.</a:t>
            </a:r>
            <a:endParaRPr b="0" i="0" sz="1400" u="none" strike="noStrike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86" name="Google Shape;286;p32"/>
          <p:cNvSpPr txBox="1"/>
          <p:nvPr/>
        </p:nvSpPr>
        <p:spPr>
          <a:xfrm>
            <a:off x="876300" y="5135813"/>
            <a:ext cx="4002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strike="noStrike">
                <a:solidFill>
                  <a:srgbClr val="64748B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rPr>
              <a:t>C</a:t>
            </a:r>
            <a:endParaRPr b="0" i="0" sz="1300" u="none" strike="noStrike">
              <a:solidFill>
                <a:srgbClr val="64748B"/>
              </a:solidFill>
              <a:latin typeface="JetBrains Mono ExtraBold"/>
              <a:ea typeface="JetBrains Mono ExtraBold"/>
              <a:cs typeface="JetBrains Mono ExtraBold"/>
              <a:sym typeface="JetBrains Mono ExtraBold"/>
            </a:endParaRPr>
          </a:p>
        </p:txBody>
      </p:sp>
      <p:sp>
        <p:nvSpPr>
          <p:cNvPr id="287" name="Google Shape;287;p32"/>
          <p:cNvSpPr txBox="1"/>
          <p:nvPr/>
        </p:nvSpPr>
        <p:spPr>
          <a:xfrm>
            <a:off x="1428750" y="5135813"/>
            <a:ext cx="97155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Prompt the agent to modify form styling to draw attention away from the code.</a:t>
            </a:r>
            <a:endParaRPr b="0" i="0" sz="1400" u="none" strike="noStrike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88" name="Google Shape;288;p32" title="und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65625" y="0"/>
            <a:ext cx="726375" cy="11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7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3"/>
          <p:cNvSpPr/>
          <p:nvPr/>
        </p:nvSpPr>
        <p:spPr>
          <a:xfrm>
            <a:off x="0" y="6848475"/>
            <a:ext cx="12192000" cy="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3"/>
          <p:cNvSpPr/>
          <p:nvPr/>
        </p:nvSpPr>
        <p:spPr>
          <a:xfrm>
            <a:off x="685800" y="1811588"/>
            <a:ext cx="10820400" cy="1200300"/>
          </a:xfrm>
          <a:prstGeom prst="roundRect">
            <a:avLst>
              <a:gd fmla="val 9523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3"/>
          <p:cNvSpPr/>
          <p:nvPr/>
        </p:nvSpPr>
        <p:spPr>
          <a:xfrm>
            <a:off x="685800" y="495300"/>
            <a:ext cx="38100" cy="228600"/>
          </a:xfrm>
          <a:prstGeom prst="roundRect">
            <a:avLst>
              <a:gd fmla="val 50000" name="adj"/>
            </a:avLst>
          </a:prstGeom>
          <a:solidFill>
            <a:srgbClr val="00D2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3"/>
          <p:cNvSpPr/>
          <p:nvPr/>
        </p:nvSpPr>
        <p:spPr>
          <a:xfrm>
            <a:off x="685800" y="3183188"/>
            <a:ext cx="10820400" cy="743100"/>
          </a:xfrm>
          <a:prstGeom prst="roundRect">
            <a:avLst>
              <a:gd fmla="val 15384" name="adj"/>
            </a:avLst>
          </a:prstGeom>
          <a:solidFill>
            <a:srgbClr val="0B1120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3"/>
          <p:cNvSpPr/>
          <p:nvPr/>
        </p:nvSpPr>
        <p:spPr>
          <a:xfrm>
            <a:off x="685800" y="1409700"/>
            <a:ext cx="10820400" cy="381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3"/>
          <p:cNvSpPr/>
          <p:nvPr/>
        </p:nvSpPr>
        <p:spPr>
          <a:xfrm>
            <a:off x="685800" y="4078538"/>
            <a:ext cx="10820400" cy="743100"/>
          </a:xfrm>
          <a:prstGeom prst="roundRect">
            <a:avLst>
              <a:gd fmla="val 15381" name="adj"/>
            </a:avLst>
          </a:prstGeom>
          <a:solidFill>
            <a:srgbClr val="0A2918"/>
          </a:solidFill>
          <a:ln cap="flat" cmpd="sng" w="1905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9" name="Google Shape;299;p33"/>
          <p:cNvGrpSpPr/>
          <p:nvPr/>
        </p:nvGrpSpPr>
        <p:grpSpPr>
          <a:xfrm>
            <a:off x="857250" y="1543900"/>
            <a:ext cx="2857500" cy="171600"/>
            <a:chOff x="0" y="0"/>
            <a:chExt cx="2857500" cy="171600"/>
          </a:xfrm>
        </p:grpSpPr>
        <p:sp>
          <p:nvSpPr>
            <p:cNvPr id="300" name="Google Shape;300;p33"/>
            <p:cNvSpPr/>
            <p:nvPr/>
          </p:nvSpPr>
          <p:spPr>
            <a:xfrm>
              <a:off x="0" y="0"/>
              <a:ext cx="2857500" cy="171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33"/>
            <p:cNvSpPr txBox="1"/>
            <p:nvPr/>
          </p:nvSpPr>
          <p:spPr>
            <a:xfrm>
              <a:off x="0" y="0"/>
              <a:ext cx="28575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8BDF8"/>
                  </a:solidFill>
                  <a:latin typeface="JetBrains Mono ExtraBold"/>
                  <a:ea typeface="JetBrains Mono ExtraBold"/>
                  <a:cs typeface="JetBrains Mono ExtraBold"/>
                  <a:sym typeface="JetBrains Mono ExtraBold"/>
                </a:rPr>
                <a:t>QUESTION</a:t>
              </a:r>
              <a:endParaRPr b="0" sz="1200">
                <a:solidFill>
                  <a:srgbClr val="38BDF8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endParaRPr>
            </a:p>
          </p:txBody>
        </p:sp>
      </p:grpSp>
      <p:sp>
        <p:nvSpPr>
          <p:cNvPr id="302" name="Google Shape;302;p33"/>
          <p:cNvSpPr/>
          <p:nvPr/>
        </p:nvSpPr>
        <p:spPr>
          <a:xfrm>
            <a:off x="876300" y="3345113"/>
            <a:ext cx="400200" cy="419100"/>
          </a:xfrm>
          <a:prstGeom prst="roundRect">
            <a:avLst>
              <a:gd fmla="val 19047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3"/>
          <p:cNvSpPr/>
          <p:nvPr/>
        </p:nvSpPr>
        <p:spPr>
          <a:xfrm>
            <a:off x="685800" y="4973888"/>
            <a:ext cx="10820400" cy="743100"/>
          </a:xfrm>
          <a:prstGeom prst="roundRect">
            <a:avLst>
              <a:gd fmla="val 15383" name="adj"/>
            </a:avLst>
          </a:prstGeom>
          <a:solidFill>
            <a:srgbClr val="0B1120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3"/>
          <p:cNvSpPr/>
          <p:nvPr/>
        </p:nvSpPr>
        <p:spPr>
          <a:xfrm>
            <a:off x="876300" y="4240463"/>
            <a:ext cx="400200" cy="419100"/>
          </a:xfrm>
          <a:prstGeom prst="roundRect">
            <a:avLst>
              <a:gd fmla="val 19040" name="adj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3"/>
          <p:cNvSpPr/>
          <p:nvPr/>
        </p:nvSpPr>
        <p:spPr>
          <a:xfrm>
            <a:off x="876300" y="5135813"/>
            <a:ext cx="400200" cy="419100"/>
          </a:xfrm>
          <a:prstGeom prst="roundRect">
            <a:avLst>
              <a:gd fmla="val 19047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3"/>
          <p:cNvSpPr txBox="1"/>
          <p:nvPr/>
        </p:nvSpPr>
        <p:spPr>
          <a:xfrm>
            <a:off x="857250" y="495300"/>
            <a:ext cx="95250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KNOWLEDGE CHECK 01</a:t>
            </a:r>
            <a:endParaRPr b="1" sz="1200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07" name="Google Shape;307;p33"/>
          <p:cNvSpPr txBox="1"/>
          <p:nvPr/>
        </p:nvSpPr>
        <p:spPr>
          <a:xfrm>
            <a:off x="685800" y="781050"/>
            <a:ext cx="108204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Quick Quiz: Auditing Credentials</a:t>
            </a:r>
            <a:endParaRPr b="0" sz="2800">
              <a:solidFill>
                <a:srgbClr val="FFFFFF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308" name="Google Shape;308;p33"/>
          <p:cNvSpPr txBox="1"/>
          <p:nvPr/>
        </p:nvSpPr>
        <p:spPr>
          <a:xfrm>
            <a:off x="914400" y="2211638"/>
            <a:ext cx="102870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An AI-generated donation page embeds a live Stripe secret key directly inside client-side JavaScript. What must you do first?</a:t>
            </a:r>
            <a:endParaRPr b="0" sz="1500">
              <a:solidFill>
                <a:srgbClr val="F8FAFC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309" name="Google Shape;309;p33"/>
          <p:cNvSpPr txBox="1"/>
          <p:nvPr/>
        </p:nvSpPr>
        <p:spPr>
          <a:xfrm>
            <a:off x="876300" y="3345113"/>
            <a:ext cx="4002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64748B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rPr>
              <a:t>A</a:t>
            </a:r>
            <a:endParaRPr b="0" sz="1300">
              <a:solidFill>
                <a:srgbClr val="64748B"/>
              </a:solidFill>
              <a:latin typeface="JetBrains Mono ExtraBold"/>
              <a:ea typeface="JetBrains Mono ExtraBold"/>
              <a:cs typeface="JetBrains Mono ExtraBold"/>
              <a:sym typeface="JetBrains Mono ExtraBold"/>
            </a:endParaRPr>
          </a:p>
        </p:txBody>
      </p:sp>
      <p:sp>
        <p:nvSpPr>
          <p:cNvPr id="310" name="Google Shape;310;p33"/>
          <p:cNvSpPr txBox="1"/>
          <p:nvPr/>
        </p:nvSpPr>
        <p:spPr>
          <a:xfrm>
            <a:off x="1428750" y="3345113"/>
            <a:ext cx="97155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Ignore it if the donation page processes transactions successfully.</a:t>
            </a:r>
            <a:endParaRPr b="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1" name="Google Shape;311;p33"/>
          <p:cNvSpPr txBox="1"/>
          <p:nvPr/>
        </p:nvSpPr>
        <p:spPr>
          <a:xfrm>
            <a:off x="876300" y="4240463"/>
            <a:ext cx="4002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090E17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rPr>
              <a:t>B</a:t>
            </a:r>
            <a:endParaRPr b="0" i="0" sz="1400">
              <a:solidFill>
                <a:srgbClr val="090E17"/>
              </a:solidFill>
              <a:latin typeface="JetBrains Mono ExtraBold"/>
              <a:ea typeface="JetBrains Mono ExtraBold"/>
              <a:cs typeface="JetBrains Mono ExtraBold"/>
              <a:sym typeface="JetBrains Mono ExtraBold"/>
            </a:endParaRPr>
          </a:p>
        </p:txBody>
      </p:sp>
      <p:sp>
        <p:nvSpPr>
          <p:cNvPr id="312" name="Google Shape;312;p33"/>
          <p:cNvSpPr txBox="1"/>
          <p:nvPr/>
        </p:nvSpPr>
        <p:spPr>
          <a:xfrm>
            <a:off x="1428750" y="4240463"/>
            <a:ext cx="8477400" cy="19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95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Remove the exposed secret, secure it in environment variables, and rotate the compromised credential.</a:t>
            </a:r>
            <a:endParaRPr b="0" i="0" sz="1295">
              <a:solidFill>
                <a:srgbClr val="FFFFFF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313" name="Google Shape;313;p33"/>
          <p:cNvSpPr txBox="1"/>
          <p:nvPr/>
        </p:nvSpPr>
        <p:spPr>
          <a:xfrm>
            <a:off x="876300" y="5135813"/>
            <a:ext cx="4002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strike="noStrike">
                <a:solidFill>
                  <a:srgbClr val="64748B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rPr>
              <a:t>C</a:t>
            </a:r>
            <a:endParaRPr b="0" i="0" sz="1300" u="none" strike="noStrike">
              <a:solidFill>
                <a:srgbClr val="64748B"/>
              </a:solidFill>
              <a:latin typeface="JetBrains Mono ExtraBold"/>
              <a:ea typeface="JetBrains Mono ExtraBold"/>
              <a:cs typeface="JetBrains Mono ExtraBold"/>
              <a:sym typeface="JetBrains Mono ExtraBold"/>
            </a:endParaRPr>
          </a:p>
        </p:txBody>
      </p:sp>
      <p:sp>
        <p:nvSpPr>
          <p:cNvPr id="314" name="Google Shape;314;p33"/>
          <p:cNvSpPr txBox="1"/>
          <p:nvPr/>
        </p:nvSpPr>
        <p:spPr>
          <a:xfrm>
            <a:off x="1428750" y="5135813"/>
            <a:ext cx="97155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Prompt the agent to modify form styling to draw attention away from the code.</a:t>
            </a:r>
            <a:endParaRPr b="0" i="0" sz="1400" u="none" strike="noStrike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315" name="Google Shape;315;p33"/>
          <p:cNvGrpSpPr/>
          <p:nvPr/>
        </p:nvGrpSpPr>
        <p:grpSpPr>
          <a:xfrm>
            <a:off x="10020300" y="4295775"/>
            <a:ext cx="1257300" cy="304800"/>
            <a:chOff x="0" y="0"/>
            <a:chExt cx="1257300" cy="304800"/>
          </a:xfrm>
        </p:grpSpPr>
        <p:sp>
          <p:nvSpPr>
            <p:cNvPr id="316" name="Google Shape;316;p33"/>
            <p:cNvSpPr/>
            <p:nvPr/>
          </p:nvSpPr>
          <p:spPr>
            <a:xfrm>
              <a:off x="0" y="0"/>
              <a:ext cx="1257300" cy="304800"/>
            </a:xfrm>
            <a:prstGeom prst="roundRect">
              <a:avLst>
                <a:gd fmla="val 50000" name="adj"/>
              </a:avLst>
            </a:prstGeom>
            <a:solidFill>
              <a:srgbClr val="22C5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3"/>
            <p:cNvSpPr txBox="1"/>
            <p:nvPr/>
          </p:nvSpPr>
          <p:spPr>
            <a:xfrm>
              <a:off x="0" y="0"/>
              <a:ext cx="1257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90E17"/>
                  </a:solidFill>
                  <a:latin typeface="JetBrains Mono ExtraBold"/>
                  <a:ea typeface="JetBrains Mono ExtraBold"/>
                  <a:cs typeface="JetBrains Mono ExtraBold"/>
                  <a:sym typeface="JetBrains Mono ExtraBold"/>
                </a:rPr>
                <a:t>✓ CORRECT</a:t>
              </a:r>
              <a:endParaRPr b="0" sz="1100">
                <a:solidFill>
                  <a:srgbClr val="090E17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endParaRPr>
            </a:p>
          </p:txBody>
        </p:sp>
      </p:grpSp>
      <p:pic>
        <p:nvPicPr>
          <p:cNvPr id="318" name="Google Shape;318;p33" title="und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65625" y="0"/>
            <a:ext cx="726375" cy="11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7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4"/>
          <p:cNvSpPr/>
          <p:nvPr/>
        </p:nvSpPr>
        <p:spPr>
          <a:xfrm>
            <a:off x="0" y="6848475"/>
            <a:ext cx="12192000" cy="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4"/>
          <p:cNvSpPr/>
          <p:nvPr/>
        </p:nvSpPr>
        <p:spPr>
          <a:xfrm>
            <a:off x="685800" y="495300"/>
            <a:ext cx="38100" cy="228600"/>
          </a:xfrm>
          <a:prstGeom prst="roundRect">
            <a:avLst>
              <a:gd fmla="val 50000" name="adj"/>
            </a:avLst>
          </a:prstGeom>
          <a:solidFill>
            <a:srgbClr val="00D2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4"/>
          <p:cNvSpPr/>
          <p:nvPr/>
        </p:nvSpPr>
        <p:spPr>
          <a:xfrm>
            <a:off x="685800" y="1714500"/>
            <a:ext cx="3352800" cy="3905400"/>
          </a:xfrm>
          <a:prstGeom prst="roundRect">
            <a:avLst>
              <a:gd fmla="val 3409" name="adj"/>
            </a:avLst>
          </a:prstGeom>
          <a:solidFill>
            <a:srgbClr val="0F172A"/>
          </a:solidFill>
          <a:ln cap="flat" cmpd="sng" w="143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4"/>
          <p:cNvSpPr/>
          <p:nvPr/>
        </p:nvSpPr>
        <p:spPr>
          <a:xfrm>
            <a:off x="4419600" y="1714500"/>
            <a:ext cx="3352800" cy="3905400"/>
          </a:xfrm>
          <a:prstGeom prst="roundRect">
            <a:avLst>
              <a:gd fmla="val 3409" name="adj"/>
            </a:avLst>
          </a:prstGeom>
          <a:solidFill>
            <a:srgbClr val="0F172A"/>
          </a:solidFill>
          <a:ln cap="flat" cmpd="sng" w="143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4"/>
          <p:cNvSpPr/>
          <p:nvPr/>
        </p:nvSpPr>
        <p:spPr>
          <a:xfrm>
            <a:off x="8153400" y="1714500"/>
            <a:ext cx="3352800" cy="3905400"/>
          </a:xfrm>
          <a:prstGeom prst="roundRect">
            <a:avLst>
              <a:gd fmla="val 3409" name="adj"/>
            </a:avLst>
          </a:prstGeom>
          <a:solidFill>
            <a:srgbClr val="0F172A"/>
          </a:solidFill>
          <a:ln cap="flat" cmpd="sng" w="143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4"/>
          <p:cNvSpPr/>
          <p:nvPr/>
        </p:nvSpPr>
        <p:spPr>
          <a:xfrm>
            <a:off x="685800" y="1714500"/>
            <a:ext cx="3352800" cy="47700"/>
          </a:xfrm>
          <a:prstGeom prst="roundRect">
            <a:avLst>
              <a:gd fmla="val 4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4"/>
          <p:cNvSpPr/>
          <p:nvPr/>
        </p:nvSpPr>
        <p:spPr>
          <a:xfrm>
            <a:off x="4419600" y="1714500"/>
            <a:ext cx="3352800" cy="47700"/>
          </a:xfrm>
          <a:prstGeom prst="roundRect">
            <a:avLst>
              <a:gd fmla="val 4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34"/>
          <p:cNvSpPr/>
          <p:nvPr/>
        </p:nvSpPr>
        <p:spPr>
          <a:xfrm>
            <a:off x="8153400" y="1714500"/>
            <a:ext cx="3352800" cy="47700"/>
          </a:xfrm>
          <a:prstGeom prst="roundRect">
            <a:avLst>
              <a:gd fmla="val 4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4"/>
          <p:cNvSpPr txBox="1"/>
          <p:nvPr/>
        </p:nvSpPr>
        <p:spPr>
          <a:xfrm>
            <a:off x="857250" y="495300"/>
            <a:ext cx="95250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EVIDENCE-BASED DEBUGGING</a:t>
            </a:r>
            <a:endParaRPr b="1" sz="1200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32" name="Google Shape;332;p34"/>
          <p:cNvSpPr txBox="1"/>
          <p:nvPr/>
        </p:nvSpPr>
        <p:spPr>
          <a:xfrm>
            <a:off x="685800" y="762000"/>
            <a:ext cx="108204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Understand Errors Before Prompting</a:t>
            </a:r>
            <a:endParaRPr b="0" sz="2800">
              <a:solidFill>
                <a:srgbClr val="FFFFFF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grpSp>
        <p:nvGrpSpPr>
          <p:cNvPr id="333" name="Google Shape;333;p34"/>
          <p:cNvGrpSpPr/>
          <p:nvPr/>
        </p:nvGrpSpPr>
        <p:grpSpPr>
          <a:xfrm>
            <a:off x="914400" y="2283600"/>
            <a:ext cx="2895600" cy="2667000"/>
            <a:chOff x="0" y="0"/>
            <a:chExt cx="2895600" cy="2667000"/>
          </a:xfrm>
        </p:grpSpPr>
        <p:sp>
          <p:nvSpPr>
            <p:cNvPr id="334" name="Google Shape;334;p34"/>
            <p:cNvSpPr/>
            <p:nvPr/>
          </p:nvSpPr>
          <p:spPr>
            <a:xfrm>
              <a:off x="0" y="0"/>
              <a:ext cx="28956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34"/>
            <p:cNvSpPr txBox="1"/>
            <p:nvPr/>
          </p:nvSpPr>
          <p:spPr>
            <a:xfrm>
              <a:off x="0" y="0"/>
              <a:ext cx="28956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EF4444"/>
                  </a:solidFill>
                  <a:latin typeface="JetBrains Mono ExtraBold"/>
                  <a:ea typeface="JetBrains Mono ExtraBold"/>
                  <a:cs typeface="JetBrains Mono ExtraBold"/>
                  <a:sym typeface="JetBrains Mono ExtraBold"/>
                </a:rPr>
                <a:t>01 </a:t>
              </a:r>
              <a:r>
                <a:rPr b="0" lang="en-US" sz="13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r>
                <a:rPr b="0" lang="en-US" sz="1300">
                  <a:solidFill>
                    <a:srgbClr val="EF4444"/>
                  </a:solidFill>
                  <a:latin typeface="JetBrains Mono ExtraBold"/>
                  <a:ea typeface="JetBrains Mono ExtraBold"/>
                  <a:cs typeface="JetBrains Mono ExtraBold"/>
                  <a:sym typeface="JetBrains Mono ExtraBold"/>
                </a:rPr>
                <a:t> </a:t>
              </a:r>
              <a:r>
                <a:rPr b="0" lang="en-US" sz="1300">
                  <a:solidFill>
                    <a:srgbClr val="EF4444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#SYNTAX_ERRORS</a:t>
              </a:r>
              <a:endParaRPr b="0" sz="1300">
                <a:solidFill>
                  <a:srgbClr val="EF4444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Syntax Errors</a:t>
              </a:r>
              <a:endParaRPr b="1" sz="20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Mismatched brackets, improper imports, or invalid language tokens. Caught immediately by build tooling.</a:t>
              </a:r>
              <a:endParaRPr b="0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336" name="Google Shape;336;p34"/>
          <p:cNvGrpSpPr/>
          <p:nvPr/>
        </p:nvGrpSpPr>
        <p:grpSpPr>
          <a:xfrm>
            <a:off x="4648200" y="1981200"/>
            <a:ext cx="2895600" cy="2969400"/>
            <a:chOff x="0" y="0"/>
            <a:chExt cx="2895600" cy="2969400"/>
          </a:xfrm>
        </p:grpSpPr>
        <p:sp>
          <p:nvSpPr>
            <p:cNvPr id="337" name="Google Shape;337;p34"/>
            <p:cNvSpPr/>
            <p:nvPr/>
          </p:nvSpPr>
          <p:spPr>
            <a:xfrm>
              <a:off x="0" y="0"/>
              <a:ext cx="28956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4"/>
            <p:cNvSpPr txBox="1"/>
            <p:nvPr/>
          </p:nvSpPr>
          <p:spPr>
            <a:xfrm>
              <a:off x="0" y="302400"/>
              <a:ext cx="28956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F59E0B"/>
                  </a:solidFill>
                  <a:latin typeface="JetBrains Mono ExtraBold"/>
                  <a:ea typeface="JetBrains Mono ExtraBold"/>
                  <a:cs typeface="JetBrains Mono ExtraBold"/>
                  <a:sym typeface="JetBrains Mono ExtraBold"/>
                </a:rPr>
                <a:t>02 </a:t>
              </a:r>
              <a:r>
                <a:rPr b="0" lang="en-US" sz="13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r>
                <a:rPr b="0" lang="en-US" sz="1300">
                  <a:solidFill>
                    <a:srgbClr val="F59E0B"/>
                  </a:solidFill>
                  <a:latin typeface="JetBrains Mono ExtraBold"/>
                  <a:ea typeface="JetBrains Mono ExtraBold"/>
                  <a:cs typeface="JetBrains Mono ExtraBold"/>
                  <a:sym typeface="JetBrains Mono ExtraBold"/>
                </a:rPr>
                <a:t> </a:t>
              </a:r>
              <a:r>
                <a:rPr b="0" lang="en-US" sz="1300">
                  <a:solidFill>
                    <a:srgbClr val="F59E0B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#RUNTIME_CRASHES</a:t>
              </a:r>
              <a:endParaRPr b="0" sz="1300">
                <a:solidFill>
                  <a:srgbClr val="F59E0B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Runtime Crashes</a:t>
              </a:r>
              <a:endParaRPr b="1" sz="20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Undefined variables, uncaught exceptions, and null references that explode only when executed.</a:t>
              </a:r>
              <a:endParaRPr b="0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339" name="Google Shape;339;p34"/>
          <p:cNvGrpSpPr/>
          <p:nvPr/>
        </p:nvGrpSpPr>
        <p:grpSpPr>
          <a:xfrm>
            <a:off x="8382000" y="1981200"/>
            <a:ext cx="2895600" cy="2969400"/>
            <a:chOff x="0" y="0"/>
            <a:chExt cx="2895600" cy="2969400"/>
          </a:xfrm>
        </p:grpSpPr>
        <p:sp>
          <p:nvSpPr>
            <p:cNvPr id="340" name="Google Shape;340;p34"/>
            <p:cNvSpPr/>
            <p:nvPr/>
          </p:nvSpPr>
          <p:spPr>
            <a:xfrm>
              <a:off x="0" y="0"/>
              <a:ext cx="28956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4"/>
            <p:cNvSpPr txBox="1"/>
            <p:nvPr/>
          </p:nvSpPr>
          <p:spPr>
            <a:xfrm>
              <a:off x="0" y="302400"/>
              <a:ext cx="28956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38BDF8"/>
                  </a:solidFill>
                  <a:latin typeface="JetBrains Mono ExtraBold"/>
                  <a:ea typeface="JetBrains Mono ExtraBold"/>
                  <a:cs typeface="JetBrains Mono ExtraBold"/>
                  <a:sym typeface="JetBrains Mono ExtraBold"/>
                </a:rPr>
                <a:t>03 </a:t>
              </a:r>
              <a:r>
                <a:rPr b="0" lang="en-US" sz="13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r>
                <a:rPr b="0" lang="en-US" sz="1300">
                  <a:solidFill>
                    <a:srgbClr val="38BDF8"/>
                  </a:solidFill>
                  <a:latin typeface="JetBrains Mono ExtraBold"/>
                  <a:ea typeface="JetBrains Mono ExtraBold"/>
                  <a:cs typeface="JetBrains Mono ExtraBold"/>
                  <a:sym typeface="JetBrains Mono ExtraBold"/>
                </a:rPr>
                <a:t> </a:t>
              </a:r>
              <a:r>
                <a:rPr b="0" lang="en-US" sz="1300">
                  <a:solidFill>
                    <a:srgbClr val="38BDF8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rPr>
                <a:t>#LOGIC_FLAWS</a:t>
              </a:r>
              <a:endParaRPr b="0" sz="1300">
                <a:solidFill>
                  <a:srgbClr val="38BDF8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Logical Flaws</a:t>
              </a:r>
              <a:endParaRPr b="1" sz="20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Code runs without throwing errors, but computes incorrect numbers or drops records silently.</a:t>
              </a:r>
              <a:endParaRPr b="0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342" name="Google Shape;342;p34"/>
          <p:cNvSpPr/>
          <p:nvPr/>
        </p:nvSpPr>
        <p:spPr>
          <a:xfrm>
            <a:off x="914400" y="4933950"/>
            <a:ext cx="2895600" cy="457200"/>
          </a:xfrm>
          <a:prstGeom prst="roundRect">
            <a:avLst>
              <a:gd fmla="val 16666" name="adj"/>
            </a:avLst>
          </a:prstGeom>
          <a:solidFill>
            <a:srgbClr val="181014"/>
          </a:solidFill>
          <a:ln cap="flat" cmpd="sng" w="9525">
            <a:solidFill>
              <a:srgbClr val="7F1D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4"/>
          <p:cNvSpPr/>
          <p:nvPr/>
        </p:nvSpPr>
        <p:spPr>
          <a:xfrm>
            <a:off x="4648200" y="4933950"/>
            <a:ext cx="2895600" cy="457200"/>
          </a:xfrm>
          <a:prstGeom prst="roundRect">
            <a:avLst>
              <a:gd fmla="val 16666" name="adj"/>
            </a:avLst>
          </a:prstGeom>
          <a:solidFill>
            <a:srgbClr val="1D190D"/>
          </a:solidFill>
          <a:ln cap="flat" cmpd="sng" w="9525">
            <a:solidFill>
              <a:srgbClr val="7835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4"/>
          <p:cNvSpPr/>
          <p:nvPr/>
        </p:nvSpPr>
        <p:spPr>
          <a:xfrm>
            <a:off x="8382000" y="4933950"/>
            <a:ext cx="2895600" cy="457200"/>
          </a:xfrm>
          <a:prstGeom prst="roundRect">
            <a:avLst>
              <a:gd fmla="val 16666" name="adj"/>
            </a:avLst>
          </a:prstGeom>
          <a:solidFill>
            <a:srgbClr val="091A24"/>
          </a:solidFill>
          <a:ln cap="flat" cmpd="sng" w="9525">
            <a:solidFill>
              <a:srgbClr val="0759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5" name="Google Shape;345;p34"/>
          <p:cNvGrpSpPr/>
          <p:nvPr/>
        </p:nvGrpSpPr>
        <p:grpSpPr>
          <a:xfrm>
            <a:off x="1066800" y="4933950"/>
            <a:ext cx="2590800" cy="457200"/>
            <a:chOff x="0" y="0"/>
            <a:chExt cx="2590800" cy="457200"/>
          </a:xfrm>
        </p:grpSpPr>
        <p:sp>
          <p:nvSpPr>
            <p:cNvPr id="346" name="Google Shape;346;p34"/>
            <p:cNvSpPr/>
            <p:nvPr/>
          </p:nvSpPr>
          <p:spPr>
            <a:xfrm>
              <a:off x="0" y="0"/>
              <a:ext cx="25908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4"/>
            <p:cNvSpPr txBox="1"/>
            <p:nvPr/>
          </p:nvSpPr>
          <p:spPr>
            <a:xfrm>
              <a:off x="0" y="0"/>
              <a:ext cx="25908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CA5A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DETECTION: BUILD TOOLING</a:t>
              </a:r>
              <a:endParaRPr b="1" sz="1300">
                <a:solidFill>
                  <a:srgbClr val="FCA5A5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348" name="Google Shape;348;p34"/>
          <p:cNvGrpSpPr/>
          <p:nvPr/>
        </p:nvGrpSpPr>
        <p:grpSpPr>
          <a:xfrm>
            <a:off x="4800600" y="4933950"/>
            <a:ext cx="2590800" cy="457200"/>
            <a:chOff x="0" y="0"/>
            <a:chExt cx="2590800" cy="457200"/>
          </a:xfrm>
        </p:grpSpPr>
        <p:sp>
          <p:nvSpPr>
            <p:cNvPr id="349" name="Google Shape;349;p34"/>
            <p:cNvSpPr/>
            <p:nvPr/>
          </p:nvSpPr>
          <p:spPr>
            <a:xfrm>
              <a:off x="0" y="0"/>
              <a:ext cx="25908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34"/>
            <p:cNvSpPr txBox="1"/>
            <p:nvPr/>
          </p:nvSpPr>
          <p:spPr>
            <a:xfrm>
              <a:off x="0" y="0"/>
              <a:ext cx="25908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DE68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DETECTION: EXECUTION TIME</a:t>
              </a:r>
              <a:endParaRPr b="1" sz="1300">
                <a:solidFill>
                  <a:srgbClr val="FDE68A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351" name="Google Shape;351;p34"/>
          <p:cNvGrpSpPr/>
          <p:nvPr/>
        </p:nvGrpSpPr>
        <p:grpSpPr>
          <a:xfrm>
            <a:off x="8534400" y="4933950"/>
            <a:ext cx="2590800" cy="457200"/>
            <a:chOff x="0" y="0"/>
            <a:chExt cx="2590800" cy="457200"/>
          </a:xfrm>
        </p:grpSpPr>
        <p:sp>
          <p:nvSpPr>
            <p:cNvPr id="352" name="Google Shape;352;p34"/>
            <p:cNvSpPr/>
            <p:nvPr/>
          </p:nvSpPr>
          <p:spPr>
            <a:xfrm>
              <a:off x="0" y="0"/>
              <a:ext cx="25908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34"/>
            <p:cNvSpPr txBox="1"/>
            <p:nvPr/>
          </p:nvSpPr>
          <p:spPr>
            <a:xfrm>
              <a:off x="0" y="0"/>
              <a:ext cx="25908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BAE6FD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DETECTION: MANUAL AUDIT</a:t>
              </a:r>
              <a:endParaRPr b="1" sz="1300">
                <a:solidFill>
                  <a:srgbClr val="BAE6FD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pic>
        <p:nvPicPr>
          <p:cNvPr id="354" name="Google Shape;354;p34" title="und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65625" y="0"/>
            <a:ext cx="726375" cy="11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7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5"/>
          <p:cNvSpPr/>
          <p:nvPr/>
        </p:nvSpPr>
        <p:spPr>
          <a:xfrm>
            <a:off x="0" y="6848475"/>
            <a:ext cx="12192000" cy="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0" name="Google Shape;360;p35"/>
          <p:cNvGrpSpPr/>
          <p:nvPr/>
        </p:nvGrpSpPr>
        <p:grpSpPr>
          <a:xfrm>
            <a:off x="685800" y="1619250"/>
            <a:ext cx="5257800" cy="4572000"/>
            <a:chOff x="0" y="0"/>
            <a:chExt cx="5257800" cy="4572000"/>
          </a:xfrm>
        </p:grpSpPr>
        <p:sp>
          <p:nvSpPr>
            <p:cNvPr id="361" name="Google Shape;361;p35"/>
            <p:cNvSpPr/>
            <p:nvPr/>
          </p:nvSpPr>
          <p:spPr>
            <a:xfrm>
              <a:off x="0" y="0"/>
              <a:ext cx="5257800" cy="4572000"/>
            </a:xfrm>
            <a:prstGeom prst="roundRect">
              <a:avLst>
                <a:gd fmla="val 2500" name="adj"/>
              </a:avLst>
            </a:prstGeom>
            <a:solidFill>
              <a:srgbClr val="0F172A"/>
            </a:solidFill>
            <a:ln cap="flat" cmpd="sng" w="14300">
              <a:solidFill>
                <a:srgbClr val="7F1D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35"/>
            <p:cNvSpPr/>
            <p:nvPr/>
          </p:nvSpPr>
          <p:spPr>
            <a:xfrm>
              <a:off x="0" y="0"/>
              <a:ext cx="5257800" cy="47700"/>
            </a:xfrm>
            <a:prstGeom prst="roundRect">
              <a:avLst>
                <a:gd fmla="val 4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35"/>
            <p:cNvSpPr txBox="1"/>
            <p:nvPr/>
          </p:nvSpPr>
          <p:spPr>
            <a:xfrm>
              <a:off x="304800" y="266700"/>
              <a:ext cx="4648200" cy="40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cancel</a:t>
              </a:r>
              <a:r>
                <a:rPr lang="en-US" sz="1300">
                  <a:latin typeface="Plus Jakarta Sans"/>
                  <a:ea typeface="Plus Jakarta Sans"/>
                  <a:cs typeface="Plus Jakarta Sans"/>
                  <a:sym typeface="Plus Jakarta Sans"/>
                </a:rPr>
                <a:t> </a:t>
              </a:r>
              <a:r>
                <a:rPr b="1" lang="en-US" sz="1300">
                  <a:solidFill>
                    <a:srgbClr val="FCA5A5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Vague Prompt (Negative)</a:t>
              </a:r>
              <a:endParaRPr sz="13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EF444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PROMPT INPUT</a:t>
              </a:r>
              <a:endParaRPr b="1" sz="1300">
                <a:solidFill>
                  <a:srgbClr val="EF444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FCA5A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"The donation page checkout failed. Fix it right now."</a:t>
              </a:r>
              <a:endParaRPr b="0" sz="1300">
                <a:solidFill>
                  <a:srgbClr val="FCA5A5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8717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RESULT</a:t>
              </a:r>
              <a:endParaRPr b="1" sz="1300">
                <a:solidFill>
                  <a:srgbClr val="F87171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8717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May lead to unnecessary rewrites, unrelated changes, and speculative fixes. </a:t>
              </a:r>
              <a:endParaRPr b="0" sz="1300">
                <a:solidFill>
                  <a:srgbClr val="F8717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364" name="Google Shape;364;p35"/>
          <p:cNvGrpSpPr/>
          <p:nvPr/>
        </p:nvGrpSpPr>
        <p:grpSpPr>
          <a:xfrm>
            <a:off x="6248400" y="1619250"/>
            <a:ext cx="5257800" cy="4572000"/>
            <a:chOff x="0" y="0"/>
            <a:chExt cx="5257800" cy="4572000"/>
          </a:xfrm>
        </p:grpSpPr>
        <p:sp>
          <p:nvSpPr>
            <p:cNvPr id="365" name="Google Shape;365;p35"/>
            <p:cNvSpPr/>
            <p:nvPr/>
          </p:nvSpPr>
          <p:spPr>
            <a:xfrm>
              <a:off x="0" y="0"/>
              <a:ext cx="5257800" cy="4572000"/>
            </a:xfrm>
            <a:prstGeom prst="roundRect">
              <a:avLst>
                <a:gd fmla="val 2500" name="adj"/>
              </a:avLst>
            </a:prstGeom>
            <a:solidFill>
              <a:srgbClr val="0F172A"/>
            </a:solidFill>
            <a:ln cap="flat" cmpd="sng" w="14300">
              <a:solidFill>
                <a:srgbClr val="14532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35"/>
            <p:cNvSpPr/>
            <p:nvPr/>
          </p:nvSpPr>
          <p:spPr>
            <a:xfrm>
              <a:off x="0" y="0"/>
              <a:ext cx="5257800" cy="47700"/>
            </a:xfrm>
            <a:prstGeom prst="roundRect">
              <a:avLst>
                <a:gd fmla="val 40000" name="adj"/>
              </a:avLst>
            </a:prstGeom>
            <a:solidFill>
              <a:srgbClr val="22C5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35"/>
            <p:cNvSpPr txBox="1"/>
            <p:nvPr/>
          </p:nvSpPr>
          <p:spPr>
            <a:xfrm>
              <a:off x="304800" y="266700"/>
              <a:ext cx="4648200" cy="40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lang="en-US" sz="1300">
                  <a:latin typeface="Plus Jakarta Sans"/>
                  <a:ea typeface="Plus Jakarta Sans"/>
                  <a:cs typeface="Plus Jakarta Sans"/>
                  <a:sym typeface="Plus Jakarta Sans"/>
                </a:rPr>
                <a:t> </a:t>
              </a:r>
              <a:r>
                <a:rPr b="1" lang="en-US" sz="1300">
                  <a:solidFill>
                    <a:srgbClr val="86EFAC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Structured Context (Positive)</a:t>
              </a:r>
              <a:endParaRPr sz="13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22C55E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HIGH-SIGNAL CONTEXT</a:t>
              </a:r>
              <a:endParaRPr b="1" sz="1300">
                <a:solidFill>
                  <a:srgbClr val="22C55E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6EE7B7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Command:</a:t>
              </a:r>
              <a:r>
                <a:rPr lang="en-US" sz="1300">
                  <a:solidFill>
                    <a:srgbClr val="BBF7D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npm run test:donations</a:t>
              </a:r>
              <a:endParaRPr sz="1300">
                <a:solidFill>
                  <a:srgbClr val="BBF7D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6EE7B7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File:</a:t>
              </a:r>
              <a:r>
                <a:rPr lang="en-US" sz="1300">
                  <a:solidFill>
                    <a:srgbClr val="BBF7D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src/payment.ts:54</a:t>
              </a:r>
              <a:endParaRPr sz="1300">
                <a:solidFill>
                  <a:srgbClr val="BBF7D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6EE7B7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Error:</a:t>
              </a:r>
              <a:r>
                <a:rPr lang="en-US" sz="1300">
                  <a:solidFill>
                    <a:srgbClr val="FCA5A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TypeError: Cannot read properties of undefined (reading 'cents')</a:t>
              </a:r>
              <a:endParaRPr sz="1300">
                <a:solidFill>
                  <a:srgbClr val="FCA5A5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6EE7B7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Expected:</a:t>
              </a:r>
              <a:r>
                <a:rPr lang="en-US" sz="1300">
                  <a:solidFill>
                    <a:srgbClr val="BBF7D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Fallback to 0 if amount is empty.</a:t>
              </a:r>
              <a:endParaRPr sz="1300">
                <a:solidFill>
                  <a:srgbClr val="BBF7D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4ADE8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RESULT</a:t>
              </a:r>
              <a:endParaRPr b="1" sz="1300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ADE8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Supplies exact parameters enabling immediate, surgical line-level remediation.</a:t>
              </a:r>
              <a:endParaRPr b="0" sz="1300">
                <a:solidFill>
                  <a:srgbClr val="4ADE8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368" name="Google Shape;368;p35"/>
          <p:cNvSpPr txBox="1"/>
          <p:nvPr/>
        </p:nvSpPr>
        <p:spPr>
          <a:xfrm>
            <a:off x="685800" y="495300"/>
            <a:ext cx="95250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LEARNING GOAL 02</a:t>
            </a:r>
            <a:endParaRPr b="1" sz="1200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69" name="Google Shape;369;p35"/>
          <p:cNvSpPr txBox="1"/>
          <p:nvPr/>
        </p:nvSpPr>
        <p:spPr>
          <a:xfrm>
            <a:off x="685800" y="781050"/>
            <a:ext cx="108204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Provide High-Signal Context</a:t>
            </a:r>
            <a:endParaRPr b="0" sz="2800">
              <a:solidFill>
                <a:srgbClr val="FFFFFF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pic>
        <p:nvPicPr>
          <p:cNvPr id="370" name="Google Shape;370;p35" title="und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65625" y="0"/>
            <a:ext cx="726375" cy="11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7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5" name="Google Shape;375;p36"/>
          <p:cNvGrpSpPr/>
          <p:nvPr/>
        </p:nvGrpSpPr>
        <p:grpSpPr>
          <a:xfrm>
            <a:off x="685800" y="495300"/>
            <a:ext cx="10820400" cy="723900"/>
            <a:chOff x="685800" y="495300"/>
            <a:chExt cx="10820400" cy="723900"/>
          </a:xfrm>
        </p:grpSpPr>
        <p:sp>
          <p:nvSpPr>
            <p:cNvPr id="376" name="Google Shape;376;p36"/>
            <p:cNvSpPr/>
            <p:nvPr/>
          </p:nvSpPr>
          <p:spPr>
            <a:xfrm>
              <a:off x="685800" y="495300"/>
              <a:ext cx="38100" cy="2286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6"/>
            <p:cNvSpPr txBox="1"/>
            <p:nvPr/>
          </p:nvSpPr>
          <p:spPr>
            <a:xfrm>
              <a:off x="838200" y="495300"/>
              <a:ext cx="9525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ANTI-PATTERN IDENTIFICATION</a:t>
              </a:r>
              <a:endParaRPr b="1" sz="12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378" name="Google Shape;378;p36"/>
            <p:cNvSpPr txBox="1"/>
            <p:nvPr/>
          </p:nvSpPr>
          <p:spPr>
            <a:xfrm>
              <a:off x="685800" y="762000"/>
              <a:ext cx="10820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FFFFFF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The Endless Fix Loop</a:t>
              </a:r>
              <a:endParaRPr b="0" sz="280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endParaRPr>
            </a:p>
          </p:txBody>
        </p:sp>
      </p:grpSp>
      <p:grpSp>
        <p:nvGrpSpPr>
          <p:cNvPr id="379" name="Google Shape;379;p36"/>
          <p:cNvGrpSpPr/>
          <p:nvPr/>
        </p:nvGrpSpPr>
        <p:grpSpPr>
          <a:xfrm>
            <a:off x="685800" y="1538242"/>
            <a:ext cx="3352800" cy="2502182"/>
            <a:chOff x="685800" y="1571625"/>
            <a:chExt cx="3352800" cy="2762400"/>
          </a:xfrm>
        </p:grpSpPr>
        <p:sp>
          <p:nvSpPr>
            <p:cNvPr id="380" name="Google Shape;380;p36"/>
            <p:cNvSpPr/>
            <p:nvPr/>
          </p:nvSpPr>
          <p:spPr>
            <a:xfrm>
              <a:off x="685800" y="1571625"/>
              <a:ext cx="3352800" cy="2762400"/>
            </a:xfrm>
            <a:prstGeom prst="roundRect">
              <a:avLst>
                <a:gd fmla="val 4137" name="adj"/>
              </a:avLst>
            </a:prstGeom>
            <a:solidFill>
              <a:srgbClr val="0F172A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6"/>
            <p:cNvSpPr/>
            <p:nvPr/>
          </p:nvSpPr>
          <p:spPr>
            <a:xfrm>
              <a:off x="685800" y="1571625"/>
              <a:ext cx="3352800" cy="381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36"/>
            <p:cNvSpPr txBox="1"/>
            <p:nvPr/>
          </p:nvSpPr>
          <p:spPr>
            <a:xfrm>
              <a:off x="914400" y="1800225"/>
              <a:ext cx="2895600" cy="23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01 </a:t>
              </a:r>
              <a:r>
                <a:rPr b="0" lang="en-US" sz="12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autorenew</a:t>
              </a:r>
              <a:r>
                <a:rPr b="1" lang="en-US" sz="12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#PATCHING</a:t>
              </a:r>
              <a:endParaRPr b="1" sz="12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Phase 1: Speculative Patching</a:t>
              </a:r>
              <a:endParaRPr b="1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The agent attempts a superficial workaround without understanding root architecture.</a:t>
              </a:r>
              <a:endParaRPr b="0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383" name="Google Shape;383;p36"/>
          <p:cNvGrpSpPr/>
          <p:nvPr/>
        </p:nvGrpSpPr>
        <p:grpSpPr>
          <a:xfrm>
            <a:off x="4419600" y="1571629"/>
            <a:ext cx="3352800" cy="2502182"/>
            <a:chOff x="4419600" y="1571625"/>
            <a:chExt cx="3352800" cy="2762400"/>
          </a:xfrm>
        </p:grpSpPr>
        <p:sp>
          <p:nvSpPr>
            <p:cNvPr id="384" name="Google Shape;384;p36"/>
            <p:cNvSpPr/>
            <p:nvPr/>
          </p:nvSpPr>
          <p:spPr>
            <a:xfrm>
              <a:off x="4419600" y="1571625"/>
              <a:ext cx="3352800" cy="2762400"/>
            </a:xfrm>
            <a:prstGeom prst="roundRect">
              <a:avLst>
                <a:gd fmla="val 4137" name="adj"/>
              </a:avLst>
            </a:prstGeom>
            <a:solidFill>
              <a:srgbClr val="0F172A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36"/>
            <p:cNvSpPr/>
            <p:nvPr/>
          </p:nvSpPr>
          <p:spPr>
            <a:xfrm>
              <a:off x="4419600" y="1571625"/>
              <a:ext cx="3352800" cy="381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6"/>
            <p:cNvSpPr txBox="1"/>
            <p:nvPr/>
          </p:nvSpPr>
          <p:spPr>
            <a:xfrm>
              <a:off x="4648200" y="1800225"/>
              <a:ext cx="2895600" cy="23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59E0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02 </a:t>
              </a:r>
              <a:r>
                <a:rPr b="0" lang="en-US" sz="12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layers</a:t>
              </a:r>
              <a:r>
                <a:rPr b="1" lang="en-US" sz="1200">
                  <a:solidFill>
                    <a:srgbClr val="F59E0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#COMPOUNDING</a:t>
              </a:r>
              <a:endParaRPr b="1" sz="1200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Phase 2: Error Compounding</a:t>
              </a:r>
              <a:endParaRPr b="1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The failed patch triggers a new error; the agent introduces wrapper functions to suppress it.</a:t>
              </a:r>
              <a:endParaRPr b="0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387" name="Google Shape;387;p36"/>
          <p:cNvGrpSpPr/>
          <p:nvPr/>
        </p:nvGrpSpPr>
        <p:grpSpPr>
          <a:xfrm>
            <a:off x="8153400" y="1571629"/>
            <a:ext cx="3352800" cy="2502182"/>
            <a:chOff x="8153400" y="1571625"/>
            <a:chExt cx="3352800" cy="2762400"/>
          </a:xfrm>
        </p:grpSpPr>
        <p:sp>
          <p:nvSpPr>
            <p:cNvPr id="388" name="Google Shape;388;p36"/>
            <p:cNvSpPr/>
            <p:nvPr/>
          </p:nvSpPr>
          <p:spPr>
            <a:xfrm>
              <a:off x="8153400" y="1571625"/>
              <a:ext cx="3352800" cy="2762400"/>
            </a:xfrm>
            <a:prstGeom prst="roundRect">
              <a:avLst>
                <a:gd fmla="val 4137" name="adj"/>
              </a:avLst>
            </a:prstGeom>
            <a:solidFill>
              <a:srgbClr val="0F172A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36"/>
            <p:cNvSpPr/>
            <p:nvPr/>
          </p:nvSpPr>
          <p:spPr>
            <a:xfrm>
              <a:off x="8153400" y="1571625"/>
              <a:ext cx="3352800" cy="381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36"/>
            <p:cNvSpPr txBox="1"/>
            <p:nvPr/>
          </p:nvSpPr>
          <p:spPr>
            <a:xfrm>
              <a:off x="8382000" y="1800225"/>
              <a:ext cx="2895600" cy="23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EF444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03 </a:t>
              </a:r>
              <a:r>
                <a:rPr b="0" lang="en-US" sz="12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r>
                <a:rPr b="1" lang="en-US" sz="1200">
                  <a:solidFill>
                    <a:srgbClr val="EF444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#TOTAL_DRIFT</a:t>
              </a:r>
              <a:endParaRPr b="1" sz="1200">
                <a:solidFill>
                  <a:srgbClr val="EF444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Phase 3: Total Drift</a:t>
              </a:r>
              <a:endParaRPr b="1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The original problem remains unsolved, while 400 lines of spaghetti code pollute git history.</a:t>
              </a:r>
              <a:endParaRPr b="0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391" name="Google Shape;391;p36"/>
          <p:cNvGrpSpPr/>
          <p:nvPr/>
        </p:nvGrpSpPr>
        <p:grpSpPr>
          <a:xfrm>
            <a:off x="685800" y="4426225"/>
            <a:ext cx="10820400" cy="1907900"/>
            <a:chOff x="685800" y="4426225"/>
            <a:chExt cx="10820400" cy="1907900"/>
          </a:xfrm>
        </p:grpSpPr>
        <p:sp>
          <p:nvSpPr>
            <p:cNvPr id="392" name="Google Shape;392;p36"/>
            <p:cNvSpPr/>
            <p:nvPr/>
          </p:nvSpPr>
          <p:spPr>
            <a:xfrm>
              <a:off x="685800" y="4426225"/>
              <a:ext cx="10820400" cy="1714500"/>
            </a:xfrm>
            <a:prstGeom prst="roundRect">
              <a:avLst>
                <a:gd fmla="val 6666" name="adj"/>
              </a:avLst>
            </a:prstGeom>
            <a:solidFill>
              <a:srgbClr val="181014"/>
            </a:solidFill>
            <a:ln cap="flat" cmpd="sng" w="14300">
              <a:solidFill>
                <a:srgbClr val="7F1D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36"/>
            <p:cNvSpPr/>
            <p:nvPr/>
          </p:nvSpPr>
          <p:spPr>
            <a:xfrm>
              <a:off x="685800" y="4619625"/>
              <a:ext cx="57300" cy="17145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4" name="Google Shape;394;p36"/>
            <p:cNvGrpSpPr/>
            <p:nvPr/>
          </p:nvGrpSpPr>
          <p:grpSpPr>
            <a:xfrm>
              <a:off x="990600" y="4953000"/>
              <a:ext cx="533400" cy="574294"/>
              <a:chOff x="0" y="0"/>
              <a:chExt cx="533400" cy="574294"/>
            </a:xfrm>
          </p:grpSpPr>
          <p:sp>
            <p:nvSpPr>
              <p:cNvPr id="395" name="Google Shape;395;p36"/>
              <p:cNvSpPr/>
              <p:nvPr/>
            </p:nvSpPr>
            <p:spPr>
              <a:xfrm>
                <a:off x="0" y="0"/>
                <a:ext cx="533400" cy="533400"/>
              </a:xfrm>
              <a:prstGeom prst="ellipse">
                <a:avLst/>
              </a:prstGeom>
              <a:solidFill>
                <a:srgbClr val="7F1D1D">
                  <a:alpha val="4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36"/>
              <p:cNvSpPr txBox="1"/>
              <p:nvPr/>
            </p:nvSpPr>
            <p:spPr>
              <a:xfrm>
                <a:off x="0" y="40894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EF444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back_hand</a:t>
                </a:r>
                <a:endParaRPr sz="28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397" name="Google Shape;397;p36"/>
            <p:cNvSpPr txBox="1"/>
            <p:nvPr/>
          </p:nvSpPr>
          <p:spPr>
            <a:xfrm>
              <a:off x="1771500" y="4645225"/>
              <a:ext cx="9525000" cy="12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CA5A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CIRCUIT BREAKER RULE</a:t>
              </a:r>
              <a:endParaRPr b="1" sz="1200">
                <a:solidFill>
                  <a:srgbClr val="FCA5A5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FFFFFF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The Stop Rule</a:t>
              </a:r>
              <a:endParaRPr b="0" sz="220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CBD5E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If repeated fixes fail, stop, inspect the evidence, and reconsider the approach. </a:t>
              </a:r>
              <a:endParaRPr b="0" sz="130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pic>
        <p:nvPicPr>
          <p:cNvPr id="398" name="Google Shape;398;p36" title="und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65625" y="0"/>
            <a:ext cx="726375" cy="11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7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7"/>
          <p:cNvSpPr/>
          <p:nvPr/>
        </p:nvSpPr>
        <p:spPr>
          <a:xfrm>
            <a:off x="0" y="6848475"/>
            <a:ext cx="12192000" cy="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7"/>
          <p:cNvSpPr/>
          <p:nvPr/>
        </p:nvSpPr>
        <p:spPr>
          <a:xfrm>
            <a:off x="685800" y="1381125"/>
            <a:ext cx="10820400" cy="1190700"/>
          </a:xfrm>
          <a:prstGeom prst="roundRect">
            <a:avLst>
              <a:gd fmla="val 9600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7"/>
          <p:cNvSpPr/>
          <p:nvPr/>
        </p:nvSpPr>
        <p:spPr>
          <a:xfrm>
            <a:off x="685800" y="2762250"/>
            <a:ext cx="10820400" cy="809700"/>
          </a:xfrm>
          <a:prstGeom prst="roundRect">
            <a:avLst>
              <a:gd fmla="val 11764" name="adj"/>
            </a:avLst>
          </a:prstGeom>
          <a:solidFill>
            <a:srgbClr val="0B1120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37"/>
          <p:cNvSpPr/>
          <p:nvPr/>
        </p:nvSpPr>
        <p:spPr>
          <a:xfrm>
            <a:off x="685800" y="3724275"/>
            <a:ext cx="10820400" cy="809700"/>
          </a:xfrm>
          <a:prstGeom prst="roundRect">
            <a:avLst>
              <a:gd fmla="val 11764" name="adj"/>
            </a:avLst>
          </a:prstGeom>
          <a:solidFill>
            <a:srgbClr val="0B1120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7"/>
          <p:cNvSpPr/>
          <p:nvPr/>
        </p:nvSpPr>
        <p:spPr>
          <a:xfrm>
            <a:off x="685800" y="4686300"/>
            <a:ext cx="10820400" cy="809700"/>
          </a:xfrm>
          <a:prstGeom prst="roundRect">
            <a:avLst>
              <a:gd fmla="val 11763" name="adj"/>
            </a:avLst>
          </a:prstGeom>
          <a:solidFill>
            <a:srgbClr val="0B1120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408" name="Google Shape;40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552450"/>
            <a:ext cx="141089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7"/>
          <p:cNvSpPr txBox="1"/>
          <p:nvPr/>
        </p:nvSpPr>
        <p:spPr>
          <a:xfrm>
            <a:off x="903089" y="533400"/>
            <a:ext cx="1128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KNOWLEDGE CHECK 02</a:t>
            </a:r>
            <a:endParaRPr sz="1200"/>
          </a:p>
        </p:txBody>
      </p:sp>
      <p:sp>
        <p:nvSpPr>
          <p:cNvPr id="410" name="Google Shape;410;p37"/>
          <p:cNvSpPr txBox="1"/>
          <p:nvPr/>
        </p:nvSpPr>
        <p:spPr>
          <a:xfrm>
            <a:off x="685800" y="790575"/>
            <a:ext cx="11506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Quick Quiz: Breaking Fix Loops</a:t>
            </a:r>
            <a:endParaRPr/>
          </a:p>
        </p:txBody>
      </p:sp>
      <p:sp>
        <p:nvSpPr>
          <p:cNvPr id="411" name="Google Shape;411;p37"/>
          <p:cNvSpPr txBox="1"/>
          <p:nvPr/>
        </p:nvSpPr>
        <p:spPr>
          <a:xfrm>
            <a:off x="952500" y="1524000"/>
            <a:ext cx="10287000" cy="67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QUESTION</a:t>
            </a:r>
            <a:endParaRPr b="0" sz="1500">
              <a:solidFill>
                <a:srgbClr val="F8FAFC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An AI agent has attempted three consecutive fixes for the same API issue, but each iteration introduces another broken test. What is the optimal response?</a:t>
            </a:r>
            <a:endParaRPr b="0" sz="1500">
              <a:solidFill>
                <a:srgbClr val="F8FAFC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412" name="Google Shape;412;p37"/>
          <p:cNvSpPr txBox="1"/>
          <p:nvPr/>
        </p:nvSpPr>
        <p:spPr>
          <a:xfrm>
            <a:off x="914400" y="2976563"/>
            <a:ext cx="381000" cy="18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endParaRPr b="1" sz="1200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413" name="Google Shape;413;p37"/>
          <p:cNvSpPr txBox="1"/>
          <p:nvPr/>
        </p:nvSpPr>
        <p:spPr>
          <a:xfrm>
            <a:off x="1447800" y="2976563"/>
            <a:ext cx="97155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Ask the agent to rewrite the entire project repository from scratch.</a:t>
            </a:r>
            <a:endParaRPr b="0" sz="13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14" name="Google Shape;414;p37"/>
          <p:cNvSpPr txBox="1"/>
          <p:nvPr/>
        </p:nvSpPr>
        <p:spPr>
          <a:xfrm>
            <a:off x="914400" y="3938588"/>
            <a:ext cx="381000" cy="18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</a:t>
            </a:r>
            <a:endParaRPr b="1" sz="1200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415" name="Google Shape;415;p37"/>
          <p:cNvSpPr txBox="1"/>
          <p:nvPr/>
        </p:nvSpPr>
        <p:spPr>
          <a:xfrm>
            <a:off x="1447800" y="3938588"/>
            <a:ext cx="97155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Repeat the original prompt using capital letters to emphasize urgency.</a:t>
            </a:r>
            <a:endParaRPr b="0" sz="13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16" name="Google Shape;416;p37"/>
          <p:cNvSpPr txBox="1"/>
          <p:nvPr/>
        </p:nvSpPr>
        <p:spPr>
          <a:xfrm>
            <a:off x="914400" y="4900613"/>
            <a:ext cx="381000" cy="18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</a:t>
            </a:r>
            <a:endParaRPr b="1" i="0" sz="1200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417" name="Google Shape;417;p37"/>
          <p:cNvSpPr txBox="1"/>
          <p:nvPr/>
        </p:nvSpPr>
        <p:spPr>
          <a:xfrm>
            <a:off x="1447800" y="4900613"/>
            <a:ext cx="97155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Stop, inspect git diff, rollback to the last working commit, and feed a narrower, evidence-backed prompt.</a:t>
            </a:r>
            <a:endParaRPr b="0" i="0" sz="13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418" name="Google Shape;418;p37" title="und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65625" y="0"/>
            <a:ext cx="726375" cy="11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7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8"/>
          <p:cNvSpPr/>
          <p:nvPr/>
        </p:nvSpPr>
        <p:spPr>
          <a:xfrm>
            <a:off x="0" y="6848475"/>
            <a:ext cx="12192000" cy="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8"/>
          <p:cNvSpPr/>
          <p:nvPr/>
        </p:nvSpPr>
        <p:spPr>
          <a:xfrm>
            <a:off x="685800" y="1381125"/>
            <a:ext cx="10820400" cy="1190700"/>
          </a:xfrm>
          <a:prstGeom prst="roundRect">
            <a:avLst>
              <a:gd fmla="val 9600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8"/>
          <p:cNvSpPr/>
          <p:nvPr/>
        </p:nvSpPr>
        <p:spPr>
          <a:xfrm>
            <a:off x="685800" y="2762250"/>
            <a:ext cx="10820400" cy="809700"/>
          </a:xfrm>
          <a:prstGeom prst="roundRect">
            <a:avLst>
              <a:gd fmla="val 11764" name="adj"/>
            </a:avLst>
          </a:prstGeom>
          <a:solidFill>
            <a:srgbClr val="0B1120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8"/>
          <p:cNvSpPr/>
          <p:nvPr/>
        </p:nvSpPr>
        <p:spPr>
          <a:xfrm>
            <a:off x="685800" y="3724275"/>
            <a:ext cx="10820400" cy="809700"/>
          </a:xfrm>
          <a:prstGeom prst="roundRect">
            <a:avLst>
              <a:gd fmla="val 11764" name="adj"/>
            </a:avLst>
          </a:prstGeom>
          <a:solidFill>
            <a:srgbClr val="0B1120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8"/>
          <p:cNvSpPr/>
          <p:nvPr/>
        </p:nvSpPr>
        <p:spPr>
          <a:xfrm>
            <a:off x="685800" y="4686300"/>
            <a:ext cx="10820400" cy="952500"/>
          </a:xfrm>
          <a:prstGeom prst="roundRect">
            <a:avLst>
              <a:gd fmla="val 10000" name="adj"/>
            </a:avLst>
          </a:prstGeom>
          <a:solidFill>
            <a:srgbClr val="06231D"/>
          </a:solidFill>
          <a:ln cap="flat" cmpd="sng" w="143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8"/>
          <p:cNvSpPr/>
          <p:nvPr/>
        </p:nvSpPr>
        <p:spPr>
          <a:xfrm>
            <a:off x="10096500" y="4991100"/>
            <a:ext cx="1143000" cy="342900"/>
          </a:xfrm>
          <a:prstGeom prst="roundRect">
            <a:avLst>
              <a:gd fmla="val 16666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429" name="Google Shape;42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552450"/>
            <a:ext cx="141089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38"/>
          <p:cNvSpPr txBox="1"/>
          <p:nvPr/>
        </p:nvSpPr>
        <p:spPr>
          <a:xfrm>
            <a:off x="903089" y="533400"/>
            <a:ext cx="1128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KNOWLEDGE CHECK 02</a:t>
            </a:r>
            <a:endParaRPr sz="1200"/>
          </a:p>
        </p:txBody>
      </p:sp>
      <p:sp>
        <p:nvSpPr>
          <p:cNvPr id="431" name="Google Shape;431;p38"/>
          <p:cNvSpPr txBox="1"/>
          <p:nvPr/>
        </p:nvSpPr>
        <p:spPr>
          <a:xfrm>
            <a:off x="685800" y="790575"/>
            <a:ext cx="11506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Quick Quiz: Breaking Fix Loops</a:t>
            </a:r>
            <a:endParaRPr/>
          </a:p>
        </p:txBody>
      </p:sp>
      <p:sp>
        <p:nvSpPr>
          <p:cNvPr id="432" name="Google Shape;432;p38"/>
          <p:cNvSpPr txBox="1"/>
          <p:nvPr/>
        </p:nvSpPr>
        <p:spPr>
          <a:xfrm>
            <a:off x="952500" y="1524000"/>
            <a:ext cx="10287000" cy="67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QUESTION</a:t>
            </a:r>
            <a:endParaRPr b="0" sz="1500">
              <a:solidFill>
                <a:srgbClr val="F8FAFC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F8FA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An AI agent has attempted three consecutive fixes for the same API issue, but each iteration introduces another broken test. What is the optimal response?</a:t>
            </a:r>
            <a:endParaRPr b="0" sz="1500">
              <a:solidFill>
                <a:srgbClr val="F8FAFC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433" name="Google Shape;433;p38"/>
          <p:cNvSpPr txBox="1"/>
          <p:nvPr/>
        </p:nvSpPr>
        <p:spPr>
          <a:xfrm>
            <a:off x="914400" y="2976563"/>
            <a:ext cx="381000" cy="18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endParaRPr b="1" sz="1200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434" name="Google Shape;434;p38"/>
          <p:cNvSpPr txBox="1"/>
          <p:nvPr/>
        </p:nvSpPr>
        <p:spPr>
          <a:xfrm>
            <a:off x="1447800" y="2976563"/>
            <a:ext cx="97155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Ask the agent to rewrite the entire project repository from scratch.</a:t>
            </a:r>
            <a:endParaRPr b="0" sz="13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35" name="Google Shape;435;p38"/>
          <p:cNvSpPr txBox="1"/>
          <p:nvPr/>
        </p:nvSpPr>
        <p:spPr>
          <a:xfrm>
            <a:off x="914400" y="3938588"/>
            <a:ext cx="381000" cy="18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</a:t>
            </a:r>
            <a:endParaRPr b="1" sz="1200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436" name="Google Shape;436;p38"/>
          <p:cNvSpPr txBox="1"/>
          <p:nvPr/>
        </p:nvSpPr>
        <p:spPr>
          <a:xfrm>
            <a:off x="1447800" y="3938588"/>
            <a:ext cx="97155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Repeat the original prompt using capital letters to emphasize urgency.</a:t>
            </a:r>
            <a:endParaRPr b="0" sz="13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37" name="Google Shape;437;p38"/>
          <p:cNvSpPr txBox="1"/>
          <p:nvPr/>
        </p:nvSpPr>
        <p:spPr>
          <a:xfrm>
            <a:off x="914400" y="4972050"/>
            <a:ext cx="381000" cy="1848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</a:t>
            </a:r>
            <a:endParaRPr b="1" sz="120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438" name="Google Shape;438;p38"/>
          <p:cNvSpPr txBox="1"/>
          <p:nvPr/>
        </p:nvSpPr>
        <p:spPr>
          <a:xfrm>
            <a:off x="1447800" y="4924425"/>
            <a:ext cx="8382000" cy="41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4D3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Stop, inspect git diff, rollback to the last working commit, and feed a narrower, evidence-backed prompt.</a:t>
            </a:r>
            <a:endParaRPr b="1" sz="1350">
              <a:solidFill>
                <a:srgbClr val="34D39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39" name="Google Shape;439;p38"/>
          <p:cNvSpPr txBox="1"/>
          <p:nvPr/>
        </p:nvSpPr>
        <p:spPr>
          <a:xfrm>
            <a:off x="10096500" y="4991100"/>
            <a:ext cx="11430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✓ CORRECT</a:t>
            </a:r>
            <a:endParaRPr b="1" sz="95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pic>
        <p:nvPicPr>
          <p:cNvPr id="440" name="Google Shape;440;p38" title="und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65625" y="0"/>
            <a:ext cx="726375" cy="11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7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9"/>
          <p:cNvSpPr/>
          <p:nvPr/>
        </p:nvSpPr>
        <p:spPr>
          <a:xfrm>
            <a:off x="0" y="6848475"/>
            <a:ext cx="12192000" cy="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9"/>
          <p:cNvSpPr/>
          <p:nvPr/>
        </p:nvSpPr>
        <p:spPr>
          <a:xfrm>
            <a:off x="6286500" y="1952625"/>
            <a:ext cx="5219700" cy="1124100"/>
          </a:xfrm>
          <a:prstGeom prst="roundRect">
            <a:avLst>
              <a:gd fmla="val 10169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9"/>
          <p:cNvSpPr/>
          <p:nvPr/>
        </p:nvSpPr>
        <p:spPr>
          <a:xfrm>
            <a:off x="6286500" y="3219450"/>
            <a:ext cx="5219700" cy="1124100"/>
          </a:xfrm>
          <a:prstGeom prst="roundRect">
            <a:avLst>
              <a:gd fmla="val 10169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39"/>
          <p:cNvSpPr/>
          <p:nvPr/>
        </p:nvSpPr>
        <p:spPr>
          <a:xfrm>
            <a:off x="6286500" y="4486275"/>
            <a:ext cx="5219700" cy="1124100"/>
          </a:xfrm>
          <a:prstGeom prst="roundRect">
            <a:avLst>
              <a:gd fmla="val 10169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449" name="Google Shape;44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552450"/>
            <a:ext cx="122039" cy="123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0" name="Google Shape;450;p39"/>
          <p:cNvGrpSpPr/>
          <p:nvPr/>
        </p:nvGrpSpPr>
        <p:grpSpPr>
          <a:xfrm>
            <a:off x="685800" y="1952625"/>
            <a:ext cx="5143500" cy="3657600"/>
            <a:chOff x="0" y="0"/>
            <a:chExt cx="5143500" cy="3657600"/>
          </a:xfrm>
        </p:grpSpPr>
        <p:sp>
          <p:nvSpPr>
            <p:cNvPr id="451" name="Google Shape;451;p39"/>
            <p:cNvSpPr/>
            <p:nvPr/>
          </p:nvSpPr>
          <p:spPr>
            <a:xfrm>
              <a:off x="0" y="0"/>
              <a:ext cx="5143500" cy="3657600"/>
            </a:xfrm>
            <a:prstGeom prst="roundRect">
              <a:avLst>
                <a:gd fmla="val 3125" name="adj"/>
              </a:avLst>
            </a:prstGeom>
            <a:solidFill>
              <a:srgbClr val="0F172A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52" name="Google Shape;452;p39"/>
            <p:cNvPicPr preferRelativeResize="0"/>
            <p:nvPr/>
          </p:nvPicPr>
          <p:blipFill rotWithShape="1">
            <a:blip r:embed="rId4">
              <a:alphaModFix/>
            </a:blip>
            <a:srcRect b="0" l="1466" r="1475" t="0"/>
            <a:stretch/>
          </p:blipFill>
          <p:spPr>
            <a:xfrm>
              <a:off x="0" y="0"/>
              <a:ext cx="5143500" cy="3657600"/>
            </a:xfrm>
            <a:prstGeom prst="roundRect">
              <a:avLst>
                <a:gd fmla="val 3125" name="adj"/>
              </a:avLst>
            </a:prstGeom>
            <a:noFill/>
            <a:ln>
              <a:noFill/>
            </a:ln>
          </p:spPr>
        </p:pic>
      </p:grpSp>
      <p:sp>
        <p:nvSpPr>
          <p:cNvPr id="453" name="Google Shape;453;p39"/>
          <p:cNvSpPr txBox="1"/>
          <p:nvPr/>
        </p:nvSpPr>
        <p:spPr>
          <a:xfrm>
            <a:off x="903089" y="533400"/>
            <a:ext cx="112890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 INTEGRITY</a:t>
            </a:r>
            <a:endParaRPr b="1" sz="1300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454" name="Google Shape;454;p39"/>
          <p:cNvSpPr txBox="1"/>
          <p:nvPr/>
        </p:nvSpPr>
        <p:spPr>
          <a:xfrm>
            <a:off x="685800" y="781050"/>
            <a:ext cx="115062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Git: The Agentic Safety Net</a:t>
            </a:r>
            <a:endParaRPr b="1" sz="28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55" name="Google Shape;455;p39"/>
          <p:cNvSpPr txBox="1"/>
          <p:nvPr/>
        </p:nvSpPr>
        <p:spPr>
          <a:xfrm>
            <a:off x="6953250" y="2114550"/>
            <a:ext cx="43815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Atomic Checkpoints</a:t>
            </a:r>
            <a:endParaRPr b="1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56" name="Google Shape;456;p39"/>
          <p:cNvSpPr txBox="1"/>
          <p:nvPr/>
        </p:nvSpPr>
        <p:spPr>
          <a:xfrm>
            <a:off x="6953250" y="2400300"/>
            <a:ext cx="43815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Commit a known-good state before risky agent changes to create a reliable recovery point. </a:t>
            </a:r>
            <a:endParaRPr b="0" sz="13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57" name="Google Shape;457;p39"/>
          <p:cNvSpPr txBox="1"/>
          <p:nvPr/>
        </p:nvSpPr>
        <p:spPr>
          <a:xfrm>
            <a:off x="6953250" y="3381375"/>
            <a:ext cx="43815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Diff Audit Discipline</a:t>
            </a:r>
            <a:endParaRPr b="1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58" name="Google Shape;458;p39"/>
          <p:cNvSpPr txBox="1"/>
          <p:nvPr/>
        </p:nvSpPr>
        <p:spPr>
          <a:xfrm>
            <a:off x="6953250" y="3667125"/>
            <a:ext cx="43815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Run </a:t>
            </a:r>
            <a:r>
              <a:rPr b="0" lang="en-US" sz="13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`git diff`</a:t>
            </a:r>
            <a:r>
              <a:rPr b="0" lang="en-US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to inspect every single line modified by an agent before committing.</a:t>
            </a:r>
            <a:endParaRPr b="0" sz="13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59" name="Google Shape;459;p39"/>
          <p:cNvSpPr txBox="1"/>
          <p:nvPr/>
        </p:nvSpPr>
        <p:spPr>
          <a:xfrm>
            <a:off x="6953250" y="4648200"/>
            <a:ext cx="43815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Zero-Cost Risk Mitigation</a:t>
            </a:r>
            <a:endParaRPr b="1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60" name="Google Shape;460;p39"/>
          <p:cNvSpPr txBox="1"/>
          <p:nvPr/>
        </p:nvSpPr>
        <p:spPr>
          <a:xfrm>
            <a:off x="6953250" y="4933950"/>
            <a:ext cx="4381500" cy="600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Branches isolate experiments from the main line of development, reducing the risk of disrupting stable code. </a:t>
            </a:r>
            <a:endParaRPr b="0" sz="13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461" name="Google Shape;461;p39"/>
          <p:cNvGrpSpPr/>
          <p:nvPr/>
        </p:nvGrpSpPr>
        <p:grpSpPr>
          <a:xfrm>
            <a:off x="6477000" y="2114550"/>
            <a:ext cx="342900" cy="342900"/>
            <a:chOff x="0" y="0"/>
            <a:chExt cx="342900" cy="342900"/>
          </a:xfrm>
        </p:grpSpPr>
        <p:sp>
          <p:nvSpPr>
            <p:cNvPr id="462" name="Google Shape;462;p39"/>
            <p:cNvSpPr/>
            <p:nvPr/>
          </p:nvSpPr>
          <p:spPr>
            <a:xfrm>
              <a:off x="0" y="0"/>
              <a:ext cx="342900" cy="342900"/>
            </a:xfrm>
            <a:prstGeom prst="roundRect">
              <a:avLst>
                <a:gd fmla="val 22222" name="adj"/>
              </a:avLst>
            </a:prstGeom>
            <a:solidFill>
              <a:srgbClr val="030712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39"/>
            <p:cNvSpPr txBox="1"/>
            <p:nvPr/>
          </p:nvSpPr>
          <p:spPr>
            <a:xfrm>
              <a:off x="0" y="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01</a:t>
              </a:r>
              <a:endParaRPr b="1" sz="11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464" name="Google Shape;464;p39"/>
          <p:cNvGrpSpPr/>
          <p:nvPr/>
        </p:nvGrpSpPr>
        <p:grpSpPr>
          <a:xfrm>
            <a:off x="6477000" y="3381375"/>
            <a:ext cx="342900" cy="342900"/>
            <a:chOff x="0" y="0"/>
            <a:chExt cx="342900" cy="342900"/>
          </a:xfrm>
        </p:grpSpPr>
        <p:sp>
          <p:nvSpPr>
            <p:cNvPr id="465" name="Google Shape;465;p39"/>
            <p:cNvSpPr/>
            <p:nvPr/>
          </p:nvSpPr>
          <p:spPr>
            <a:xfrm>
              <a:off x="0" y="0"/>
              <a:ext cx="342900" cy="342900"/>
            </a:xfrm>
            <a:prstGeom prst="roundRect">
              <a:avLst>
                <a:gd fmla="val 22222" name="adj"/>
              </a:avLst>
            </a:prstGeom>
            <a:solidFill>
              <a:srgbClr val="030712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39"/>
            <p:cNvSpPr txBox="1"/>
            <p:nvPr/>
          </p:nvSpPr>
          <p:spPr>
            <a:xfrm>
              <a:off x="0" y="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02</a:t>
              </a:r>
              <a:endParaRPr b="1" sz="11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467" name="Google Shape;467;p39"/>
          <p:cNvGrpSpPr/>
          <p:nvPr/>
        </p:nvGrpSpPr>
        <p:grpSpPr>
          <a:xfrm>
            <a:off x="6477000" y="4648200"/>
            <a:ext cx="342900" cy="342900"/>
            <a:chOff x="0" y="0"/>
            <a:chExt cx="342900" cy="342900"/>
          </a:xfrm>
        </p:grpSpPr>
        <p:sp>
          <p:nvSpPr>
            <p:cNvPr id="468" name="Google Shape;468;p39"/>
            <p:cNvSpPr/>
            <p:nvPr/>
          </p:nvSpPr>
          <p:spPr>
            <a:xfrm>
              <a:off x="0" y="0"/>
              <a:ext cx="342900" cy="342900"/>
            </a:xfrm>
            <a:prstGeom prst="roundRect">
              <a:avLst>
                <a:gd fmla="val 22222" name="adj"/>
              </a:avLst>
            </a:prstGeom>
            <a:solidFill>
              <a:srgbClr val="030712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39"/>
            <p:cNvSpPr txBox="1"/>
            <p:nvPr/>
          </p:nvSpPr>
          <p:spPr>
            <a:xfrm>
              <a:off x="0" y="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03</a:t>
              </a:r>
              <a:endParaRPr b="1" sz="11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pic>
        <p:nvPicPr>
          <p:cNvPr id="470" name="Google Shape;470;p39" title="undp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65625" y="0"/>
            <a:ext cx="726375" cy="11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7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0"/>
          <p:cNvSpPr/>
          <p:nvPr/>
        </p:nvSpPr>
        <p:spPr>
          <a:xfrm>
            <a:off x="0" y="6848475"/>
            <a:ext cx="12192000" cy="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40"/>
          <p:cNvSpPr/>
          <p:nvPr/>
        </p:nvSpPr>
        <p:spPr>
          <a:xfrm>
            <a:off x="685800" y="2000250"/>
            <a:ext cx="3352800" cy="3534000"/>
          </a:xfrm>
          <a:prstGeom prst="roundRect">
            <a:avLst>
              <a:gd fmla="val 3977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40"/>
          <p:cNvSpPr/>
          <p:nvPr/>
        </p:nvSpPr>
        <p:spPr>
          <a:xfrm>
            <a:off x="4419600" y="2000250"/>
            <a:ext cx="3352800" cy="3534000"/>
          </a:xfrm>
          <a:prstGeom prst="roundRect">
            <a:avLst>
              <a:gd fmla="val 3977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40"/>
          <p:cNvSpPr/>
          <p:nvPr/>
        </p:nvSpPr>
        <p:spPr>
          <a:xfrm>
            <a:off x="8153400" y="2000250"/>
            <a:ext cx="3352800" cy="3534000"/>
          </a:xfrm>
          <a:prstGeom prst="roundRect">
            <a:avLst>
              <a:gd fmla="val 3977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40"/>
          <p:cNvSpPr/>
          <p:nvPr/>
        </p:nvSpPr>
        <p:spPr>
          <a:xfrm>
            <a:off x="685800" y="2000250"/>
            <a:ext cx="3352800" cy="381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40"/>
          <p:cNvSpPr/>
          <p:nvPr/>
        </p:nvSpPr>
        <p:spPr>
          <a:xfrm>
            <a:off x="4419600" y="2000250"/>
            <a:ext cx="3352800" cy="381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40"/>
          <p:cNvSpPr/>
          <p:nvPr/>
        </p:nvSpPr>
        <p:spPr>
          <a:xfrm>
            <a:off x="8153400" y="2000250"/>
            <a:ext cx="3352800" cy="38100"/>
          </a:xfrm>
          <a:prstGeom prst="roundRect">
            <a:avLst>
              <a:gd fmla="val 50000" name="adj"/>
            </a:avLst>
          </a:prstGeom>
          <a:solidFill>
            <a:srgbClr val="A855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40"/>
          <p:cNvSpPr/>
          <p:nvPr/>
        </p:nvSpPr>
        <p:spPr>
          <a:xfrm>
            <a:off x="952500" y="3286125"/>
            <a:ext cx="2819400" cy="800100"/>
          </a:xfrm>
          <a:prstGeom prst="roundRect">
            <a:avLst>
              <a:gd fmla="val 9523" name="adj"/>
            </a:avLst>
          </a:prstGeom>
          <a:solidFill>
            <a:srgbClr val="030712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40"/>
          <p:cNvSpPr/>
          <p:nvPr/>
        </p:nvSpPr>
        <p:spPr>
          <a:xfrm>
            <a:off x="4686300" y="3286125"/>
            <a:ext cx="2819400" cy="800100"/>
          </a:xfrm>
          <a:prstGeom prst="roundRect">
            <a:avLst>
              <a:gd fmla="val 9523" name="adj"/>
            </a:avLst>
          </a:prstGeom>
          <a:solidFill>
            <a:srgbClr val="030712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40"/>
          <p:cNvSpPr/>
          <p:nvPr/>
        </p:nvSpPr>
        <p:spPr>
          <a:xfrm>
            <a:off x="8420100" y="3286125"/>
            <a:ext cx="2819400" cy="800100"/>
          </a:xfrm>
          <a:prstGeom prst="roundRect">
            <a:avLst>
              <a:gd fmla="val 9523" name="adj"/>
            </a:avLst>
          </a:prstGeom>
          <a:solidFill>
            <a:srgbClr val="030712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5" name="Google Shape;485;p40"/>
          <p:cNvGrpSpPr/>
          <p:nvPr/>
        </p:nvGrpSpPr>
        <p:grpSpPr>
          <a:xfrm>
            <a:off x="1028700" y="3362325"/>
            <a:ext cx="304800" cy="76200"/>
            <a:chOff x="-38100" y="-38100"/>
            <a:chExt cx="304800" cy="76200"/>
          </a:xfrm>
        </p:grpSpPr>
        <p:sp>
          <p:nvSpPr>
            <p:cNvPr id="486" name="Google Shape;486;p40"/>
            <p:cNvSpPr/>
            <p:nvPr/>
          </p:nvSpPr>
          <p:spPr>
            <a:xfrm>
              <a:off x="-38100" y="-38100"/>
              <a:ext cx="76200" cy="762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40"/>
            <p:cNvSpPr/>
            <p:nvPr/>
          </p:nvSpPr>
          <p:spPr>
            <a:xfrm>
              <a:off x="76200" y="-38100"/>
              <a:ext cx="76200" cy="762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40"/>
            <p:cNvSpPr/>
            <p:nvPr/>
          </p:nvSpPr>
          <p:spPr>
            <a:xfrm>
              <a:off x="190500" y="-38100"/>
              <a:ext cx="76200" cy="762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9" name="Google Shape;489;p40"/>
          <p:cNvGrpSpPr/>
          <p:nvPr/>
        </p:nvGrpSpPr>
        <p:grpSpPr>
          <a:xfrm>
            <a:off x="4762500" y="3362325"/>
            <a:ext cx="304800" cy="76200"/>
            <a:chOff x="-38100" y="-38100"/>
            <a:chExt cx="304800" cy="76200"/>
          </a:xfrm>
        </p:grpSpPr>
        <p:sp>
          <p:nvSpPr>
            <p:cNvPr id="490" name="Google Shape;490;p40"/>
            <p:cNvSpPr/>
            <p:nvPr/>
          </p:nvSpPr>
          <p:spPr>
            <a:xfrm>
              <a:off x="-38100" y="-38100"/>
              <a:ext cx="76200" cy="762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40"/>
            <p:cNvSpPr/>
            <p:nvPr/>
          </p:nvSpPr>
          <p:spPr>
            <a:xfrm>
              <a:off x="76200" y="-38100"/>
              <a:ext cx="76200" cy="762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40"/>
            <p:cNvSpPr/>
            <p:nvPr/>
          </p:nvSpPr>
          <p:spPr>
            <a:xfrm>
              <a:off x="190500" y="-38100"/>
              <a:ext cx="76200" cy="762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3" name="Google Shape;493;p40"/>
          <p:cNvGrpSpPr/>
          <p:nvPr/>
        </p:nvGrpSpPr>
        <p:grpSpPr>
          <a:xfrm>
            <a:off x="8496300" y="3362325"/>
            <a:ext cx="304800" cy="76200"/>
            <a:chOff x="-38100" y="-38100"/>
            <a:chExt cx="304800" cy="76200"/>
          </a:xfrm>
        </p:grpSpPr>
        <p:sp>
          <p:nvSpPr>
            <p:cNvPr id="494" name="Google Shape;494;p40"/>
            <p:cNvSpPr/>
            <p:nvPr/>
          </p:nvSpPr>
          <p:spPr>
            <a:xfrm>
              <a:off x="-38100" y="-38100"/>
              <a:ext cx="76200" cy="762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40"/>
            <p:cNvSpPr/>
            <p:nvPr/>
          </p:nvSpPr>
          <p:spPr>
            <a:xfrm>
              <a:off x="76200" y="-38100"/>
              <a:ext cx="76200" cy="762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40"/>
            <p:cNvSpPr/>
            <p:nvPr/>
          </p:nvSpPr>
          <p:spPr>
            <a:xfrm>
              <a:off x="190500" y="-38100"/>
              <a:ext cx="76200" cy="762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image.png" id="497" name="Google Shape;49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552450"/>
            <a:ext cx="141089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40"/>
          <p:cNvSpPr txBox="1"/>
          <p:nvPr/>
        </p:nvSpPr>
        <p:spPr>
          <a:xfrm>
            <a:off x="903089" y="533400"/>
            <a:ext cx="1128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LEARNING GOAL 03</a:t>
            </a:r>
            <a:endParaRPr sz="1200"/>
          </a:p>
        </p:txBody>
      </p:sp>
      <p:sp>
        <p:nvSpPr>
          <p:cNvPr id="499" name="Google Shape;499;p40"/>
          <p:cNvSpPr txBox="1"/>
          <p:nvPr/>
        </p:nvSpPr>
        <p:spPr>
          <a:xfrm>
            <a:off x="685800" y="790575"/>
            <a:ext cx="11506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When and How to Roll Back</a:t>
            </a:r>
            <a:endParaRPr/>
          </a:p>
        </p:txBody>
      </p:sp>
      <p:sp>
        <p:nvSpPr>
          <p:cNvPr id="500" name="Google Shape;500;p40"/>
          <p:cNvSpPr txBox="1"/>
          <p:nvPr/>
        </p:nvSpPr>
        <p:spPr>
          <a:xfrm>
            <a:off x="952500" y="2305050"/>
            <a:ext cx="2819400" cy="13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COMMAND 01</a:t>
            </a:r>
            <a:endParaRPr b="1" sz="900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501" name="Google Shape;501;p40"/>
          <p:cNvSpPr txBox="1"/>
          <p:nvPr/>
        </p:nvSpPr>
        <p:spPr>
          <a:xfrm>
            <a:off x="4686300" y="2305050"/>
            <a:ext cx="2819400" cy="13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COMMAND 02</a:t>
            </a:r>
            <a:endParaRPr b="1" sz="900">
              <a:solidFill>
                <a:srgbClr val="F59E0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502" name="Google Shape;502;p40"/>
          <p:cNvSpPr txBox="1"/>
          <p:nvPr/>
        </p:nvSpPr>
        <p:spPr>
          <a:xfrm>
            <a:off x="8420100" y="2305050"/>
            <a:ext cx="2819400" cy="13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A855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COMMAND 03</a:t>
            </a:r>
            <a:endParaRPr b="1" sz="900">
              <a:solidFill>
                <a:srgbClr val="A855F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503" name="Google Shape;503;p40"/>
          <p:cNvSpPr txBox="1"/>
          <p:nvPr/>
        </p:nvSpPr>
        <p:spPr>
          <a:xfrm>
            <a:off x="952500" y="2590800"/>
            <a:ext cx="28194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Discard Uncommitted</a:t>
            </a:r>
            <a:endParaRPr b="1" sz="16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04" name="Google Shape;504;p40"/>
          <p:cNvSpPr txBox="1"/>
          <p:nvPr/>
        </p:nvSpPr>
        <p:spPr>
          <a:xfrm>
            <a:off x="1066800" y="3581400"/>
            <a:ext cx="25908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8BDF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git restore .</a:t>
            </a:r>
            <a:endParaRPr b="0" sz="1300">
              <a:solidFill>
                <a:srgbClr val="38BDF8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505" name="Google Shape;505;p40"/>
          <p:cNvSpPr txBox="1"/>
          <p:nvPr/>
        </p:nvSpPr>
        <p:spPr>
          <a:xfrm>
            <a:off x="952500" y="4333875"/>
            <a:ext cx="2819400" cy="600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Wipes all uncommitted agent edits across the working directory cleanly.</a:t>
            </a:r>
            <a:endParaRPr b="0" sz="13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06" name="Google Shape;506;p40"/>
          <p:cNvSpPr txBox="1"/>
          <p:nvPr/>
        </p:nvSpPr>
        <p:spPr>
          <a:xfrm>
            <a:off x="4686300" y="2590800"/>
            <a:ext cx="28194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Reset to Checkpoint</a:t>
            </a:r>
            <a:endParaRPr b="1" sz="16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07" name="Google Shape;507;p40"/>
          <p:cNvSpPr txBox="1"/>
          <p:nvPr/>
        </p:nvSpPr>
        <p:spPr>
          <a:xfrm>
            <a:off x="4800600" y="3581400"/>
            <a:ext cx="25908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59E0B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git reset --hard</a:t>
            </a:r>
            <a:endParaRPr b="0" sz="1300">
              <a:solidFill>
                <a:srgbClr val="F59E0B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508" name="Google Shape;508;p40"/>
          <p:cNvSpPr txBox="1"/>
          <p:nvPr/>
        </p:nvSpPr>
        <p:spPr>
          <a:xfrm>
            <a:off x="4686300" y="4333875"/>
            <a:ext cx="2819400" cy="600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Rolls the branch back to the exact commit ID that had a passing test suite.</a:t>
            </a:r>
            <a:endParaRPr b="0" sz="13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09" name="Google Shape;509;p40"/>
          <p:cNvSpPr txBox="1"/>
          <p:nvPr/>
        </p:nvSpPr>
        <p:spPr>
          <a:xfrm>
            <a:off x="8420100" y="2590800"/>
            <a:ext cx="28194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Clean Untracked Files</a:t>
            </a:r>
            <a:endParaRPr b="1" sz="16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10" name="Google Shape;510;p40"/>
          <p:cNvSpPr txBox="1"/>
          <p:nvPr/>
        </p:nvSpPr>
        <p:spPr>
          <a:xfrm>
            <a:off x="8534400" y="3581400"/>
            <a:ext cx="25908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A855F7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git clean -fd</a:t>
            </a:r>
            <a:endParaRPr b="0" sz="1300">
              <a:solidFill>
                <a:srgbClr val="A855F7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511" name="Google Shape;511;p40"/>
          <p:cNvSpPr txBox="1"/>
          <p:nvPr/>
        </p:nvSpPr>
        <p:spPr>
          <a:xfrm>
            <a:off x="8420100" y="4333875"/>
            <a:ext cx="28194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Removes hallucinated files and directories created by the AI agent.</a:t>
            </a:r>
            <a:endParaRPr b="0" sz="13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12" name="Google Shape;512;p40"/>
          <p:cNvSpPr txBox="1"/>
          <p:nvPr/>
        </p:nvSpPr>
        <p:spPr>
          <a:xfrm>
            <a:off x="588750" y="5829513"/>
            <a:ext cx="110145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Warning: These commands can permanently discard work. Check </a:t>
            </a:r>
            <a:r>
              <a:rPr lang="en-US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git status</a:t>
            </a:r>
            <a:r>
              <a:rPr lang="en-US">
                <a:solidFill>
                  <a:schemeClr val="lt1"/>
                </a:solidFill>
              </a:rPr>
              <a:t>, preserve important changes, and verify the target commit before proceeding. </a:t>
            </a:r>
            <a:endParaRPr b="1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513" name="Google Shape;513;p40" title="und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65625" y="0"/>
            <a:ext cx="726375" cy="11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7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1"/>
          <p:cNvSpPr/>
          <p:nvPr/>
        </p:nvSpPr>
        <p:spPr>
          <a:xfrm>
            <a:off x="0" y="6848475"/>
            <a:ext cx="12192000" cy="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41"/>
          <p:cNvSpPr/>
          <p:nvPr/>
        </p:nvSpPr>
        <p:spPr>
          <a:xfrm>
            <a:off x="685800" y="1857375"/>
            <a:ext cx="5105400" cy="4238700"/>
          </a:xfrm>
          <a:prstGeom prst="roundRect">
            <a:avLst>
              <a:gd fmla="val 2696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41"/>
          <p:cNvSpPr/>
          <p:nvPr/>
        </p:nvSpPr>
        <p:spPr>
          <a:xfrm>
            <a:off x="990600" y="3952875"/>
            <a:ext cx="4495800" cy="1809600"/>
          </a:xfrm>
          <a:prstGeom prst="roundRect">
            <a:avLst>
              <a:gd fmla="val 4210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41"/>
          <p:cNvSpPr/>
          <p:nvPr/>
        </p:nvSpPr>
        <p:spPr>
          <a:xfrm>
            <a:off x="6057900" y="1857375"/>
            <a:ext cx="5448300" cy="1285800"/>
          </a:xfrm>
          <a:prstGeom prst="roundRect">
            <a:avLst>
              <a:gd fmla="val 8888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41"/>
          <p:cNvSpPr/>
          <p:nvPr/>
        </p:nvSpPr>
        <p:spPr>
          <a:xfrm>
            <a:off x="6057900" y="3333750"/>
            <a:ext cx="5448300" cy="1285800"/>
          </a:xfrm>
          <a:prstGeom prst="roundRect">
            <a:avLst>
              <a:gd fmla="val 8888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41"/>
          <p:cNvSpPr/>
          <p:nvPr/>
        </p:nvSpPr>
        <p:spPr>
          <a:xfrm>
            <a:off x="6057900" y="4810125"/>
            <a:ext cx="5448300" cy="1285800"/>
          </a:xfrm>
          <a:prstGeom prst="roundRect">
            <a:avLst>
              <a:gd fmla="val 8888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4" name="Google Shape;524;p41"/>
          <p:cNvGrpSpPr/>
          <p:nvPr/>
        </p:nvGrpSpPr>
        <p:grpSpPr>
          <a:xfrm>
            <a:off x="6286500" y="2124075"/>
            <a:ext cx="419100" cy="419100"/>
            <a:chOff x="0" y="0"/>
            <a:chExt cx="419100" cy="419100"/>
          </a:xfrm>
        </p:grpSpPr>
        <p:sp>
          <p:nvSpPr>
            <p:cNvPr id="525" name="Google Shape;525;p41"/>
            <p:cNvSpPr/>
            <p:nvPr/>
          </p:nvSpPr>
          <p:spPr>
            <a:xfrm>
              <a:off x="0" y="0"/>
              <a:ext cx="419100" cy="419100"/>
            </a:xfrm>
            <a:prstGeom prst="roundRect">
              <a:avLst>
                <a:gd fmla="val 18181" name="adj"/>
              </a:avLst>
            </a:prstGeom>
            <a:solidFill>
              <a:srgbClr val="030712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41"/>
            <p:cNvSpPr txBox="1"/>
            <p:nvPr/>
          </p:nvSpPr>
          <p:spPr>
            <a:xfrm>
              <a:off x="0" y="0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01</a:t>
              </a:r>
              <a:endParaRPr b="1" sz="13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527" name="Google Shape;527;p41"/>
          <p:cNvGrpSpPr/>
          <p:nvPr/>
        </p:nvGrpSpPr>
        <p:grpSpPr>
          <a:xfrm>
            <a:off x="6286500" y="3600450"/>
            <a:ext cx="419100" cy="419100"/>
            <a:chOff x="0" y="0"/>
            <a:chExt cx="419100" cy="419100"/>
          </a:xfrm>
        </p:grpSpPr>
        <p:sp>
          <p:nvSpPr>
            <p:cNvPr id="528" name="Google Shape;528;p41"/>
            <p:cNvSpPr/>
            <p:nvPr/>
          </p:nvSpPr>
          <p:spPr>
            <a:xfrm>
              <a:off x="0" y="0"/>
              <a:ext cx="419100" cy="419100"/>
            </a:xfrm>
            <a:prstGeom prst="roundRect">
              <a:avLst>
                <a:gd fmla="val 18181" name="adj"/>
              </a:avLst>
            </a:prstGeom>
            <a:solidFill>
              <a:srgbClr val="030712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41"/>
            <p:cNvSpPr txBox="1"/>
            <p:nvPr/>
          </p:nvSpPr>
          <p:spPr>
            <a:xfrm>
              <a:off x="0" y="0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02</a:t>
              </a:r>
              <a:endParaRPr b="1" sz="13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530" name="Google Shape;530;p41"/>
          <p:cNvGrpSpPr/>
          <p:nvPr/>
        </p:nvGrpSpPr>
        <p:grpSpPr>
          <a:xfrm>
            <a:off x="6286500" y="5076825"/>
            <a:ext cx="419100" cy="419100"/>
            <a:chOff x="0" y="0"/>
            <a:chExt cx="419100" cy="419100"/>
          </a:xfrm>
        </p:grpSpPr>
        <p:sp>
          <p:nvSpPr>
            <p:cNvPr id="531" name="Google Shape;531;p41"/>
            <p:cNvSpPr/>
            <p:nvPr/>
          </p:nvSpPr>
          <p:spPr>
            <a:xfrm>
              <a:off x="0" y="0"/>
              <a:ext cx="419100" cy="419100"/>
            </a:xfrm>
            <a:prstGeom prst="roundRect">
              <a:avLst>
                <a:gd fmla="val 18181" name="adj"/>
              </a:avLst>
            </a:prstGeom>
            <a:solidFill>
              <a:srgbClr val="030712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41"/>
            <p:cNvSpPr txBox="1"/>
            <p:nvPr/>
          </p:nvSpPr>
          <p:spPr>
            <a:xfrm>
              <a:off x="0" y="0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03</a:t>
              </a:r>
              <a:endParaRPr b="1" sz="13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sp>
        <p:nvSpPr>
          <p:cNvPr id="533" name="Google Shape;533;p41"/>
          <p:cNvSpPr/>
          <p:nvPr/>
        </p:nvSpPr>
        <p:spPr>
          <a:xfrm>
            <a:off x="990600" y="3952875"/>
            <a:ext cx="38100" cy="1809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534" name="Google Shape;53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552450"/>
            <a:ext cx="141089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41"/>
          <p:cNvSpPr txBox="1"/>
          <p:nvPr/>
        </p:nvSpPr>
        <p:spPr>
          <a:xfrm>
            <a:off x="903089" y="533400"/>
            <a:ext cx="1128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QUALITY VERIFICATION</a:t>
            </a:r>
            <a:endParaRPr sz="1200"/>
          </a:p>
        </p:txBody>
      </p:sp>
      <p:sp>
        <p:nvSpPr>
          <p:cNvPr id="536" name="Google Shape;536;p41"/>
          <p:cNvSpPr txBox="1"/>
          <p:nvPr/>
        </p:nvSpPr>
        <p:spPr>
          <a:xfrm>
            <a:off x="685800" y="790575"/>
            <a:ext cx="1150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Regression Testing: Did the Fix Break Anything?</a:t>
            </a:r>
            <a:endParaRPr sz="2800"/>
          </a:p>
        </p:txBody>
      </p:sp>
      <p:sp>
        <p:nvSpPr>
          <p:cNvPr id="537" name="Google Shape;537;p41"/>
          <p:cNvSpPr txBox="1"/>
          <p:nvPr/>
        </p:nvSpPr>
        <p:spPr>
          <a:xfrm>
            <a:off x="990600" y="2143125"/>
            <a:ext cx="44958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"The Error Disappeared" ≠ "It Works"</a:t>
            </a:r>
            <a:endParaRPr b="1" sz="18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38" name="Google Shape;538;p41"/>
          <p:cNvSpPr txBox="1"/>
          <p:nvPr/>
        </p:nvSpPr>
        <p:spPr>
          <a:xfrm>
            <a:off x="990600" y="2857500"/>
            <a:ext cx="4495800" cy="600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Agents frequently fix errors by deleting validation rules, disabling assertions, or commenting out failing test blocks.</a:t>
            </a:r>
            <a:endParaRPr b="0" sz="13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39" name="Google Shape;539;p41"/>
          <p:cNvSpPr txBox="1"/>
          <p:nvPr/>
        </p:nvSpPr>
        <p:spPr>
          <a:xfrm>
            <a:off x="1200150" y="4642125"/>
            <a:ext cx="4076700" cy="64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E2E8F0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 reliable fix resolves the root cause, passes the relevant tests, and preserves existing functionality. </a:t>
            </a:r>
            <a:endParaRPr b="0" sz="1400">
              <a:solidFill>
                <a:srgbClr val="E2E8F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540" name="Google Shape;540;p41"/>
          <p:cNvSpPr txBox="1"/>
          <p:nvPr/>
        </p:nvSpPr>
        <p:spPr>
          <a:xfrm>
            <a:off x="6858000" y="2095500"/>
            <a:ext cx="44196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Re-test the targeted bug</a:t>
            </a:r>
            <a:endParaRPr b="1" sz="18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41" name="Google Shape;541;p41"/>
          <p:cNvSpPr txBox="1"/>
          <p:nvPr/>
        </p:nvSpPr>
        <p:spPr>
          <a:xfrm>
            <a:off x="6858000" y="2428875"/>
            <a:ext cx="44196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Confirm the primary reproduction script now succeeds.</a:t>
            </a:r>
            <a:endParaRPr b="0" sz="13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42" name="Google Shape;542;p41"/>
          <p:cNvSpPr txBox="1"/>
          <p:nvPr/>
        </p:nvSpPr>
        <p:spPr>
          <a:xfrm>
            <a:off x="6858000" y="3571875"/>
            <a:ext cx="44196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Execute adjacent test suites</a:t>
            </a:r>
            <a:endParaRPr b="1" sz="18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43" name="Google Shape;543;p41"/>
          <p:cNvSpPr txBox="1"/>
          <p:nvPr/>
        </p:nvSpPr>
        <p:spPr>
          <a:xfrm>
            <a:off x="6858000" y="3905250"/>
            <a:ext cx="44196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Run full regression suites across dependent components.</a:t>
            </a:r>
            <a:endParaRPr b="0" sz="13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44" name="Google Shape;544;p41"/>
          <p:cNvSpPr txBox="1"/>
          <p:nvPr/>
        </p:nvSpPr>
        <p:spPr>
          <a:xfrm>
            <a:off x="6858000" y="5048250"/>
            <a:ext cx="44196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Write a permanent regression test</a:t>
            </a:r>
            <a:endParaRPr b="1" sz="18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45" name="Google Shape;545;p41"/>
          <p:cNvSpPr txBox="1"/>
          <p:nvPr/>
        </p:nvSpPr>
        <p:spPr>
          <a:xfrm>
            <a:off x="6858000" y="5381625"/>
            <a:ext cx="44196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Add a regression test to detect this failure if it occurs again. </a:t>
            </a:r>
            <a:endParaRPr b="0" sz="13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546" name="Google Shape;546;p41" title="und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65625" y="0"/>
            <a:ext cx="726375" cy="11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7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42"/>
          <p:cNvSpPr/>
          <p:nvPr/>
        </p:nvSpPr>
        <p:spPr>
          <a:xfrm>
            <a:off x="0" y="6848475"/>
            <a:ext cx="12192000" cy="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42"/>
          <p:cNvSpPr/>
          <p:nvPr/>
        </p:nvSpPr>
        <p:spPr>
          <a:xfrm>
            <a:off x="685800" y="1905000"/>
            <a:ext cx="3352800" cy="4191000"/>
          </a:xfrm>
          <a:prstGeom prst="roundRect">
            <a:avLst>
              <a:gd fmla="val 3977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42"/>
          <p:cNvSpPr/>
          <p:nvPr/>
        </p:nvSpPr>
        <p:spPr>
          <a:xfrm>
            <a:off x="4419600" y="1905000"/>
            <a:ext cx="3352800" cy="4191000"/>
          </a:xfrm>
          <a:prstGeom prst="roundRect">
            <a:avLst>
              <a:gd fmla="val 3977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42"/>
          <p:cNvSpPr/>
          <p:nvPr/>
        </p:nvSpPr>
        <p:spPr>
          <a:xfrm>
            <a:off x="8153400" y="1905000"/>
            <a:ext cx="3352800" cy="4191000"/>
          </a:xfrm>
          <a:prstGeom prst="roundRect">
            <a:avLst>
              <a:gd fmla="val 3977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555" name="Google Shape;55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552450"/>
            <a:ext cx="160139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42"/>
          <p:cNvSpPr/>
          <p:nvPr/>
        </p:nvSpPr>
        <p:spPr>
          <a:xfrm>
            <a:off x="685800" y="1905000"/>
            <a:ext cx="3352800" cy="381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42"/>
          <p:cNvSpPr/>
          <p:nvPr/>
        </p:nvSpPr>
        <p:spPr>
          <a:xfrm>
            <a:off x="4419600" y="1905000"/>
            <a:ext cx="3352800" cy="381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42"/>
          <p:cNvSpPr/>
          <p:nvPr/>
        </p:nvSpPr>
        <p:spPr>
          <a:xfrm>
            <a:off x="8153400" y="1905000"/>
            <a:ext cx="3352800" cy="381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9" name="Google Shape;559;p42"/>
          <p:cNvPicPr preferRelativeResize="0"/>
          <p:nvPr/>
        </p:nvPicPr>
        <p:blipFill rotWithShape="1">
          <a:blip r:embed="rId4">
            <a:alphaModFix/>
          </a:blip>
          <a:srcRect b="1858" l="0" r="0" t="1849"/>
          <a:stretch/>
        </p:blipFill>
        <p:spPr>
          <a:xfrm>
            <a:off x="952500" y="2209800"/>
            <a:ext cx="219000" cy="2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42"/>
          <p:cNvPicPr preferRelativeResize="0"/>
          <p:nvPr/>
        </p:nvPicPr>
        <p:blipFill rotWithShape="1">
          <a:blip r:embed="rId5">
            <a:alphaModFix/>
          </a:blip>
          <a:srcRect b="0" l="239" r="239" t="0"/>
          <a:stretch/>
        </p:blipFill>
        <p:spPr>
          <a:xfrm>
            <a:off x="4686300" y="2209800"/>
            <a:ext cx="219000" cy="2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20100" y="2209800"/>
            <a:ext cx="247800" cy="2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42"/>
          <p:cNvSpPr txBox="1"/>
          <p:nvPr/>
        </p:nvSpPr>
        <p:spPr>
          <a:xfrm>
            <a:off x="922139" y="533400"/>
            <a:ext cx="1126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LEARNING GOAL 04</a:t>
            </a:r>
            <a:endParaRPr sz="1200"/>
          </a:p>
        </p:txBody>
      </p:sp>
      <p:sp>
        <p:nvSpPr>
          <p:cNvPr id="563" name="Google Shape;563;p42"/>
          <p:cNvSpPr txBox="1"/>
          <p:nvPr/>
        </p:nvSpPr>
        <p:spPr>
          <a:xfrm>
            <a:off x="1257300" y="2247900"/>
            <a:ext cx="2476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STRATEGY 01</a:t>
            </a:r>
            <a:endParaRPr b="1" sz="1300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564" name="Google Shape;564;p42"/>
          <p:cNvSpPr txBox="1"/>
          <p:nvPr/>
        </p:nvSpPr>
        <p:spPr>
          <a:xfrm>
            <a:off x="4991100" y="2247900"/>
            <a:ext cx="2476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STRATEGY 02</a:t>
            </a:r>
            <a:endParaRPr b="1" sz="1300">
              <a:solidFill>
                <a:srgbClr val="F59E0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565" name="Google Shape;565;p42"/>
          <p:cNvSpPr txBox="1"/>
          <p:nvPr/>
        </p:nvSpPr>
        <p:spPr>
          <a:xfrm>
            <a:off x="8743950" y="2247900"/>
            <a:ext cx="2476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STRATEGY 03</a:t>
            </a:r>
            <a:endParaRPr b="1" sz="1300">
              <a:solidFill>
                <a:srgbClr val="10B98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566" name="Google Shape;566;p42"/>
          <p:cNvSpPr txBox="1"/>
          <p:nvPr/>
        </p:nvSpPr>
        <p:spPr>
          <a:xfrm>
            <a:off x="685800" y="790575"/>
            <a:ext cx="1150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Refactor Vibe-Induced Technical Debt</a:t>
            </a:r>
            <a:endParaRPr sz="2800"/>
          </a:p>
        </p:txBody>
      </p:sp>
      <p:sp>
        <p:nvSpPr>
          <p:cNvPr id="567" name="Google Shape;567;p42"/>
          <p:cNvSpPr txBox="1"/>
          <p:nvPr/>
        </p:nvSpPr>
        <p:spPr>
          <a:xfrm>
            <a:off x="952500" y="2609850"/>
            <a:ext cx="28194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Eliminate Duplication</a:t>
            </a:r>
            <a:endParaRPr b="1" sz="16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68" name="Google Shape;568;p42"/>
          <p:cNvSpPr txBox="1"/>
          <p:nvPr/>
        </p:nvSpPr>
        <p:spPr>
          <a:xfrm>
            <a:off x="4686300" y="2609850"/>
            <a:ext cx="28194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Enforce Clear Naming</a:t>
            </a:r>
            <a:endParaRPr b="1" sz="16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69" name="Google Shape;569;p42"/>
          <p:cNvSpPr txBox="1"/>
          <p:nvPr/>
        </p:nvSpPr>
        <p:spPr>
          <a:xfrm>
            <a:off x="8420100" y="2609850"/>
            <a:ext cx="28194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Preserve External API</a:t>
            </a:r>
            <a:endParaRPr b="1" sz="16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70" name="Google Shape;570;p42"/>
          <p:cNvSpPr/>
          <p:nvPr/>
        </p:nvSpPr>
        <p:spPr>
          <a:xfrm>
            <a:off x="952500" y="3067050"/>
            <a:ext cx="2819400" cy="914400"/>
          </a:xfrm>
          <a:prstGeom prst="roundRect">
            <a:avLst>
              <a:gd fmla="val 8333" name="adj"/>
            </a:avLst>
          </a:prstGeom>
          <a:solidFill>
            <a:srgbClr val="030712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42"/>
          <p:cNvSpPr/>
          <p:nvPr/>
        </p:nvSpPr>
        <p:spPr>
          <a:xfrm>
            <a:off x="4686300" y="3067050"/>
            <a:ext cx="2819400" cy="914400"/>
          </a:xfrm>
          <a:prstGeom prst="roundRect">
            <a:avLst>
              <a:gd fmla="val 8333" name="adj"/>
            </a:avLst>
          </a:prstGeom>
          <a:solidFill>
            <a:srgbClr val="030712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42"/>
          <p:cNvSpPr/>
          <p:nvPr/>
        </p:nvSpPr>
        <p:spPr>
          <a:xfrm>
            <a:off x="8420100" y="3067050"/>
            <a:ext cx="2819400" cy="914400"/>
          </a:xfrm>
          <a:prstGeom prst="roundRect">
            <a:avLst>
              <a:gd fmla="val 8333" name="adj"/>
            </a:avLst>
          </a:prstGeom>
          <a:solidFill>
            <a:srgbClr val="030712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42"/>
          <p:cNvSpPr txBox="1"/>
          <p:nvPr/>
        </p:nvSpPr>
        <p:spPr>
          <a:xfrm>
            <a:off x="1104900" y="3219450"/>
            <a:ext cx="2514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64748B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// DRY Architecture</a:t>
            </a:r>
            <a:endParaRPr b="0" sz="1300">
              <a:solidFill>
                <a:srgbClr val="64748B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8BDF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utils/sharedMath.ts</a:t>
            </a:r>
            <a:endParaRPr b="0" sz="1300">
              <a:solidFill>
                <a:srgbClr val="38BDF8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574" name="Google Shape;574;p42"/>
          <p:cNvSpPr txBox="1"/>
          <p:nvPr/>
        </p:nvSpPr>
        <p:spPr>
          <a:xfrm>
            <a:off x="4838700" y="3219450"/>
            <a:ext cx="2514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strike="sngStrike">
                <a:solidFill>
                  <a:srgbClr val="EF4444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data, temp, res2</a:t>
            </a:r>
            <a:endParaRPr b="0" sz="1300" strike="sngStrike">
              <a:solidFill>
                <a:srgbClr val="EF4444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0B981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UserProfileModel</a:t>
            </a:r>
            <a:endParaRPr b="0" sz="1300">
              <a:solidFill>
                <a:srgbClr val="10B981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575" name="Google Shape;575;p42"/>
          <p:cNvSpPr txBox="1"/>
          <p:nvPr/>
        </p:nvSpPr>
        <p:spPr>
          <a:xfrm>
            <a:off x="8572500" y="3219450"/>
            <a:ext cx="2514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64748B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// Strict Contracts</a:t>
            </a:r>
            <a:endParaRPr b="0" sz="1300">
              <a:solidFill>
                <a:srgbClr val="64748B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0B981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interface ResponsePayload</a:t>
            </a:r>
            <a:endParaRPr b="0" sz="1300">
              <a:solidFill>
                <a:srgbClr val="10B981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576" name="Google Shape;576;p42"/>
          <p:cNvSpPr txBox="1"/>
          <p:nvPr/>
        </p:nvSpPr>
        <p:spPr>
          <a:xfrm>
            <a:off x="952500" y="4210050"/>
            <a:ext cx="2819400" cy="600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Extract redundant helpers and copypasted calculations into centralized shared utilities.</a:t>
            </a:r>
            <a:endParaRPr b="0" sz="13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77" name="Google Shape;577;p42"/>
          <p:cNvSpPr txBox="1"/>
          <p:nvPr/>
        </p:nvSpPr>
        <p:spPr>
          <a:xfrm>
            <a:off x="4686300" y="4210050"/>
            <a:ext cx="2819400" cy="600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Rename generic identifiers (`data`, `temp`, `res2`) into self-documenting domain models.</a:t>
            </a:r>
            <a:endParaRPr b="0" sz="13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78" name="Google Shape;578;p42"/>
          <p:cNvSpPr txBox="1"/>
          <p:nvPr/>
        </p:nvSpPr>
        <p:spPr>
          <a:xfrm>
            <a:off x="8420100" y="4210050"/>
            <a:ext cx="2819400" cy="600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Refactor internal organization strictly while maintaining exact inputs, outputs, and contracts.</a:t>
            </a:r>
            <a:endParaRPr b="0" sz="13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579" name="Google Shape;579;p42" title="undp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465625" y="0"/>
            <a:ext cx="726375" cy="11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3"/>
          <p:cNvSpPr/>
          <p:nvPr/>
        </p:nvSpPr>
        <p:spPr>
          <a:xfrm>
            <a:off x="0" y="6848475"/>
            <a:ext cx="12192000" cy="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3"/>
          <p:cNvSpPr/>
          <p:nvPr/>
        </p:nvSpPr>
        <p:spPr>
          <a:xfrm>
            <a:off x="685800" y="1911041"/>
            <a:ext cx="10820400" cy="1162200"/>
          </a:xfrm>
          <a:prstGeom prst="roundRect">
            <a:avLst>
              <a:gd fmla="val 9836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3"/>
          <p:cNvSpPr/>
          <p:nvPr/>
        </p:nvSpPr>
        <p:spPr>
          <a:xfrm>
            <a:off x="685800" y="3301691"/>
            <a:ext cx="10820400" cy="552600"/>
          </a:xfrm>
          <a:prstGeom prst="roundRect">
            <a:avLst>
              <a:gd fmla="val 13793" name="adj"/>
            </a:avLst>
          </a:prstGeom>
          <a:solidFill>
            <a:srgbClr val="0B1120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43"/>
          <p:cNvSpPr/>
          <p:nvPr/>
        </p:nvSpPr>
        <p:spPr>
          <a:xfrm>
            <a:off x="685800" y="3968441"/>
            <a:ext cx="10820400" cy="523800"/>
          </a:xfrm>
          <a:prstGeom prst="roundRect">
            <a:avLst>
              <a:gd fmla="val 14545" name="adj"/>
            </a:avLst>
          </a:prstGeom>
          <a:solidFill>
            <a:srgbClr val="0B1120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43"/>
          <p:cNvSpPr/>
          <p:nvPr/>
        </p:nvSpPr>
        <p:spPr>
          <a:xfrm>
            <a:off x="685800" y="4606616"/>
            <a:ext cx="10820400" cy="523800"/>
          </a:xfrm>
          <a:prstGeom prst="roundRect">
            <a:avLst>
              <a:gd fmla="val 14545" name="adj"/>
            </a:avLst>
          </a:prstGeom>
          <a:solidFill>
            <a:srgbClr val="0B1120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9" name="Google Shape;589;p43"/>
          <p:cNvPicPr preferRelativeResize="0"/>
          <p:nvPr/>
        </p:nvPicPr>
        <p:blipFill rotWithShape="1">
          <a:blip r:embed="rId4">
            <a:alphaModFix/>
          </a:blip>
          <a:srcRect b="0" l="622" r="632" t="0"/>
          <a:stretch/>
        </p:blipFill>
        <p:spPr>
          <a:xfrm>
            <a:off x="685800" y="552450"/>
            <a:ext cx="141000" cy="1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43"/>
          <p:cNvSpPr txBox="1"/>
          <p:nvPr/>
        </p:nvSpPr>
        <p:spPr>
          <a:xfrm>
            <a:off x="903089" y="533400"/>
            <a:ext cx="112890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KNOWLEDGE CHECK 03</a:t>
            </a:r>
            <a:endParaRPr b="1" sz="1200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591" name="Google Shape;591;p43"/>
          <p:cNvSpPr txBox="1"/>
          <p:nvPr/>
        </p:nvSpPr>
        <p:spPr>
          <a:xfrm>
            <a:off x="685800" y="1107925"/>
            <a:ext cx="115062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Quick Quiz: Verification Discipline</a:t>
            </a:r>
            <a:endParaRPr b="1" sz="28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92" name="Google Shape;592;p43"/>
          <p:cNvSpPr txBox="1"/>
          <p:nvPr/>
        </p:nvSpPr>
        <p:spPr>
          <a:xfrm>
            <a:off x="1000125" y="2225366"/>
            <a:ext cx="10287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Question: You successfully fixed a failing donation form submission. Why is it mandatory to execute the entire regression test suite before pushing?</a:t>
            </a:r>
            <a:endParaRPr b="1" sz="1800">
              <a:solidFill>
                <a:srgbClr val="F8FAFC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593" name="Google Shape;593;p43"/>
          <p:cNvGrpSpPr/>
          <p:nvPr/>
        </p:nvGrpSpPr>
        <p:grpSpPr>
          <a:xfrm>
            <a:off x="885825" y="3477904"/>
            <a:ext cx="9763125" cy="200100"/>
            <a:chOff x="200025" y="176213"/>
            <a:chExt cx="9763125" cy="200100"/>
          </a:xfrm>
        </p:grpSpPr>
        <p:sp>
          <p:nvSpPr>
            <p:cNvPr id="594" name="Google Shape;594;p43"/>
            <p:cNvSpPr txBox="1"/>
            <p:nvPr/>
          </p:nvSpPr>
          <p:spPr>
            <a:xfrm>
              <a:off x="200025" y="180975"/>
              <a:ext cx="371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25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</a:t>
              </a:r>
              <a:endParaRPr b="1" sz="1125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595" name="Google Shape;595;p43"/>
            <p:cNvSpPr txBox="1"/>
            <p:nvPr/>
          </p:nvSpPr>
          <p:spPr>
            <a:xfrm>
              <a:off x="438150" y="176213"/>
              <a:ext cx="95250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To confirm the fix and prove that existing billing and receipt features did not regress.</a:t>
              </a:r>
              <a:endParaRPr b="0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596" name="Google Shape;596;p43"/>
          <p:cNvGrpSpPr/>
          <p:nvPr/>
        </p:nvGrpSpPr>
        <p:grpSpPr>
          <a:xfrm>
            <a:off x="885825" y="4130366"/>
            <a:ext cx="9763125" cy="200100"/>
            <a:chOff x="200025" y="161925"/>
            <a:chExt cx="9763125" cy="200100"/>
          </a:xfrm>
        </p:grpSpPr>
        <p:sp>
          <p:nvSpPr>
            <p:cNvPr id="597" name="Google Shape;597;p43"/>
            <p:cNvSpPr txBox="1"/>
            <p:nvPr/>
          </p:nvSpPr>
          <p:spPr>
            <a:xfrm>
              <a:off x="200025" y="166688"/>
              <a:ext cx="371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25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B</a:t>
              </a:r>
              <a:endParaRPr b="1" sz="1125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598" name="Google Shape;598;p43"/>
            <p:cNvSpPr txBox="1"/>
            <p:nvPr/>
          </p:nvSpPr>
          <p:spPr>
            <a:xfrm>
              <a:off x="438150" y="161925"/>
              <a:ext cx="95250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To artificially inflate test suite metrics for team reporting.</a:t>
              </a:r>
              <a:endParaRPr b="0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599" name="Google Shape;599;p43"/>
          <p:cNvGrpSpPr/>
          <p:nvPr/>
        </p:nvGrpSpPr>
        <p:grpSpPr>
          <a:xfrm>
            <a:off x="885825" y="4768541"/>
            <a:ext cx="9763125" cy="200100"/>
            <a:chOff x="200025" y="161925"/>
            <a:chExt cx="9763125" cy="200100"/>
          </a:xfrm>
        </p:grpSpPr>
        <p:sp>
          <p:nvSpPr>
            <p:cNvPr id="600" name="Google Shape;600;p43"/>
            <p:cNvSpPr txBox="1"/>
            <p:nvPr/>
          </p:nvSpPr>
          <p:spPr>
            <a:xfrm>
              <a:off x="200025" y="166688"/>
              <a:ext cx="371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25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</a:t>
              </a:r>
              <a:endParaRPr b="1" sz="1125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601" name="Google Shape;601;p43"/>
            <p:cNvSpPr txBox="1"/>
            <p:nvPr/>
          </p:nvSpPr>
          <p:spPr>
            <a:xfrm>
              <a:off x="438150" y="161925"/>
              <a:ext cx="95250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To skip manual code review requirements.</a:t>
              </a:r>
              <a:endParaRPr b="0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pic>
        <p:nvPicPr>
          <p:cNvPr id="602" name="Google Shape;602;p43" title="undp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65625" y="0"/>
            <a:ext cx="726375" cy="11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7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4"/>
          <p:cNvSpPr/>
          <p:nvPr/>
        </p:nvSpPr>
        <p:spPr>
          <a:xfrm>
            <a:off x="0" y="6848475"/>
            <a:ext cx="12192000" cy="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44"/>
          <p:cNvSpPr/>
          <p:nvPr/>
        </p:nvSpPr>
        <p:spPr>
          <a:xfrm>
            <a:off x="685800" y="1933190"/>
            <a:ext cx="10820400" cy="1162200"/>
          </a:xfrm>
          <a:prstGeom prst="roundRect">
            <a:avLst>
              <a:gd fmla="val 9836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44"/>
          <p:cNvSpPr/>
          <p:nvPr/>
        </p:nvSpPr>
        <p:spPr>
          <a:xfrm>
            <a:off x="685800" y="3323840"/>
            <a:ext cx="10820400" cy="552600"/>
          </a:xfrm>
          <a:prstGeom prst="roundRect">
            <a:avLst>
              <a:gd fmla="val 13793" name="adj"/>
            </a:avLst>
          </a:prstGeom>
          <a:solidFill>
            <a:srgbClr val="06231D"/>
          </a:solidFill>
          <a:ln cap="flat" cmpd="sng" w="9525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44"/>
          <p:cNvSpPr/>
          <p:nvPr/>
        </p:nvSpPr>
        <p:spPr>
          <a:xfrm>
            <a:off x="685800" y="3990590"/>
            <a:ext cx="10820400" cy="523800"/>
          </a:xfrm>
          <a:prstGeom prst="roundRect">
            <a:avLst>
              <a:gd fmla="val 14545" name="adj"/>
            </a:avLst>
          </a:prstGeom>
          <a:solidFill>
            <a:srgbClr val="0B1120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44"/>
          <p:cNvSpPr/>
          <p:nvPr/>
        </p:nvSpPr>
        <p:spPr>
          <a:xfrm>
            <a:off x="685800" y="4628765"/>
            <a:ext cx="10820400" cy="523800"/>
          </a:xfrm>
          <a:prstGeom prst="roundRect">
            <a:avLst>
              <a:gd fmla="val 14545" name="adj"/>
            </a:avLst>
          </a:prstGeom>
          <a:solidFill>
            <a:srgbClr val="0B1120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44"/>
          <p:cNvSpPr/>
          <p:nvPr/>
        </p:nvSpPr>
        <p:spPr>
          <a:xfrm>
            <a:off x="10687050" y="2998440"/>
            <a:ext cx="619200" cy="228600"/>
          </a:xfrm>
          <a:prstGeom prst="roundRect">
            <a:avLst>
              <a:gd fmla="val 16666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613" name="Google Shape;61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552450"/>
            <a:ext cx="141089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44"/>
          <p:cNvSpPr txBox="1"/>
          <p:nvPr/>
        </p:nvSpPr>
        <p:spPr>
          <a:xfrm>
            <a:off x="903089" y="533400"/>
            <a:ext cx="1128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KNOWLEDGE CHECK 03</a:t>
            </a:r>
            <a:endParaRPr sz="1200"/>
          </a:p>
        </p:txBody>
      </p:sp>
      <p:sp>
        <p:nvSpPr>
          <p:cNvPr id="615" name="Google Shape;615;p44"/>
          <p:cNvSpPr txBox="1"/>
          <p:nvPr/>
        </p:nvSpPr>
        <p:spPr>
          <a:xfrm>
            <a:off x="685800" y="1006250"/>
            <a:ext cx="1150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Quick Quiz: Verification Discipline</a:t>
            </a:r>
            <a:endParaRPr sz="2800"/>
          </a:p>
        </p:txBody>
      </p:sp>
      <p:sp>
        <p:nvSpPr>
          <p:cNvPr id="616" name="Google Shape;616;p44"/>
          <p:cNvSpPr txBox="1"/>
          <p:nvPr/>
        </p:nvSpPr>
        <p:spPr>
          <a:xfrm>
            <a:off x="1000125" y="2247515"/>
            <a:ext cx="102870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Question: You successfully fixed a failing donation form submission. Why is it mandatory to execute the entire regression test suite before pushing?</a:t>
            </a:r>
            <a:endParaRPr sz="1800"/>
          </a:p>
        </p:txBody>
      </p:sp>
      <p:sp>
        <p:nvSpPr>
          <p:cNvPr id="617" name="Google Shape;617;p44"/>
          <p:cNvSpPr txBox="1"/>
          <p:nvPr/>
        </p:nvSpPr>
        <p:spPr>
          <a:xfrm>
            <a:off x="885825" y="3504815"/>
            <a:ext cx="371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endParaRPr/>
          </a:p>
        </p:txBody>
      </p:sp>
      <p:sp>
        <p:nvSpPr>
          <p:cNvPr id="618" name="Google Shape;618;p44"/>
          <p:cNvSpPr txBox="1"/>
          <p:nvPr/>
        </p:nvSpPr>
        <p:spPr>
          <a:xfrm>
            <a:off x="1123950" y="3500052"/>
            <a:ext cx="7620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4D3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 confirm the fix and prove that existing billing and receipt features did not regress.</a:t>
            </a:r>
            <a:endParaRPr sz="1300"/>
          </a:p>
        </p:txBody>
      </p:sp>
      <p:sp>
        <p:nvSpPr>
          <p:cNvPr id="619" name="Google Shape;619;p44"/>
          <p:cNvSpPr txBox="1"/>
          <p:nvPr/>
        </p:nvSpPr>
        <p:spPr>
          <a:xfrm>
            <a:off x="10763250" y="3036540"/>
            <a:ext cx="561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CORRECT</a:t>
            </a:r>
            <a:endParaRPr/>
          </a:p>
        </p:txBody>
      </p:sp>
      <p:sp>
        <p:nvSpPr>
          <p:cNvPr id="620" name="Google Shape;620;p44"/>
          <p:cNvSpPr txBox="1"/>
          <p:nvPr/>
        </p:nvSpPr>
        <p:spPr>
          <a:xfrm>
            <a:off x="885825" y="4157277"/>
            <a:ext cx="371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</a:t>
            </a:r>
            <a:endParaRPr/>
          </a:p>
        </p:txBody>
      </p:sp>
      <p:sp>
        <p:nvSpPr>
          <p:cNvPr id="621" name="Google Shape;621;p44"/>
          <p:cNvSpPr txBox="1"/>
          <p:nvPr/>
        </p:nvSpPr>
        <p:spPr>
          <a:xfrm>
            <a:off x="1123950" y="4152515"/>
            <a:ext cx="5048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 artificially inflate test suite metrics for team reporting.</a:t>
            </a:r>
            <a:endParaRPr sz="1300"/>
          </a:p>
        </p:txBody>
      </p:sp>
      <p:sp>
        <p:nvSpPr>
          <p:cNvPr id="622" name="Google Shape;622;p44"/>
          <p:cNvSpPr txBox="1"/>
          <p:nvPr/>
        </p:nvSpPr>
        <p:spPr>
          <a:xfrm>
            <a:off x="885825" y="4795452"/>
            <a:ext cx="371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</a:t>
            </a:r>
            <a:endParaRPr/>
          </a:p>
        </p:txBody>
      </p:sp>
      <p:sp>
        <p:nvSpPr>
          <p:cNvPr id="623" name="Google Shape;623;p44"/>
          <p:cNvSpPr txBox="1"/>
          <p:nvPr/>
        </p:nvSpPr>
        <p:spPr>
          <a:xfrm>
            <a:off x="1123950" y="4790690"/>
            <a:ext cx="3774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 skip manual code review requirements.</a:t>
            </a:r>
            <a:endParaRPr sz="1300"/>
          </a:p>
        </p:txBody>
      </p:sp>
      <p:pic>
        <p:nvPicPr>
          <p:cNvPr id="624" name="Google Shape;624;p44" title="und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65625" y="0"/>
            <a:ext cx="726375" cy="11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7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5"/>
          <p:cNvSpPr/>
          <p:nvPr/>
        </p:nvSpPr>
        <p:spPr>
          <a:xfrm>
            <a:off x="0" y="6848475"/>
            <a:ext cx="12192000" cy="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45"/>
          <p:cNvSpPr/>
          <p:nvPr/>
        </p:nvSpPr>
        <p:spPr>
          <a:xfrm>
            <a:off x="685800" y="1428750"/>
            <a:ext cx="5277000" cy="4876800"/>
          </a:xfrm>
          <a:prstGeom prst="roundRect">
            <a:avLst>
              <a:gd fmla="val 2343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1" name="Google Shape;631;p45"/>
          <p:cNvGrpSpPr/>
          <p:nvPr/>
        </p:nvGrpSpPr>
        <p:grpSpPr>
          <a:xfrm>
            <a:off x="990600" y="2809875"/>
            <a:ext cx="4667400" cy="3190800"/>
            <a:chOff x="0" y="0"/>
            <a:chExt cx="4667400" cy="3190800"/>
          </a:xfrm>
        </p:grpSpPr>
        <p:sp>
          <p:nvSpPr>
            <p:cNvPr id="632" name="Google Shape;632;p45"/>
            <p:cNvSpPr/>
            <p:nvPr/>
          </p:nvSpPr>
          <p:spPr>
            <a:xfrm>
              <a:off x="0" y="0"/>
              <a:ext cx="4667400" cy="3190800"/>
            </a:xfrm>
            <a:prstGeom prst="roundRect">
              <a:avLst>
                <a:gd fmla="val 2388" name="adj"/>
              </a:avLst>
            </a:prstGeom>
            <a:solidFill>
              <a:srgbClr val="030712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45"/>
            <p:cNvSpPr/>
            <p:nvPr/>
          </p:nvSpPr>
          <p:spPr>
            <a:xfrm>
              <a:off x="0" y="0"/>
              <a:ext cx="4667400" cy="342900"/>
            </a:xfrm>
            <a:prstGeom prst="roundRect">
              <a:avLst>
                <a:gd fmla="val 22222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45"/>
            <p:cNvSpPr/>
            <p:nvPr/>
          </p:nvSpPr>
          <p:spPr>
            <a:xfrm>
              <a:off x="0" y="190500"/>
              <a:ext cx="4667400" cy="1524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45"/>
            <p:cNvSpPr/>
            <p:nvPr/>
          </p:nvSpPr>
          <p:spPr>
            <a:xfrm>
              <a:off x="142875" y="123825"/>
              <a:ext cx="95400" cy="954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45"/>
            <p:cNvSpPr/>
            <p:nvPr/>
          </p:nvSpPr>
          <p:spPr>
            <a:xfrm>
              <a:off x="295275" y="123825"/>
              <a:ext cx="95400" cy="95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45"/>
            <p:cNvSpPr/>
            <p:nvPr/>
          </p:nvSpPr>
          <p:spPr>
            <a:xfrm>
              <a:off x="447675" y="123825"/>
              <a:ext cx="95400" cy="95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45"/>
            <p:cNvSpPr txBox="1"/>
            <p:nvPr/>
          </p:nvSpPr>
          <p:spPr>
            <a:xfrm>
              <a:off x="666750" y="76200"/>
              <a:ext cx="2857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CONSOLE ERROR — HTTP 500</a:t>
              </a:r>
              <a:endParaRPr b="1" sz="13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pic>
        <p:nvPicPr>
          <p:cNvPr descr="image.png" id="639" name="Google Shape;63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552450"/>
            <a:ext cx="122039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5"/>
          <p:cNvSpPr txBox="1"/>
          <p:nvPr/>
        </p:nvSpPr>
        <p:spPr>
          <a:xfrm>
            <a:off x="884039" y="533400"/>
            <a:ext cx="1130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REAL-WORLD APPLIED SCENARIO</a:t>
            </a:r>
            <a:endParaRPr sz="1200"/>
          </a:p>
        </p:txBody>
      </p:sp>
      <p:sp>
        <p:nvSpPr>
          <p:cNvPr id="641" name="Google Shape;641;p45"/>
          <p:cNvSpPr txBox="1"/>
          <p:nvPr/>
        </p:nvSpPr>
        <p:spPr>
          <a:xfrm>
            <a:off x="685800" y="790575"/>
            <a:ext cx="1150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Case Study: The Broken Donation Page</a:t>
            </a:r>
            <a:endParaRPr sz="2800"/>
          </a:p>
        </p:txBody>
      </p:sp>
      <p:sp>
        <p:nvSpPr>
          <p:cNvPr id="642" name="Google Shape;642;p45"/>
          <p:cNvSpPr txBox="1"/>
          <p:nvPr/>
        </p:nvSpPr>
        <p:spPr>
          <a:xfrm>
            <a:off x="807850" y="1640888"/>
            <a:ext cx="46674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Symptom</a:t>
            </a:r>
            <a:endParaRPr b="1" sz="16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43" name="Google Shape;643;p45"/>
          <p:cNvSpPr txBox="1"/>
          <p:nvPr/>
        </p:nvSpPr>
        <p:spPr>
          <a:xfrm>
            <a:off x="990600" y="2047875"/>
            <a:ext cx="46674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Users click "Donate $25" and the button locks into an endless loading state with no network confirmation.</a:t>
            </a:r>
            <a:endParaRPr b="0" sz="130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44" name="Google Shape;644;p45"/>
          <p:cNvSpPr txBox="1"/>
          <p:nvPr/>
        </p:nvSpPr>
        <p:spPr>
          <a:xfrm>
            <a:off x="1143000" y="3314700"/>
            <a:ext cx="4362600" cy="167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F44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POST /api/checkout 500</a:t>
            </a:r>
            <a:endParaRPr b="1" sz="1300">
              <a:solidFill>
                <a:srgbClr val="EF444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CA5A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"currency is required for Stripe charges"</a:t>
            </a:r>
            <a:endParaRPr b="0" sz="1300">
              <a:solidFill>
                <a:srgbClr val="FCA5A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➜ at StripeClient.createCharge (stripe.js:142)</a:t>
            </a:r>
            <a:endParaRPr b="0" sz="130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➜ at CheckoutHandler.post (/api/checkout/route.js:28)</a:t>
            </a:r>
            <a:endParaRPr b="0" sz="130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➜ Request Payload: { amount: 2500 }</a:t>
            </a:r>
            <a:endParaRPr b="0" sz="130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645" name="Google Shape;645;p45"/>
          <p:cNvSpPr txBox="1"/>
          <p:nvPr/>
        </p:nvSpPr>
        <p:spPr>
          <a:xfrm>
            <a:off x="6229350" y="1428750"/>
            <a:ext cx="52770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Discovered Risks</a:t>
            </a:r>
            <a:endParaRPr b="1" sz="16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646" name="Google Shape;646;p45"/>
          <p:cNvGrpSpPr/>
          <p:nvPr/>
        </p:nvGrpSpPr>
        <p:grpSpPr>
          <a:xfrm>
            <a:off x="6229350" y="1857375"/>
            <a:ext cx="5277000" cy="1285800"/>
            <a:chOff x="0" y="0"/>
            <a:chExt cx="5277000" cy="1285800"/>
          </a:xfrm>
        </p:grpSpPr>
        <p:sp>
          <p:nvSpPr>
            <p:cNvPr id="647" name="Google Shape;647;p45"/>
            <p:cNvSpPr/>
            <p:nvPr/>
          </p:nvSpPr>
          <p:spPr>
            <a:xfrm>
              <a:off x="0" y="0"/>
              <a:ext cx="5277000" cy="1285800"/>
            </a:xfrm>
            <a:prstGeom prst="roundRect">
              <a:avLst>
                <a:gd fmla="val 7407" name="adj"/>
              </a:avLst>
            </a:prstGeom>
            <a:solidFill>
              <a:srgbClr val="0F172A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45"/>
            <p:cNvSpPr/>
            <p:nvPr/>
          </p:nvSpPr>
          <p:spPr>
            <a:xfrm>
              <a:off x="0" y="0"/>
              <a:ext cx="38100" cy="12858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45"/>
            <p:cNvSpPr/>
            <p:nvPr/>
          </p:nvSpPr>
          <p:spPr>
            <a:xfrm>
              <a:off x="228600" y="209550"/>
              <a:ext cx="419100" cy="419100"/>
            </a:xfrm>
            <a:prstGeom prst="roundRect">
              <a:avLst>
                <a:gd fmla="val 18181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45"/>
            <p:cNvSpPr txBox="1"/>
            <p:nvPr/>
          </p:nvSpPr>
          <p:spPr>
            <a:xfrm>
              <a:off x="228600" y="209550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8717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01</a:t>
              </a:r>
              <a:endParaRPr b="1" sz="1200">
                <a:solidFill>
                  <a:srgbClr val="F87171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sp>
        <p:nvSpPr>
          <p:cNvPr id="651" name="Google Shape;651;p45"/>
          <p:cNvSpPr txBox="1"/>
          <p:nvPr/>
        </p:nvSpPr>
        <p:spPr>
          <a:xfrm>
            <a:off x="7029450" y="2066925"/>
            <a:ext cx="4248300" cy="45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8717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Missing Currency Payload</a:t>
            </a:r>
            <a:endParaRPr b="1" sz="1300">
              <a:solidFill>
                <a:srgbClr val="F8717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Frontend payload drops default USD formatting.</a:t>
            </a:r>
            <a:endParaRPr b="0" sz="1300">
              <a:solidFill>
                <a:srgbClr val="CBD5E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652" name="Google Shape;652;p45"/>
          <p:cNvGrpSpPr/>
          <p:nvPr/>
        </p:nvGrpSpPr>
        <p:grpSpPr>
          <a:xfrm>
            <a:off x="6229350" y="3286125"/>
            <a:ext cx="5277000" cy="1285800"/>
            <a:chOff x="0" y="0"/>
            <a:chExt cx="5277000" cy="1285800"/>
          </a:xfrm>
        </p:grpSpPr>
        <p:sp>
          <p:nvSpPr>
            <p:cNvPr id="653" name="Google Shape;653;p45"/>
            <p:cNvSpPr/>
            <p:nvPr/>
          </p:nvSpPr>
          <p:spPr>
            <a:xfrm>
              <a:off x="0" y="0"/>
              <a:ext cx="5277000" cy="1285800"/>
            </a:xfrm>
            <a:prstGeom prst="roundRect">
              <a:avLst>
                <a:gd fmla="val 7407" name="adj"/>
              </a:avLst>
            </a:prstGeom>
            <a:solidFill>
              <a:srgbClr val="0F172A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45"/>
            <p:cNvSpPr/>
            <p:nvPr/>
          </p:nvSpPr>
          <p:spPr>
            <a:xfrm>
              <a:off x="0" y="0"/>
              <a:ext cx="38100" cy="12858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45"/>
            <p:cNvSpPr/>
            <p:nvPr/>
          </p:nvSpPr>
          <p:spPr>
            <a:xfrm>
              <a:off x="228600" y="209550"/>
              <a:ext cx="419100" cy="419100"/>
            </a:xfrm>
            <a:prstGeom prst="roundRect">
              <a:avLst>
                <a:gd fmla="val 18181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45"/>
            <p:cNvSpPr txBox="1"/>
            <p:nvPr/>
          </p:nvSpPr>
          <p:spPr>
            <a:xfrm>
              <a:off x="228600" y="209550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BBF2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02</a:t>
              </a:r>
              <a:endParaRPr b="1" sz="1200">
                <a:solidFill>
                  <a:srgbClr val="FBBF2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sp>
        <p:nvSpPr>
          <p:cNvPr id="657" name="Google Shape;657;p45"/>
          <p:cNvSpPr txBox="1"/>
          <p:nvPr/>
        </p:nvSpPr>
        <p:spPr>
          <a:xfrm>
            <a:off x="7029450" y="3495675"/>
            <a:ext cx="4248300" cy="45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BBF2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Hardcoded Secret</a:t>
            </a:r>
            <a:endParaRPr b="1" sz="1300">
              <a:solidFill>
                <a:srgbClr val="FBBF2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 Stripe key left in client HTML header.</a:t>
            </a:r>
            <a:endParaRPr b="0" sz="1300">
              <a:solidFill>
                <a:srgbClr val="CBD5E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658" name="Google Shape;658;p45"/>
          <p:cNvGrpSpPr/>
          <p:nvPr/>
        </p:nvGrpSpPr>
        <p:grpSpPr>
          <a:xfrm>
            <a:off x="6229350" y="4714875"/>
            <a:ext cx="5277000" cy="1285800"/>
            <a:chOff x="0" y="0"/>
            <a:chExt cx="5277000" cy="1285800"/>
          </a:xfrm>
        </p:grpSpPr>
        <p:sp>
          <p:nvSpPr>
            <p:cNvPr id="659" name="Google Shape;659;p45"/>
            <p:cNvSpPr/>
            <p:nvPr/>
          </p:nvSpPr>
          <p:spPr>
            <a:xfrm>
              <a:off x="0" y="0"/>
              <a:ext cx="5277000" cy="1285800"/>
            </a:xfrm>
            <a:prstGeom prst="roundRect">
              <a:avLst>
                <a:gd fmla="val 7407" name="adj"/>
              </a:avLst>
            </a:prstGeom>
            <a:solidFill>
              <a:srgbClr val="0F172A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45"/>
            <p:cNvSpPr/>
            <p:nvPr/>
          </p:nvSpPr>
          <p:spPr>
            <a:xfrm>
              <a:off x="0" y="0"/>
              <a:ext cx="38100" cy="12858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45"/>
            <p:cNvSpPr/>
            <p:nvPr/>
          </p:nvSpPr>
          <p:spPr>
            <a:xfrm>
              <a:off x="228600" y="209550"/>
              <a:ext cx="419100" cy="419100"/>
            </a:xfrm>
            <a:prstGeom prst="roundRect">
              <a:avLst>
                <a:gd fmla="val 18181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45"/>
            <p:cNvSpPr txBox="1"/>
            <p:nvPr/>
          </p:nvSpPr>
          <p:spPr>
            <a:xfrm>
              <a:off x="228600" y="209550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03</a:t>
              </a:r>
              <a:endParaRPr b="1" sz="12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sp>
        <p:nvSpPr>
          <p:cNvPr id="663" name="Google Shape;663;p45"/>
          <p:cNvSpPr txBox="1"/>
          <p:nvPr/>
        </p:nvSpPr>
        <p:spPr>
          <a:xfrm>
            <a:off x="7029450" y="4924425"/>
            <a:ext cx="4248300" cy="45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Uncaught Rejections</a:t>
            </a:r>
            <a:endParaRPr b="1" sz="1300">
              <a:solidFill>
                <a:srgbClr val="38BDF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 UI notification when payment gateway declines.</a:t>
            </a:r>
            <a:endParaRPr b="0" sz="1300">
              <a:solidFill>
                <a:srgbClr val="CBD5E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664" name="Google Shape;664;p45" title="und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65625" y="0"/>
            <a:ext cx="726375" cy="11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7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46"/>
          <p:cNvSpPr/>
          <p:nvPr/>
        </p:nvSpPr>
        <p:spPr>
          <a:xfrm>
            <a:off x="0" y="6848475"/>
            <a:ext cx="12192000" cy="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670" name="Google Shape;67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552450"/>
            <a:ext cx="112514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46"/>
          <p:cNvSpPr txBox="1"/>
          <p:nvPr/>
        </p:nvSpPr>
        <p:spPr>
          <a:xfrm>
            <a:off x="874514" y="533400"/>
            <a:ext cx="11317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STANDARD OPERATING PROCEDURE</a:t>
            </a:r>
            <a:endParaRPr sz="1200"/>
          </a:p>
        </p:txBody>
      </p:sp>
      <p:sp>
        <p:nvSpPr>
          <p:cNvPr id="672" name="Google Shape;672;p46"/>
          <p:cNvSpPr txBox="1"/>
          <p:nvPr/>
        </p:nvSpPr>
        <p:spPr>
          <a:xfrm>
            <a:off x="685800" y="790575"/>
            <a:ext cx="1150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Anatomy of an Actionable Bug Report</a:t>
            </a:r>
            <a:endParaRPr sz="2800"/>
          </a:p>
        </p:txBody>
      </p:sp>
      <p:grpSp>
        <p:nvGrpSpPr>
          <p:cNvPr id="673" name="Google Shape;673;p46"/>
          <p:cNvGrpSpPr/>
          <p:nvPr/>
        </p:nvGrpSpPr>
        <p:grpSpPr>
          <a:xfrm>
            <a:off x="685800" y="1581150"/>
            <a:ext cx="5295900" cy="2190900"/>
            <a:chOff x="0" y="0"/>
            <a:chExt cx="5295900" cy="2190900"/>
          </a:xfrm>
        </p:grpSpPr>
        <p:sp>
          <p:nvSpPr>
            <p:cNvPr id="674" name="Google Shape;674;p46"/>
            <p:cNvSpPr/>
            <p:nvPr/>
          </p:nvSpPr>
          <p:spPr>
            <a:xfrm>
              <a:off x="0" y="0"/>
              <a:ext cx="5295900" cy="2190900"/>
            </a:xfrm>
            <a:prstGeom prst="roundRect">
              <a:avLst>
                <a:gd fmla="val 5217" name="adj"/>
              </a:avLst>
            </a:prstGeom>
            <a:solidFill>
              <a:srgbClr val="0F172A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46"/>
            <p:cNvSpPr/>
            <p:nvPr/>
          </p:nvSpPr>
          <p:spPr>
            <a:xfrm>
              <a:off x="0" y="0"/>
              <a:ext cx="38100" cy="21909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46"/>
            <p:cNvSpPr/>
            <p:nvPr/>
          </p:nvSpPr>
          <p:spPr>
            <a:xfrm>
              <a:off x="228600" y="228600"/>
              <a:ext cx="419100" cy="419100"/>
            </a:xfrm>
            <a:prstGeom prst="roundRect">
              <a:avLst>
                <a:gd fmla="val 18181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46"/>
            <p:cNvSpPr txBox="1"/>
            <p:nvPr/>
          </p:nvSpPr>
          <p:spPr>
            <a:xfrm>
              <a:off x="228600" y="228600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01</a:t>
              </a:r>
              <a:endParaRPr b="1" sz="13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678" name="Google Shape;678;p46"/>
            <p:cNvSpPr txBox="1"/>
            <p:nvPr/>
          </p:nvSpPr>
          <p:spPr>
            <a:xfrm>
              <a:off x="800100" y="228600"/>
              <a:ext cx="42672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Clear Title &amp; Severity</a:t>
              </a:r>
              <a:endParaRPr b="1" sz="16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679" name="Google Shape;679;p46"/>
            <p:cNvSpPr txBox="1"/>
            <p:nvPr/>
          </p:nvSpPr>
          <p:spPr>
            <a:xfrm>
              <a:off x="228600" y="838200"/>
              <a:ext cx="4838700" cy="11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BD5E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Summarizes the blocker precisely: "[P0] Donation form hangs on submit due to missing currency field".</a:t>
              </a:r>
              <a:endParaRPr b="0" sz="130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680" name="Google Shape;680;p46"/>
          <p:cNvGrpSpPr/>
          <p:nvPr/>
        </p:nvGrpSpPr>
        <p:grpSpPr>
          <a:xfrm>
            <a:off x="6210300" y="1581150"/>
            <a:ext cx="5295900" cy="2190900"/>
            <a:chOff x="0" y="0"/>
            <a:chExt cx="5295900" cy="2190900"/>
          </a:xfrm>
        </p:grpSpPr>
        <p:sp>
          <p:nvSpPr>
            <p:cNvPr id="681" name="Google Shape;681;p46"/>
            <p:cNvSpPr/>
            <p:nvPr/>
          </p:nvSpPr>
          <p:spPr>
            <a:xfrm>
              <a:off x="0" y="0"/>
              <a:ext cx="5295900" cy="2190900"/>
            </a:xfrm>
            <a:prstGeom prst="roundRect">
              <a:avLst>
                <a:gd fmla="val 5217" name="adj"/>
              </a:avLst>
            </a:prstGeom>
            <a:solidFill>
              <a:srgbClr val="0F172A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46"/>
            <p:cNvSpPr/>
            <p:nvPr/>
          </p:nvSpPr>
          <p:spPr>
            <a:xfrm>
              <a:off x="0" y="0"/>
              <a:ext cx="38100" cy="21909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46"/>
            <p:cNvSpPr/>
            <p:nvPr/>
          </p:nvSpPr>
          <p:spPr>
            <a:xfrm>
              <a:off x="228600" y="228600"/>
              <a:ext cx="419100" cy="419100"/>
            </a:xfrm>
            <a:prstGeom prst="roundRect">
              <a:avLst>
                <a:gd fmla="val 18181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46"/>
            <p:cNvSpPr txBox="1"/>
            <p:nvPr/>
          </p:nvSpPr>
          <p:spPr>
            <a:xfrm>
              <a:off x="228600" y="228600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02</a:t>
              </a:r>
              <a:endParaRPr b="1" sz="13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685" name="Google Shape;685;p46"/>
            <p:cNvSpPr txBox="1"/>
            <p:nvPr/>
          </p:nvSpPr>
          <p:spPr>
            <a:xfrm>
              <a:off x="800100" y="228600"/>
              <a:ext cx="42672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Exact Reproduction Steps</a:t>
              </a:r>
              <a:endParaRPr b="1" sz="16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686" name="Google Shape;686;p46"/>
            <p:cNvSpPr txBox="1"/>
            <p:nvPr/>
          </p:nvSpPr>
          <p:spPr>
            <a:xfrm>
              <a:off x="228600" y="838200"/>
              <a:ext cx="4838700" cy="11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BD5E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Step-by-step instructions to produce the exact failure state deterministically.</a:t>
              </a:r>
              <a:endParaRPr b="0" sz="130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687" name="Google Shape;687;p46"/>
          <p:cNvGrpSpPr/>
          <p:nvPr/>
        </p:nvGrpSpPr>
        <p:grpSpPr>
          <a:xfrm>
            <a:off x="685800" y="4000500"/>
            <a:ext cx="5295900" cy="2190900"/>
            <a:chOff x="0" y="0"/>
            <a:chExt cx="5295900" cy="2190900"/>
          </a:xfrm>
        </p:grpSpPr>
        <p:sp>
          <p:nvSpPr>
            <p:cNvPr id="688" name="Google Shape;688;p46"/>
            <p:cNvSpPr/>
            <p:nvPr/>
          </p:nvSpPr>
          <p:spPr>
            <a:xfrm>
              <a:off x="0" y="0"/>
              <a:ext cx="5295900" cy="2190900"/>
            </a:xfrm>
            <a:prstGeom prst="roundRect">
              <a:avLst>
                <a:gd fmla="val 5217" name="adj"/>
              </a:avLst>
            </a:prstGeom>
            <a:solidFill>
              <a:srgbClr val="0F172A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46"/>
            <p:cNvSpPr/>
            <p:nvPr/>
          </p:nvSpPr>
          <p:spPr>
            <a:xfrm>
              <a:off x="0" y="0"/>
              <a:ext cx="38100" cy="21909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46"/>
            <p:cNvSpPr/>
            <p:nvPr/>
          </p:nvSpPr>
          <p:spPr>
            <a:xfrm>
              <a:off x="228600" y="228600"/>
              <a:ext cx="419100" cy="419100"/>
            </a:xfrm>
            <a:prstGeom prst="roundRect">
              <a:avLst>
                <a:gd fmla="val 18181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46"/>
            <p:cNvSpPr txBox="1"/>
            <p:nvPr/>
          </p:nvSpPr>
          <p:spPr>
            <a:xfrm>
              <a:off x="228600" y="228600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03</a:t>
              </a:r>
              <a:endParaRPr b="1" sz="13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692" name="Google Shape;692;p46"/>
            <p:cNvSpPr txBox="1"/>
            <p:nvPr/>
          </p:nvSpPr>
          <p:spPr>
            <a:xfrm>
              <a:off x="800100" y="228600"/>
              <a:ext cx="42672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Expected vs Actual Outcome</a:t>
              </a:r>
              <a:endParaRPr b="1" sz="16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693" name="Google Shape;693;p46"/>
            <p:cNvSpPr txBox="1"/>
            <p:nvPr/>
          </p:nvSpPr>
          <p:spPr>
            <a:xfrm>
              <a:off x="228600" y="838200"/>
              <a:ext cx="4838700" cy="11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BD5E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Explicitly contrasts what the user should experience versus the observed error.</a:t>
              </a:r>
              <a:endParaRPr b="0" sz="130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694" name="Google Shape;694;p46"/>
          <p:cNvGrpSpPr/>
          <p:nvPr/>
        </p:nvGrpSpPr>
        <p:grpSpPr>
          <a:xfrm>
            <a:off x="6210300" y="4000500"/>
            <a:ext cx="5295900" cy="2190900"/>
            <a:chOff x="0" y="0"/>
            <a:chExt cx="5295900" cy="2190900"/>
          </a:xfrm>
        </p:grpSpPr>
        <p:sp>
          <p:nvSpPr>
            <p:cNvPr id="695" name="Google Shape;695;p46"/>
            <p:cNvSpPr/>
            <p:nvPr/>
          </p:nvSpPr>
          <p:spPr>
            <a:xfrm>
              <a:off x="0" y="0"/>
              <a:ext cx="5295900" cy="2190900"/>
            </a:xfrm>
            <a:prstGeom prst="roundRect">
              <a:avLst>
                <a:gd fmla="val 5217" name="adj"/>
              </a:avLst>
            </a:prstGeom>
            <a:solidFill>
              <a:srgbClr val="0F172A"/>
            </a:solidFill>
            <a:ln cap="flat" cmpd="sng" w="9525">
              <a:solidFill>
                <a:srgbClr val="0596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46"/>
            <p:cNvSpPr/>
            <p:nvPr/>
          </p:nvSpPr>
          <p:spPr>
            <a:xfrm>
              <a:off x="0" y="0"/>
              <a:ext cx="38100" cy="2190900"/>
            </a:xfrm>
            <a:prstGeom prst="roundRect">
              <a:avLst>
                <a:gd fmla="val 50000" name="adj"/>
              </a:avLst>
            </a:prstGeom>
            <a:solidFill>
              <a:srgbClr val="34D39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46"/>
            <p:cNvSpPr/>
            <p:nvPr/>
          </p:nvSpPr>
          <p:spPr>
            <a:xfrm>
              <a:off x="228600" y="228600"/>
              <a:ext cx="419100" cy="419100"/>
            </a:xfrm>
            <a:prstGeom prst="roundRect">
              <a:avLst>
                <a:gd fmla="val 18181" name="adj"/>
              </a:avLst>
            </a:prstGeom>
            <a:solidFill>
              <a:srgbClr val="06231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46"/>
            <p:cNvSpPr txBox="1"/>
            <p:nvPr/>
          </p:nvSpPr>
          <p:spPr>
            <a:xfrm>
              <a:off x="228600" y="228600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4D39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04</a:t>
              </a:r>
              <a:endParaRPr b="1" sz="1300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699" name="Google Shape;699;p46"/>
            <p:cNvSpPr txBox="1"/>
            <p:nvPr/>
          </p:nvSpPr>
          <p:spPr>
            <a:xfrm>
              <a:off x="800100" y="228600"/>
              <a:ext cx="42672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Verified Fix &amp; Test Proof</a:t>
              </a:r>
              <a:endParaRPr b="1" sz="16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700" name="Google Shape;700;p46"/>
            <p:cNvSpPr txBox="1"/>
            <p:nvPr/>
          </p:nvSpPr>
          <p:spPr>
            <a:xfrm>
              <a:off x="228600" y="838200"/>
              <a:ext cx="4838700" cy="11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BD5E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References the passing regression test script and sanitized git commit hash.</a:t>
              </a:r>
              <a:endParaRPr b="0" sz="130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pic>
        <p:nvPicPr>
          <p:cNvPr id="701" name="Google Shape;701;p46" title="und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65625" y="0"/>
            <a:ext cx="726375" cy="11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7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47"/>
          <p:cNvSpPr/>
          <p:nvPr/>
        </p:nvSpPr>
        <p:spPr>
          <a:xfrm>
            <a:off x="0" y="6848475"/>
            <a:ext cx="12192000" cy="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7" name="Google Shape;707;p47"/>
          <p:cNvGrpSpPr/>
          <p:nvPr/>
        </p:nvGrpSpPr>
        <p:grpSpPr>
          <a:xfrm>
            <a:off x="685800" y="1714500"/>
            <a:ext cx="10820400" cy="4286400"/>
            <a:chOff x="685800" y="1714500"/>
            <a:chExt cx="10820400" cy="4286400"/>
          </a:xfrm>
        </p:grpSpPr>
        <p:pic>
          <p:nvPicPr>
            <p:cNvPr id="708" name="Google Shape;708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3000" y="2276475"/>
              <a:ext cx="7962900" cy="1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09" name="Google Shape;709;p47"/>
            <p:cNvGrpSpPr/>
            <p:nvPr/>
          </p:nvGrpSpPr>
          <p:grpSpPr>
            <a:xfrm>
              <a:off x="685800" y="1714500"/>
              <a:ext cx="1447800" cy="4286400"/>
              <a:chOff x="0" y="0"/>
              <a:chExt cx="1447800" cy="4286400"/>
            </a:xfrm>
          </p:grpSpPr>
          <p:sp>
            <p:nvSpPr>
              <p:cNvPr id="710" name="Google Shape;710;p47"/>
              <p:cNvSpPr/>
              <p:nvPr/>
            </p:nvSpPr>
            <p:spPr>
              <a:xfrm>
                <a:off x="0" y="0"/>
                <a:ext cx="1447800" cy="4286400"/>
              </a:xfrm>
              <a:prstGeom prst="roundRect">
                <a:avLst>
                  <a:gd fmla="val 7894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47"/>
              <p:cNvSpPr/>
              <p:nvPr/>
            </p:nvSpPr>
            <p:spPr>
              <a:xfrm>
                <a:off x="152400" y="190500"/>
                <a:ext cx="514500" cy="266700"/>
              </a:xfrm>
              <a:prstGeom prst="roundRect">
                <a:avLst>
                  <a:gd fmla="val 21428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" name="Google Shape;712;p47"/>
              <p:cNvSpPr txBox="1"/>
              <p:nvPr/>
            </p:nvSpPr>
            <p:spPr>
              <a:xfrm>
                <a:off x="152400" y="190500"/>
                <a:ext cx="5145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38BDF8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01</a:t>
                </a:r>
                <a:endParaRPr b="1" sz="10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  <p:sp>
            <p:nvSpPr>
              <p:cNvPr id="713" name="Google Shape;713;p47"/>
              <p:cNvSpPr txBox="1"/>
              <p:nvPr/>
            </p:nvSpPr>
            <p:spPr>
              <a:xfrm>
                <a:off x="152400" y="666750"/>
                <a:ext cx="1143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FFFFFF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Reproduce</a:t>
                </a:r>
                <a:endParaRPr b="1" sz="15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cxnSp>
            <p:nvCxnSpPr>
              <p:cNvPr id="714" name="Google Shape;714;p47"/>
              <p:cNvCxnSpPr/>
              <p:nvPr/>
            </p:nvCxnSpPr>
            <p:spPr>
              <a:xfrm>
                <a:off x="152400" y="1285875"/>
                <a:ext cx="1143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15" name="Google Shape;715;p47"/>
              <p:cNvSpPr txBox="1"/>
              <p:nvPr/>
            </p:nvSpPr>
            <p:spPr>
              <a:xfrm>
                <a:off x="152400" y="1476375"/>
                <a:ext cx="1143000" cy="247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94A3B8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Replicate the failure deterministically.</a:t>
                </a:r>
                <a:endParaRPr b="0" sz="130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716" name="Google Shape;716;p47"/>
            <p:cNvGrpSpPr/>
            <p:nvPr/>
          </p:nvGrpSpPr>
          <p:grpSpPr>
            <a:xfrm>
              <a:off x="2247900" y="1714500"/>
              <a:ext cx="1447800" cy="4286400"/>
              <a:chOff x="0" y="0"/>
              <a:chExt cx="1447800" cy="4286400"/>
            </a:xfrm>
          </p:grpSpPr>
          <p:sp>
            <p:nvSpPr>
              <p:cNvPr id="717" name="Google Shape;717;p47"/>
              <p:cNvSpPr/>
              <p:nvPr/>
            </p:nvSpPr>
            <p:spPr>
              <a:xfrm>
                <a:off x="0" y="0"/>
                <a:ext cx="1447800" cy="4286400"/>
              </a:xfrm>
              <a:prstGeom prst="roundRect">
                <a:avLst>
                  <a:gd fmla="val 7894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8" name="Google Shape;718;p47"/>
              <p:cNvSpPr/>
              <p:nvPr/>
            </p:nvSpPr>
            <p:spPr>
              <a:xfrm>
                <a:off x="152400" y="190500"/>
                <a:ext cx="514500" cy="266700"/>
              </a:xfrm>
              <a:prstGeom prst="roundRect">
                <a:avLst>
                  <a:gd fmla="val 21428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9" name="Google Shape;719;p47"/>
              <p:cNvSpPr txBox="1"/>
              <p:nvPr/>
            </p:nvSpPr>
            <p:spPr>
              <a:xfrm>
                <a:off x="152400" y="190500"/>
                <a:ext cx="5145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38BDF8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02</a:t>
                </a:r>
                <a:endParaRPr b="1" sz="10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  <p:sp>
            <p:nvSpPr>
              <p:cNvPr id="720" name="Google Shape;720;p47"/>
              <p:cNvSpPr txBox="1"/>
              <p:nvPr/>
            </p:nvSpPr>
            <p:spPr>
              <a:xfrm>
                <a:off x="152400" y="666750"/>
                <a:ext cx="1143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FFFFFF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Collect</a:t>
                </a:r>
                <a:endParaRPr b="1" sz="15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cxnSp>
            <p:nvCxnSpPr>
              <p:cNvPr id="721" name="Google Shape;721;p47"/>
              <p:cNvCxnSpPr/>
              <p:nvPr/>
            </p:nvCxnSpPr>
            <p:spPr>
              <a:xfrm>
                <a:off x="152400" y="1285875"/>
                <a:ext cx="1143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22" name="Google Shape;722;p47"/>
              <p:cNvSpPr txBox="1"/>
              <p:nvPr/>
            </p:nvSpPr>
            <p:spPr>
              <a:xfrm>
                <a:off x="152400" y="1476375"/>
                <a:ext cx="1143000" cy="247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94A3B8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Extract clean terminal stack traces.</a:t>
                </a:r>
                <a:endParaRPr b="0" sz="130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723" name="Google Shape;723;p47"/>
            <p:cNvGrpSpPr/>
            <p:nvPr/>
          </p:nvGrpSpPr>
          <p:grpSpPr>
            <a:xfrm>
              <a:off x="3810000" y="1714500"/>
              <a:ext cx="1447800" cy="4286400"/>
              <a:chOff x="0" y="0"/>
              <a:chExt cx="1447800" cy="4286400"/>
            </a:xfrm>
          </p:grpSpPr>
          <p:sp>
            <p:nvSpPr>
              <p:cNvPr id="724" name="Google Shape;724;p47"/>
              <p:cNvSpPr/>
              <p:nvPr/>
            </p:nvSpPr>
            <p:spPr>
              <a:xfrm>
                <a:off x="0" y="0"/>
                <a:ext cx="1447800" cy="4286400"/>
              </a:xfrm>
              <a:prstGeom prst="roundRect">
                <a:avLst>
                  <a:gd fmla="val 7894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" name="Google Shape;725;p47"/>
              <p:cNvSpPr/>
              <p:nvPr/>
            </p:nvSpPr>
            <p:spPr>
              <a:xfrm>
                <a:off x="152400" y="190500"/>
                <a:ext cx="514500" cy="266700"/>
              </a:xfrm>
              <a:prstGeom prst="roundRect">
                <a:avLst>
                  <a:gd fmla="val 21428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47"/>
              <p:cNvSpPr txBox="1"/>
              <p:nvPr/>
            </p:nvSpPr>
            <p:spPr>
              <a:xfrm>
                <a:off x="152400" y="190500"/>
                <a:ext cx="5145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38BDF8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03</a:t>
                </a:r>
                <a:endParaRPr b="1" sz="10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  <p:sp>
            <p:nvSpPr>
              <p:cNvPr id="727" name="Google Shape;727;p47"/>
              <p:cNvSpPr txBox="1"/>
              <p:nvPr/>
            </p:nvSpPr>
            <p:spPr>
              <a:xfrm>
                <a:off x="152400" y="666750"/>
                <a:ext cx="1143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FFFFFF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Audit</a:t>
                </a:r>
                <a:endParaRPr b="1" sz="15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cxnSp>
            <p:nvCxnSpPr>
              <p:cNvPr id="728" name="Google Shape;728;p47"/>
              <p:cNvCxnSpPr/>
              <p:nvPr/>
            </p:nvCxnSpPr>
            <p:spPr>
              <a:xfrm>
                <a:off x="152400" y="1285875"/>
                <a:ext cx="1143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29" name="Google Shape;729;p47"/>
              <p:cNvSpPr txBox="1"/>
              <p:nvPr/>
            </p:nvSpPr>
            <p:spPr>
              <a:xfrm>
                <a:off x="152400" y="1476375"/>
                <a:ext cx="1143000" cy="247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94A3B8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Read the target source file carefully.</a:t>
                </a:r>
                <a:endParaRPr b="0" sz="130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730" name="Google Shape;730;p47"/>
            <p:cNvGrpSpPr/>
            <p:nvPr/>
          </p:nvGrpSpPr>
          <p:grpSpPr>
            <a:xfrm>
              <a:off x="5372100" y="1714500"/>
              <a:ext cx="1447800" cy="4286400"/>
              <a:chOff x="0" y="0"/>
              <a:chExt cx="1447800" cy="4286400"/>
            </a:xfrm>
          </p:grpSpPr>
          <p:sp>
            <p:nvSpPr>
              <p:cNvPr id="731" name="Google Shape;731;p47"/>
              <p:cNvSpPr/>
              <p:nvPr/>
            </p:nvSpPr>
            <p:spPr>
              <a:xfrm>
                <a:off x="0" y="0"/>
                <a:ext cx="1447800" cy="4286400"/>
              </a:xfrm>
              <a:prstGeom prst="roundRect">
                <a:avLst>
                  <a:gd fmla="val 7894" name="adj"/>
                </a:avLst>
              </a:prstGeom>
              <a:solidFill>
                <a:srgbClr val="0F172A"/>
              </a:solidFill>
              <a:ln cap="flat" cmpd="sng" w="14300">
                <a:solidFill>
                  <a:srgbClr val="38BDF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2" name="Google Shape;732;p47"/>
              <p:cNvSpPr/>
              <p:nvPr/>
            </p:nvSpPr>
            <p:spPr>
              <a:xfrm>
                <a:off x="152400" y="190500"/>
                <a:ext cx="514500" cy="266700"/>
              </a:xfrm>
              <a:prstGeom prst="roundRect">
                <a:avLst>
                  <a:gd fmla="val 21428" name="adj"/>
                </a:avLst>
              </a:prstGeom>
              <a:solidFill>
                <a:srgbClr val="0284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3" name="Google Shape;733;p47"/>
              <p:cNvSpPr txBox="1"/>
              <p:nvPr/>
            </p:nvSpPr>
            <p:spPr>
              <a:xfrm>
                <a:off x="152400" y="190500"/>
                <a:ext cx="5145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04</a:t>
                </a:r>
                <a:endParaRPr b="1" sz="10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  <p:sp>
            <p:nvSpPr>
              <p:cNvPr id="734" name="Google Shape;734;p47"/>
              <p:cNvSpPr txBox="1"/>
              <p:nvPr/>
            </p:nvSpPr>
            <p:spPr>
              <a:xfrm>
                <a:off x="152400" y="666750"/>
                <a:ext cx="1143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FFFFFF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Prompt</a:t>
                </a:r>
                <a:endParaRPr b="1" sz="15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pic>
            <p:nvPicPr>
              <p:cNvPr id="735" name="Google Shape;735;p4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52400" y="1281113"/>
                <a:ext cx="11430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36" name="Google Shape;736;p47"/>
              <p:cNvSpPr txBox="1"/>
              <p:nvPr/>
            </p:nvSpPr>
            <p:spPr>
              <a:xfrm>
                <a:off x="152400" y="1476375"/>
                <a:ext cx="1143000" cy="247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CBD5E1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Issue narrow, evidence-backed tasks.</a:t>
                </a:r>
                <a:endParaRPr b="0" sz="1300">
                  <a:solidFill>
                    <a:srgbClr val="CBD5E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737" name="Google Shape;737;p47"/>
            <p:cNvGrpSpPr/>
            <p:nvPr/>
          </p:nvGrpSpPr>
          <p:grpSpPr>
            <a:xfrm>
              <a:off x="6934200" y="1714500"/>
              <a:ext cx="1447800" cy="4286400"/>
              <a:chOff x="0" y="0"/>
              <a:chExt cx="1447800" cy="4286400"/>
            </a:xfrm>
          </p:grpSpPr>
          <p:sp>
            <p:nvSpPr>
              <p:cNvPr id="738" name="Google Shape;738;p47"/>
              <p:cNvSpPr/>
              <p:nvPr/>
            </p:nvSpPr>
            <p:spPr>
              <a:xfrm>
                <a:off x="0" y="0"/>
                <a:ext cx="1447800" cy="4286400"/>
              </a:xfrm>
              <a:prstGeom prst="roundRect">
                <a:avLst>
                  <a:gd fmla="val 7894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9" name="Google Shape;739;p47"/>
              <p:cNvSpPr/>
              <p:nvPr/>
            </p:nvSpPr>
            <p:spPr>
              <a:xfrm>
                <a:off x="152400" y="190500"/>
                <a:ext cx="514500" cy="266700"/>
              </a:xfrm>
              <a:prstGeom prst="roundRect">
                <a:avLst>
                  <a:gd fmla="val 21428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" name="Google Shape;740;p47"/>
              <p:cNvSpPr txBox="1"/>
              <p:nvPr/>
            </p:nvSpPr>
            <p:spPr>
              <a:xfrm>
                <a:off x="152400" y="190500"/>
                <a:ext cx="5145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38BDF8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05</a:t>
                </a:r>
                <a:endParaRPr b="1" sz="10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  <p:sp>
            <p:nvSpPr>
              <p:cNvPr id="741" name="Google Shape;741;p47"/>
              <p:cNvSpPr txBox="1"/>
              <p:nvPr/>
            </p:nvSpPr>
            <p:spPr>
              <a:xfrm>
                <a:off x="152400" y="666750"/>
                <a:ext cx="1143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FFFFFF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Review</a:t>
                </a:r>
                <a:endParaRPr b="1" sz="15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cxnSp>
            <p:nvCxnSpPr>
              <p:cNvPr id="742" name="Google Shape;742;p47"/>
              <p:cNvCxnSpPr/>
              <p:nvPr/>
            </p:nvCxnSpPr>
            <p:spPr>
              <a:xfrm>
                <a:off x="152400" y="1285875"/>
                <a:ext cx="1143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43" name="Google Shape;743;p47"/>
              <p:cNvSpPr txBox="1"/>
              <p:nvPr/>
            </p:nvSpPr>
            <p:spPr>
              <a:xfrm>
                <a:off x="152400" y="1476375"/>
                <a:ext cx="1143000" cy="247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94A3B8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Examine `git diff` line-by-line.</a:t>
                </a:r>
                <a:endParaRPr b="0" sz="130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744" name="Google Shape;744;p47"/>
            <p:cNvGrpSpPr/>
            <p:nvPr/>
          </p:nvGrpSpPr>
          <p:grpSpPr>
            <a:xfrm>
              <a:off x="8496300" y="1714500"/>
              <a:ext cx="1447800" cy="4286400"/>
              <a:chOff x="0" y="0"/>
              <a:chExt cx="1447800" cy="4286400"/>
            </a:xfrm>
          </p:grpSpPr>
          <p:sp>
            <p:nvSpPr>
              <p:cNvPr id="745" name="Google Shape;745;p47"/>
              <p:cNvSpPr/>
              <p:nvPr/>
            </p:nvSpPr>
            <p:spPr>
              <a:xfrm>
                <a:off x="0" y="0"/>
                <a:ext cx="1447800" cy="4286400"/>
              </a:xfrm>
              <a:prstGeom prst="roundRect">
                <a:avLst>
                  <a:gd fmla="val 7894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47"/>
              <p:cNvSpPr/>
              <p:nvPr/>
            </p:nvSpPr>
            <p:spPr>
              <a:xfrm>
                <a:off x="152400" y="190500"/>
                <a:ext cx="514500" cy="266700"/>
              </a:xfrm>
              <a:prstGeom prst="roundRect">
                <a:avLst>
                  <a:gd fmla="val 21428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" name="Google Shape;747;p47"/>
              <p:cNvSpPr txBox="1"/>
              <p:nvPr/>
            </p:nvSpPr>
            <p:spPr>
              <a:xfrm>
                <a:off x="152400" y="190500"/>
                <a:ext cx="5145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38BDF8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06</a:t>
                </a:r>
                <a:endParaRPr b="1" sz="10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  <p:sp>
            <p:nvSpPr>
              <p:cNvPr id="748" name="Google Shape;748;p47"/>
              <p:cNvSpPr txBox="1"/>
              <p:nvPr/>
            </p:nvSpPr>
            <p:spPr>
              <a:xfrm>
                <a:off x="152400" y="666750"/>
                <a:ext cx="1143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FFFFFF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Test</a:t>
                </a:r>
                <a:endParaRPr b="1" sz="15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cxnSp>
            <p:nvCxnSpPr>
              <p:cNvPr id="749" name="Google Shape;749;p47"/>
              <p:cNvCxnSpPr/>
              <p:nvPr/>
            </p:nvCxnSpPr>
            <p:spPr>
              <a:xfrm>
                <a:off x="152400" y="1285875"/>
                <a:ext cx="1143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1E293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50" name="Google Shape;750;p47"/>
              <p:cNvSpPr txBox="1"/>
              <p:nvPr/>
            </p:nvSpPr>
            <p:spPr>
              <a:xfrm>
                <a:off x="152400" y="1476375"/>
                <a:ext cx="1143000" cy="247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94A3B8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Run full regression suites.</a:t>
                </a:r>
                <a:endParaRPr b="0" sz="1300">
                  <a:solidFill>
                    <a:srgbClr val="94A3B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751" name="Google Shape;751;p47"/>
            <p:cNvGrpSpPr/>
            <p:nvPr/>
          </p:nvGrpSpPr>
          <p:grpSpPr>
            <a:xfrm>
              <a:off x="10058400" y="1714500"/>
              <a:ext cx="1447800" cy="4286400"/>
              <a:chOff x="0" y="0"/>
              <a:chExt cx="1447800" cy="4286400"/>
            </a:xfrm>
          </p:grpSpPr>
          <p:sp>
            <p:nvSpPr>
              <p:cNvPr id="752" name="Google Shape;752;p47"/>
              <p:cNvSpPr/>
              <p:nvPr/>
            </p:nvSpPr>
            <p:spPr>
              <a:xfrm>
                <a:off x="0" y="0"/>
                <a:ext cx="1447800" cy="4286400"/>
              </a:xfrm>
              <a:prstGeom prst="roundRect">
                <a:avLst>
                  <a:gd fmla="val 7894" name="adj"/>
                </a:avLst>
              </a:prstGeom>
              <a:solidFill>
                <a:srgbClr val="06231D"/>
              </a:solidFill>
              <a:ln cap="flat" cmpd="sng" w="14300">
                <a:solidFill>
                  <a:srgbClr val="05966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47"/>
              <p:cNvSpPr/>
              <p:nvPr/>
            </p:nvSpPr>
            <p:spPr>
              <a:xfrm>
                <a:off x="152400" y="190500"/>
                <a:ext cx="514500" cy="266700"/>
              </a:xfrm>
              <a:prstGeom prst="roundRect">
                <a:avLst>
                  <a:gd fmla="val 21428" name="adj"/>
                </a:avLst>
              </a:prstGeom>
              <a:solidFill>
                <a:srgbClr val="05966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47"/>
              <p:cNvSpPr txBox="1"/>
              <p:nvPr/>
            </p:nvSpPr>
            <p:spPr>
              <a:xfrm>
                <a:off x="152400" y="190500"/>
                <a:ext cx="5145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07</a:t>
                </a:r>
                <a:endParaRPr b="1" sz="10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  <p:sp>
            <p:nvSpPr>
              <p:cNvPr id="755" name="Google Shape;755;p47"/>
              <p:cNvSpPr txBox="1"/>
              <p:nvPr/>
            </p:nvSpPr>
            <p:spPr>
              <a:xfrm>
                <a:off x="152400" y="666750"/>
                <a:ext cx="1143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FFFFFF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Commit</a:t>
                </a:r>
                <a:endParaRPr b="1" sz="15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pic>
            <p:nvPicPr>
              <p:cNvPr id="756" name="Google Shape;756;p4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52400" y="1281113"/>
                <a:ext cx="11430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57" name="Google Shape;757;p47"/>
              <p:cNvSpPr txBox="1"/>
              <p:nvPr/>
            </p:nvSpPr>
            <p:spPr>
              <a:xfrm>
                <a:off x="152400" y="1476375"/>
                <a:ext cx="1143000" cy="247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300">
                    <a:solidFill>
                      <a:srgbClr val="34D399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Lock down passing state in git.</a:t>
                </a:r>
                <a:endParaRPr b="0" sz="1300">
                  <a:solidFill>
                    <a:srgbClr val="34D39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pic>
        <p:nvPicPr>
          <p:cNvPr descr="image.png" id="758" name="Google Shape;758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" y="552450"/>
            <a:ext cx="160139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47"/>
          <p:cNvSpPr txBox="1"/>
          <p:nvPr/>
        </p:nvSpPr>
        <p:spPr>
          <a:xfrm>
            <a:off x="922139" y="533400"/>
            <a:ext cx="1126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CANONICAL PIPELINE</a:t>
            </a:r>
            <a:endParaRPr sz="1200"/>
          </a:p>
        </p:txBody>
      </p:sp>
      <p:sp>
        <p:nvSpPr>
          <p:cNvPr id="760" name="Google Shape;760;p47"/>
          <p:cNvSpPr txBox="1"/>
          <p:nvPr/>
        </p:nvSpPr>
        <p:spPr>
          <a:xfrm>
            <a:off x="685800" y="790575"/>
            <a:ext cx="1150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Reliable AI Debugging Pipeline</a:t>
            </a:r>
            <a:endParaRPr sz="2800"/>
          </a:p>
        </p:txBody>
      </p:sp>
      <p:pic>
        <p:nvPicPr>
          <p:cNvPr id="761" name="Google Shape;761;p47" title="undp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465625" y="0"/>
            <a:ext cx="726375" cy="11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48"/>
          <p:cNvSpPr/>
          <p:nvPr/>
        </p:nvSpPr>
        <p:spPr>
          <a:xfrm>
            <a:off x="0" y="6848475"/>
            <a:ext cx="12192000" cy="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7" name="Google Shape;767;p48"/>
          <p:cNvPicPr preferRelativeResize="0"/>
          <p:nvPr/>
        </p:nvPicPr>
        <p:blipFill rotWithShape="1">
          <a:blip r:embed="rId4">
            <a:alphaModFix/>
          </a:blip>
          <a:srcRect b="2892" l="0" r="0" t="2892"/>
          <a:stretch/>
        </p:blipFill>
        <p:spPr>
          <a:xfrm>
            <a:off x="685800" y="552450"/>
            <a:ext cx="122100" cy="123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8" name="Google Shape;768;p48"/>
          <p:cNvGrpSpPr/>
          <p:nvPr/>
        </p:nvGrpSpPr>
        <p:grpSpPr>
          <a:xfrm>
            <a:off x="885825" y="533400"/>
            <a:ext cx="1905000" cy="171600"/>
            <a:chOff x="0" y="0"/>
            <a:chExt cx="1905000" cy="171600"/>
          </a:xfrm>
        </p:grpSpPr>
        <p:sp>
          <p:nvSpPr>
            <p:cNvPr id="769" name="Google Shape;769;p48"/>
            <p:cNvSpPr/>
            <p:nvPr/>
          </p:nvSpPr>
          <p:spPr>
            <a:xfrm>
              <a:off x="0" y="0"/>
              <a:ext cx="1905000" cy="171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48"/>
            <p:cNvSpPr txBox="1"/>
            <p:nvPr/>
          </p:nvSpPr>
          <p:spPr>
            <a:xfrm>
              <a:off x="0" y="0"/>
              <a:ext cx="19050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SESSION SUMMARY</a:t>
              </a:r>
              <a:endParaRPr b="1" sz="12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771" name="Google Shape;771;p48"/>
          <p:cNvGrpSpPr/>
          <p:nvPr/>
        </p:nvGrpSpPr>
        <p:grpSpPr>
          <a:xfrm>
            <a:off x="685800" y="781050"/>
            <a:ext cx="10820400" cy="571500"/>
            <a:chOff x="0" y="0"/>
            <a:chExt cx="10820400" cy="571500"/>
          </a:xfrm>
        </p:grpSpPr>
        <p:sp>
          <p:nvSpPr>
            <p:cNvPr id="772" name="Google Shape;772;p48"/>
            <p:cNvSpPr/>
            <p:nvPr/>
          </p:nvSpPr>
          <p:spPr>
            <a:xfrm>
              <a:off x="0" y="0"/>
              <a:ext cx="108204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48"/>
            <p:cNvSpPr txBox="1"/>
            <p:nvPr/>
          </p:nvSpPr>
          <p:spPr>
            <a:xfrm>
              <a:off x="0" y="0"/>
              <a:ext cx="10820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AI accelerates coding. Disciplined debugging makes it reliable.</a:t>
              </a:r>
              <a:endParaRPr b="1" sz="26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774" name="Google Shape;774;p48"/>
          <p:cNvGrpSpPr/>
          <p:nvPr/>
        </p:nvGrpSpPr>
        <p:grpSpPr>
          <a:xfrm>
            <a:off x="685800" y="1666875"/>
            <a:ext cx="3429000" cy="4381500"/>
            <a:chOff x="0" y="0"/>
            <a:chExt cx="3429000" cy="4381500"/>
          </a:xfrm>
        </p:grpSpPr>
        <p:sp>
          <p:nvSpPr>
            <p:cNvPr id="775" name="Google Shape;775;p48"/>
            <p:cNvSpPr/>
            <p:nvPr/>
          </p:nvSpPr>
          <p:spPr>
            <a:xfrm>
              <a:off x="0" y="0"/>
              <a:ext cx="3429000" cy="4381500"/>
            </a:xfrm>
            <a:prstGeom prst="roundRect">
              <a:avLst>
                <a:gd fmla="val 3333" name="adj"/>
              </a:avLst>
            </a:prstGeom>
            <a:solidFill>
              <a:srgbClr val="0F172A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48"/>
            <p:cNvSpPr/>
            <p:nvPr/>
          </p:nvSpPr>
          <p:spPr>
            <a:xfrm>
              <a:off x="228600" y="266700"/>
              <a:ext cx="457200" cy="342900"/>
            </a:xfrm>
            <a:prstGeom prst="roundRect">
              <a:avLst>
                <a:gd fmla="val 16666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48"/>
            <p:cNvSpPr txBox="1"/>
            <p:nvPr/>
          </p:nvSpPr>
          <p:spPr>
            <a:xfrm>
              <a:off x="228600" y="266700"/>
              <a:ext cx="4572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01</a:t>
              </a:r>
              <a:endParaRPr b="1" sz="12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778" name="Google Shape;778;p48"/>
            <p:cNvSpPr txBox="1"/>
            <p:nvPr/>
          </p:nvSpPr>
          <p:spPr>
            <a:xfrm>
              <a:off x="228600" y="838200"/>
              <a:ext cx="29718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Audit Every Line</a:t>
              </a:r>
              <a:endParaRPr b="1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cxnSp>
          <p:nvCxnSpPr>
            <p:cNvPr id="779" name="Google Shape;779;p48"/>
            <p:cNvCxnSpPr/>
            <p:nvPr/>
          </p:nvCxnSpPr>
          <p:spPr>
            <a:xfrm>
              <a:off x="228600" y="1428750"/>
              <a:ext cx="29718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80" name="Google Shape;780;p48"/>
            <p:cNvSpPr txBox="1"/>
            <p:nvPr/>
          </p:nvSpPr>
          <p:spPr>
            <a:xfrm>
              <a:off x="228600" y="1657350"/>
              <a:ext cx="29718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BD5E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Never trust code you cannot narrate aloud.</a:t>
              </a:r>
              <a:endParaRPr b="0" sz="130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781" name="Google Shape;781;p48"/>
          <p:cNvGrpSpPr/>
          <p:nvPr/>
        </p:nvGrpSpPr>
        <p:grpSpPr>
          <a:xfrm>
            <a:off x="4381500" y="1666875"/>
            <a:ext cx="3429000" cy="4381500"/>
            <a:chOff x="0" y="0"/>
            <a:chExt cx="3429000" cy="4381500"/>
          </a:xfrm>
        </p:grpSpPr>
        <p:sp>
          <p:nvSpPr>
            <p:cNvPr id="782" name="Google Shape;782;p48"/>
            <p:cNvSpPr/>
            <p:nvPr/>
          </p:nvSpPr>
          <p:spPr>
            <a:xfrm>
              <a:off x="0" y="0"/>
              <a:ext cx="3429000" cy="4381500"/>
            </a:xfrm>
            <a:prstGeom prst="roundRect">
              <a:avLst>
                <a:gd fmla="val 3333" name="adj"/>
              </a:avLst>
            </a:prstGeom>
            <a:solidFill>
              <a:srgbClr val="0F172A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48"/>
            <p:cNvSpPr/>
            <p:nvPr/>
          </p:nvSpPr>
          <p:spPr>
            <a:xfrm>
              <a:off x="228600" y="266700"/>
              <a:ext cx="457200" cy="342900"/>
            </a:xfrm>
            <a:prstGeom prst="roundRect">
              <a:avLst>
                <a:gd fmla="val 16666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48"/>
            <p:cNvSpPr txBox="1"/>
            <p:nvPr/>
          </p:nvSpPr>
          <p:spPr>
            <a:xfrm>
              <a:off x="228600" y="266700"/>
              <a:ext cx="4572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02</a:t>
              </a:r>
              <a:endParaRPr b="1" sz="12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785" name="Google Shape;785;p48"/>
            <p:cNvSpPr txBox="1"/>
            <p:nvPr/>
          </p:nvSpPr>
          <p:spPr>
            <a:xfrm>
              <a:off x="228600" y="838200"/>
              <a:ext cx="29718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Feed Pure Evidence</a:t>
              </a:r>
              <a:endParaRPr b="1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cxnSp>
          <p:nvCxnSpPr>
            <p:cNvPr id="786" name="Google Shape;786;p48"/>
            <p:cNvCxnSpPr/>
            <p:nvPr/>
          </p:nvCxnSpPr>
          <p:spPr>
            <a:xfrm>
              <a:off x="228600" y="1428750"/>
              <a:ext cx="29718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87" name="Google Shape;787;p48"/>
            <p:cNvSpPr txBox="1"/>
            <p:nvPr/>
          </p:nvSpPr>
          <p:spPr>
            <a:xfrm>
              <a:off x="228600" y="1657350"/>
              <a:ext cx="29718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BD5E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Specific logs stop fix loops before they start.</a:t>
              </a:r>
              <a:endParaRPr b="0" sz="130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788" name="Google Shape;788;p48"/>
          <p:cNvGrpSpPr/>
          <p:nvPr/>
        </p:nvGrpSpPr>
        <p:grpSpPr>
          <a:xfrm>
            <a:off x="8077200" y="1666875"/>
            <a:ext cx="3429000" cy="4381500"/>
            <a:chOff x="0" y="0"/>
            <a:chExt cx="3429000" cy="4381500"/>
          </a:xfrm>
        </p:grpSpPr>
        <p:sp>
          <p:nvSpPr>
            <p:cNvPr id="789" name="Google Shape;789;p48"/>
            <p:cNvSpPr/>
            <p:nvPr/>
          </p:nvSpPr>
          <p:spPr>
            <a:xfrm>
              <a:off x="0" y="0"/>
              <a:ext cx="3429000" cy="4381500"/>
            </a:xfrm>
            <a:prstGeom prst="roundRect">
              <a:avLst>
                <a:gd fmla="val 3333" name="adj"/>
              </a:avLst>
            </a:prstGeom>
            <a:solidFill>
              <a:srgbClr val="0F172A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48"/>
            <p:cNvSpPr/>
            <p:nvPr/>
          </p:nvSpPr>
          <p:spPr>
            <a:xfrm>
              <a:off x="228600" y="266700"/>
              <a:ext cx="457200" cy="342900"/>
            </a:xfrm>
            <a:prstGeom prst="roundRect">
              <a:avLst>
                <a:gd fmla="val 16666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48"/>
            <p:cNvSpPr txBox="1"/>
            <p:nvPr/>
          </p:nvSpPr>
          <p:spPr>
            <a:xfrm>
              <a:off x="228600" y="266700"/>
              <a:ext cx="4572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03</a:t>
              </a:r>
              <a:endParaRPr b="1" sz="12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792" name="Google Shape;792;p48"/>
            <p:cNvSpPr txBox="1"/>
            <p:nvPr/>
          </p:nvSpPr>
          <p:spPr>
            <a:xfrm>
              <a:off x="228600" y="838200"/>
              <a:ext cx="29718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Test &amp; Recover</a:t>
              </a:r>
              <a:endParaRPr b="1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cxnSp>
          <p:nvCxnSpPr>
            <p:cNvPr id="793" name="Google Shape;793;p48"/>
            <p:cNvCxnSpPr/>
            <p:nvPr/>
          </p:nvCxnSpPr>
          <p:spPr>
            <a:xfrm>
              <a:off x="228600" y="1428750"/>
              <a:ext cx="29718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94" name="Google Shape;794;p48"/>
            <p:cNvSpPr txBox="1"/>
            <p:nvPr/>
          </p:nvSpPr>
          <p:spPr>
            <a:xfrm>
              <a:off x="228600" y="1657350"/>
              <a:ext cx="29718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BD5E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Leverage Git checkpoints and regression suites relentlessly.</a:t>
              </a:r>
              <a:endParaRPr b="0" sz="130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pic>
        <p:nvPicPr>
          <p:cNvPr id="795" name="Google Shape;795;p48" title="undp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65625" y="0"/>
            <a:ext cx="726375" cy="11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49"/>
          <p:cNvSpPr/>
          <p:nvPr/>
        </p:nvSpPr>
        <p:spPr>
          <a:xfrm>
            <a:off x="0" y="6848475"/>
            <a:ext cx="12192000" cy="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49"/>
          <p:cNvSpPr txBox="1"/>
          <p:nvPr/>
        </p:nvSpPr>
        <p:spPr>
          <a:xfrm>
            <a:off x="685800" y="53340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FINAL CHECKPOINT</a:t>
            </a:r>
            <a:endParaRPr b="1" sz="1200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802" name="Google Shape;802;p49"/>
          <p:cNvSpPr txBox="1"/>
          <p:nvPr/>
        </p:nvSpPr>
        <p:spPr>
          <a:xfrm>
            <a:off x="685800" y="781050"/>
            <a:ext cx="10820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Final Quiz: Test Your AI Debugging Mastery</a:t>
            </a:r>
            <a:endParaRPr b="1" sz="26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803" name="Google Shape;803;p49"/>
          <p:cNvGrpSpPr/>
          <p:nvPr/>
        </p:nvGrpSpPr>
        <p:grpSpPr>
          <a:xfrm>
            <a:off x="685800" y="1571625"/>
            <a:ext cx="10820400" cy="4667400"/>
            <a:chOff x="0" y="0"/>
            <a:chExt cx="10820400" cy="4667400"/>
          </a:xfrm>
        </p:grpSpPr>
        <p:sp>
          <p:nvSpPr>
            <p:cNvPr id="804" name="Google Shape;804;p49"/>
            <p:cNvSpPr/>
            <p:nvPr/>
          </p:nvSpPr>
          <p:spPr>
            <a:xfrm>
              <a:off x="0" y="0"/>
              <a:ext cx="10820400" cy="4667400"/>
            </a:xfrm>
            <a:prstGeom prst="roundRect">
              <a:avLst>
                <a:gd fmla="val 2448" name="adj"/>
              </a:avLst>
            </a:prstGeom>
            <a:solidFill>
              <a:srgbClr val="0F172A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05" name="Google Shape;805;p49"/>
            <p:cNvGrpSpPr/>
            <p:nvPr/>
          </p:nvGrpSpPr>
          <p:grpSpPr>
            <a:xfrm>
              <a:off x="304800" y="304800"/>
              <a:ext cx="1047900" cy="266700"/>
              <a:chOff x="0" y="0"/>
              <a:chExt cx="1047900" cy="266700"/>
            </a:xfrm>
          </p:grpSpPr>
          <p:sp>
            <p:nvSpPr>
              <p:cNvPr id="806" name="Google Shape;806;p49"/>
              <p:cNvSpPr/>
              <p:nvPr/>
            </p:nvSpPr>
            <p:spPr>
              <a:xfrm>
                <a:off x="0" y="0"/>
                <a:ext cx="1047900" cy="266700"/>
              </a:xfrm>
              <a:prstGeom prst="roundRect">
                <a:avLst>
                  <a:gd fmla="val 21428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49"/>
              <p:cNvSpPr txBox="1"/>
              <p:nvPr/>
            </p:nvSpPr>
            <p:spPr>
              <a:xfrm>
                <a:off x="0" y="0"/>
                <a:ext cx="10479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38BDF8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QUESTION 01</a:t>
                </a:r>
                <a:endParaRPr b="1" sz="10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</p:grpSp>
        <p:sp>
          <p:nvSpPr>
            <p:cNvPr id="808" name="Google Shape;808;p49"/>
            <p:cNvSpPr txBox="1"/>
            <p:nvPr/>
          </p:nvSpPr>
          <p:spPr>
            <a:xfrm>
              <a:off x="304800" y="685800"/>
              <a:ext cx="10210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What is the most critical first step before asking an AI agent to fix a complex code regression?</a:t>
              </a:r>
              <a:endParaRPr b="1" sz="16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809" name="Google Shape;809;p49"/>
            <p:cNvGrpSpPr/>
            <p:nvPr/>
          </p:nvGrpSpPr>
          <p:grpSpPr>
            <a:xfrm>
              <a:off x="304800" y="1333500"/>
              <a:ext cx="10210800" cy="2781300"/>
              <a:chOff x="0" y="0"/>
              <a:chExt cx="10210800" cy="2781300"/>
            </a:xfrm>
          </p:grpSpPr>
          <p:grpSp>
            <p:nvGrpSpPr>
              <p:cNvPr id="810" name="Google Shape;810;p49"/>
              <p:cNvGrpSpPr/>
              <p:nvPr/>
            </p:nvGrpSpPr>
            <p:grpSpPr>
              <a:xfrm>
                <a:off x="0" y="0"/>
                <a:ext cx="10210800" cy="609600"/>
                <a:chOff x="0" y="0"/>
                <a:chExt cx="10210800" cy="609600"/>
              </a:xfrm>
            </p:grpSpPr>
            <p:sp>
              <p:nvSpPr>
                <p:cNvPr id="811" name="Google Shape;811;p49"/>
                <p:cNvSpPr/>
                <p:nvPr/>
              </p:nvSpPr>
              <p:spPr>
                <a:xfrm>
                  <a:off x="0" y="0"/>
                  <a:ext cx="10210800" cy="609600"/>
                </a:xfrm>
                <a:prstGeom prst="roundRect">
                  <a:avLst>
                    <a:gd fmla="val 12500" name="adj"/>
                  </a:avLst>
                </a:prstGeom>
                <a:solidFill>
                  <a:srgbClr val="1E293B"/>
                </a:solidFill>
                <a:ln cap="flat" cmpd="sng" w="9525">
                  <a:solidFill>
                    <a:srgbClr val="33415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2" name="Google Shape;812;p49"/>
                <p:cNvSpPr/>
                <p:nvPr/>
              </p:nvSpPr>
              <p:spPr>
                <a:xfrm>
                  <a:off x="133350" y="133350"/>
                  <a:ext cx="342900" cy="3429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0F172A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3" name="Google Shape;813;p49"/>
                <p:cNvSpPr txBox="1"/>
                <p:nvPr/>
              </p:nvSpPr>
              <p:spPr>
                <a:xfrm>
                  <a:off x="133350" y="133350"/>
                  <a:ext cx="34290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100">
                      <a:solidFill>
                        <a:srgbClr val="38BDF8"/>
                      </a:solidFill>
                      <a:latin typeface="JetBrains Mono"/>
                      <a:ea typeface="JetBrains Mono"/>
                      <a:cs typeface="JetBrains Mono"/>
                      <a:sym typeface="JetBrains Mono"/>
                    </a:rPr>
                    <a:t>A</a:t>
                  </a:r>
                  <a:endParaRPr b="1" sz="1100">
                    <a:solidFill>
                      <a:srgbClr val="38BDF8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endParaRPr>
                </a:p>
              </p:txBody>
            </p:sp>
            <p:sp>
              <p:nvSpPr>
                <p:cNvPr id="814" name="Google Shape;814;p49"/>
                <p:cNvSpPr txBox="1"/>
                <p:nvPr/>
              </p:nvSpPr>
              <p:spPr>
                <a:xfrm>
                  <a:off x="609600" y="190500"/>
                  <a:ext cx="9334500" cy="266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300">
                      <a:solidFill>
                        <a:srgbClr val="E2E8F0"/>
                      </a:solidFill>
                      <a:latin typeface="Plus Jakarta Sans Medium"/>
                      <a:ea typeface="Plus Jakarta Sans Medium"/>
                      <a:cs typeface="Plus Jakarta Sans Medium"/>
                      <a:sym typeface="Plus Jakarta Sans Medium"/>
                    </a:rPr>
                    <a:t>Paste the entire codebase into the prompt window and request a complete rewrite.</a:t>
                  </a:r>
                  <a:endParaRPr b="0" sz="1300">
                    <a:solidFill>
                      <a:srgbClr val="E2E8F0"/>
                    </a:solidFill>
                    <a:latin typeface="Plus Jakarta Sans Medium"/>
                    <a:ea typeface="Plus Jakarta Sans Medium"/>
                    <a:cs typeface="Plus Jakarta Sans Medium"/>
                    <a:sym typeface="Plus Jakarta Sans Medium"/>
                  </a:endParaRPr>
                </a:p>
              </p:txBody>
            </p:sp>
          </p:grpSp>
          <p:grpSp>
            <p:nvGrpSpPr>
              <p:cNvPr id="815" name="Google Shape;815;p49"/>
              <p:cNvGrpSpPr/>
              <p:nvPr/>
            </p:nvGrpSpPr>
            <p:grpSpPr>
              <a:xfrm>
                <a:off x="0" y="723900"/>
                <a:ext cx="10210800" cy="609600"/>
                <a:chOff x="0" y="0"/>
                <a:chExt cx="10210800" cy="609600"/>
              </a:xfrm>
            </p:grpSpPr>
            <p:sp>
              <p:nvSpPr>
                <p:cNvPr id="816" name="Google Shape;816;p49"/>
                <p:cNvSpPr/>
                <p:nvPr/>
              </p:nvSpPr>
              <p:spPr>
                <a:xfrm>
                  <a:off x="0" y="0"/>
                  <a:ext cx="10210800" cy="609600"/>
                </a:xfrm>
                <a:prstGeom prst="roundRect">
                  <a:avLst>
                    <a:gd fmla="val 12500" name="adj"/>
                  </a:avLst>
                </a:prstGeom>
                <a:solidFill>
                  <a:srgbClr val="1E293B"/>
                </a:solidFill>
                <a:ln cap="flat" cmpd="sng" w="9525">
                  <a:solidFill>
                    <a:srgbClr val="33415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7" name="Google Shape;817;p49"/>
                <p:cNvSpPr/>
                <p:nvPr/>
              </p:nvSpPr>
              <p:spPr>
                <a:xfrm>
                  <a:off x="133350" y="133350"/>
                  <a:ext cx="342900" cy="3429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0F172A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8" name="Google Shape;818;p49"/>
                <p:cNvSpPr txBox="1"/>
                <p:nvPr/>
              </p:nvSpPr>
              <p:spPr>
                <a:xfrm>
                  <a:off x="133350" y="133350"/>
                  <a:ext cx="342900" cy="3429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1100">
                      <a:solidFill>
                        <a:srgbClr val="38BDF8"/>
                      </a:solidFill>
                      <a:latin typeface="JetBrains Mono"/>
                      <a:ea typeface="JetBrains Mono"/>
                      <a:cs typeface="JetBrains Mono"/>
                      <a:sym typeface="JetBrains Mono"/>
                    </a:rPr>
                    <a:t>B</a:t>
                  </a:r>
                  <a:endParaRPr b="1" i="0" sz="1100">
                    <a:solidFill>
                      <a:srgbClr val="38BDF8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endParaRPr>
                </a:p>
              </p:txBody>
            </p:sp>
            <p:sp>
              <p:nvSpPr>
                <p:cNvPr id="819" name="Google Shape;819;p49"/>
                <p:cNvSpPr txBox="1"/>
                <p:nvPr/>
              </p:nvSpPr>
              <p:spPr>
                <a:xfrm>
                  <a:off x="609600" y="190500"/>
                  <a:ext cx="9334500" cy="2667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300">
                      <a:solidFill>
                        <a:srgbClr val="E2E8F0"/>
                      </a:solidFill>
                      <a:latin typeface="Plus Jakarta Sans Medium"/>
                      <a:ea typeface="Plus Jakarta Sans Medium"/>
                      <a:cs typeface="Plus Jakarta Sans Medium"/>
                      <a:sym typeface="Plus Jakarta Sans Medium"/>
                    </a:rPr>
                    <a:t>Reproduce the bug deterministically and extract clean, specific log evidence.</a:t>
                  </a:r>
                  <a:endParaRPr b="0" i="0" sz="1300">
                    <a:solidFill>
                      <a:srgbClr val="E2E8F0"/>
                    </a:solidFill>
                    <a:latin typeface="Plus Jakarta Sans Medium"/>
                    <a:ea typeface="Plus Jakarta Sans Medium"/>
                    <a:cs typeface="Plus Jakarta Sans Medium"/>
                    <a:sym typeface="Plus Jakarta Sans Medium"/>
                  </a:endParaRPr>
                </a:p>
              </p:txBody>
            </p:sp>
          </p:grpSp>
          <p:grpSp>
            <p:nvGrpSpPr>
              <p:cNvPr id="820" name="Google Shape;820;p49"/>
              <p:cNvGrpSpPr/>
              <p:nvPr/>
            </p:nvGrpSpPr>
            <p:grpSpPr>
              <a:xfrm>
                <a:off x="0" y="1447800"/>
                <a:ext cx="10210800" cy="609600"/>
                <a:chOff x="0" y="0"/>
                <a:chExt cx="10210800" cy="609600"/>
              </a:xfrm>
            </p:grpSpPr>
            <p:sp>
              <p:nvSpPr>
                <p:cNvPr id="821" name="Google Shape;821;p49"/>
                <p:cNvSpPr/>
                <p:nvPr/>
              </p:nvSpPr>
              <p:spPr>
                <a:xfrm>
                  <a:off x="0" y="0"/>
                  <a:ext cx="10210800" cy="609600"/>
                </a:xfrm>
                <a:prstGeom prst="roundRect">
                  <a:avLst>
                    <a:gd fmla="val 12500" name="adj"/>
                  </a:avLst>
                </a:prstGeom>
                <a:solidFill>
                  <a:srgbClr val="1E293B"/>
                </a:solidFill>
                <a:ln cap="flat" cmpd="sng" w="9525">
                  <a:solidFill>
                    <a:srgbClr val="33415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2" name="Google Shape;822;p49"/>
                <p:cNvSpPr/>
                <p:nvPr/>
              </p:nvSpPr>
              <p:spPr>
                <a:xfrm>
                  <a:off x="133350" y="133350"/>
                  <a:ext cx="342900" cy="3429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0F172A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3" name="Google Shape;823;p49"/>
                <p:cNvSpPr txBox="1"/>
                <p:nvPr/>
              </p:nvSpPr>
              <p:spPr>
                <a:xfrm>
                  <a:off x="133350" y="133350"/>
                  <a:ext cx="34290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100">
                      <a:solidFill>
                        <a:srgbClr val="38BDF8"/>
                      </a:solidFill>
                      <a:latin typeface="JetBrains Mono"/>
                      <a:ea typeface="JetBrains Mono"/>
                      <a:cs typeface="JetBrains Mono"/>
                      <a:sym typeface="JetBrains Mono"/>
                    </a:rPr>
                    <a:t>C</a:t>
                  </a:r>
                  <a:endParaRPr b="1" sz="1100">
                    <a:solidFill>
                      <a:srgbClr val="38BDF8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endParaRPr>
                </a:p>
              </p:txBody>
            </p:sp>
            <p:sp>
              <p:nvSpPr>
                <p:cNvPr id="824" name="Google Shape;824;p49"/>
                <p:cNvSpPr txBox="1"/>
                <p:nvPr/>
              </p:nvSpPr>
              <p:spPr>
                <a:xfrm>
                  <a:off x="609600" y="190500"/>
                  <a:ext cx="9334500" cy="266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300">
                      <a:solidFill>
                        <a:srgbClr val="E2E8F0"/>
                      </a:solidFill>
                      <a:latin typeface="Plus Jakarta Sans Medium"/>
                      <a:ea typeface="Plus Jakarta Sans Medium"/>
                      <a:cs typeface="Plus Jakarta Sans Medium"/>
                      <a:sym typeface="Plus Jakarta Sans Medium"/>
                    </a:rPr>
                    <a:t>Accept all suggested changes instantly to keep development momentum high.</a:t>
                  </a:r>
                  <a:endParaRPr b="0" sz="1300">
                    <a:solidFill>
                      <a:srgbClr val="E2E8F0"/>
                    </a:solidFill>
                    <a:latin typeface="Plus Jakarta Sans Medium"/>
                    <a:ea typeface="Plus Jakarta Sans Medium"/>
                    <a:cs typeface="Plus Jakarta Sans Medium"/>
                    <a:sym typeface="Plus Jakarta Sans Medium"/>
                  </a:endParaRPr>
                </a:p>
              </p:txBody>
            </p:sp>
          </p:grpSp>
          <p:grpSp>
            <p:nvGrpSpPr>
              <p:cNvPr id="825" name="Google Shape;825;p49"/>
              <p:cNvGrpSpPr/>
              <p:nvPr/>
            </p:nvGrpSpPr>
            <p:grpSpPr>
              <a:xfrm>
                <a:off x="0" y="2171700"/>
                <a:ext cx="10210800" cy="609600"/>
                <a:chOff x="0" y="0"/>
                <a:chExt cx="10210800" cy="609600"/>
              </a:xfrm>
            </p:grpSpPr>
            <p:sp>
              <p:nvSpPr>
                <p:cNvPr id="826" name="Google Shape;826;p49"/>
                <p:cNvSpPr/>
                <p:nvPr/>
              </p:nvSpPr>
              <p:spPr>
                <a:xfrm>
                  <a:off x="0" y="0"/>
                  <a:ext cx="10210800" cy="609600"/>
                </a:xfrm>
                <a:prstGeom prst="roundRect">
                  <a:avLst>
                    <a:gd fmla="val 12500" name="adj"/>
                  </a:avLst>
                </a:prstGeom>
                <a:solidFill>
                  <a:srgbClr val="1E293B"/>
                </a:solidFill>
                <a:ln cap="flat" cmpd="sng" w="9525">
                  <a:solidFill>
                    <a:srgbClr val="33415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7" name="Google Shape;827;p49"/>
                <p:cNvSpPr/>
                <p:nvPr/>
              </p:nvSpPr>
              <p:spPr>
                <a:xfrm>
                  <a:off x="133350" y="133350"/>
                  <a:ext cx="342900" cy="3429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0F172A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8" name="Google Shape;828;p49"/>
                <p:cNvSpPr txBox="1"/>
                <p:nvPr/>
              </p:nvSpPr>
              <p:spPr>
                <a:xfrm>
                  <a:off x="133350" y="133350"/>
                  <a:ext cx="34290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100">
                      <a:solidFill>
                        <a:srgbClr val="38BDF8"/>
                      </a:solidFill>
                      <a:latin typeface="JetBrains Mono"/>
                      <a:ea typeface="JetBrains Mono"/>
                      <a:cs typeface="JetBrains Mono"/>
                      <a:sym typeface="JetBrains Mono"/>
                    </a:rPr>
                    <a:t>D</a:t>
                  </a:r>
                  <a:endParaRPr b="1" sz="1100">
                    <a:solidFill>
                      <a:srgbClr val="38BDF8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endParaRPr>
                </a:p>
              </p:txBody>
            </p:sp>
            <p:sp>
              <p:nvSpPr>
                <p:cNvPr id="829" name="Google Shape;829;p49"/>
                <p:cNvSpPr txBox="1"/>
                <p:nvPr/>
              </p:nvSpPr>
              <p:spPr>
                <a:xfrm>
                  <a:off x="609600" y="190500"/>
                  <a:ext cx="9334500" cy="266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300">
                      <a:solidFill>
                        <a:srgbClr val="E2E8F0"/>
                      </a:solidFill>
                      <a:latin typeface="Plus Jakarta Sans Medium"/>
                      <a:ea typeface="Plus Jakarta Sans Medium"/>
                      <a:cs typeface="Plus Jakarta Sans Medium"/>
                      <a:sym typeface="Plus Jakarta Sans Medium"/>
                    </a:rPr>
                    <a:t>Skip running local unit test suites as long as the code generates without syntax errors.</a:t>
                  </a:r>
                  <a:endParaRPr b="0" sz="1300">
                    <a:solidFill>
                      <a:srgbClr val="E2E8F0"/>
                    </a:solidFill>
                    <a:latin typeface="Plus Jakarta Sans Medium"/>
                    <a:ea typeface="Plus Jakarta Sans Medium"/>
                    <a:cs typeface="Plus Jakarta Sans Medium"/>
                    <a:sym typeface="Plus Jakarta Sans Medium"/>
                  </a:endParaRPr>
                </a:p>
              </p:txBody>
            </p:sp>
          </p:grpSp>
        </p:grpSp>
      </p:grpSp>
      <p:pic>
        <p:nvPicPr>
          <p:cNvPr id="830" name="Google Shape;830;p49" title="und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65625" y="0"/>
            <a:ext cx="726375" cy="11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50"/>
          <p:cNvSpPr/>
          <p:nvPr/>
        </p:nvSpPr>
        <p:spPr>
          <a:xfrm>
            <a:off x="0" y="6848475"/>
            <a:ext cx="12192000" cy="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50"/>
          <p:cNvSpPr txBox="1"/>
          <p:nvPr/>
        </p:nvSpPr>
        <p:spPr>
          <a:xfrm>
            <a:off x="685800" y="53340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FINAL CHECKPOINT</a:t>
            </a:r>
            <a:endParaRPr b="1" sz="1200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837" name="Google Shape;837;p50"/>
          <p:cNvSpPr txBox="1"/>
          <p:nvPr/>
        </p:nvSpPr>
        <p:spPr>
          <a:xfrm>
            <a:off x="685800" y="781050"/>
            <a:ext cx="10820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Final Quiz: Test Your AI Debugging Mastery</a:t>
            </a:r>
            <a:endParaRPr b="1" sz="26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838" name="Google Shape;838;p50"/>
          <p:cNvGrpSpPr/>
          <p:nvPr/>
        </p:nvGrpSpPr>
        <p:grpSpPr>
          <a:xfrm>
            <a:off x="685800" y="1571625"/>
            <a:ext cx="10820400" cy="4667400"/>
            <a:chOff x="0" y="0"/>
            <a:chExt cx="10820400" cy="4667400"/>
          </a:xfrm>
        </p:grpSpPr>
        <p:sp>
          <p:nvSpPr>
            <p:cNvPr id="839" name="Google Shape;839;p50"/>
            <p:cNvSpPr/>
            <p:nvPr/>
          </p:nvSpPr>
          <p:spPr>
            <a:xfrm>
              <a:off x="0" y="0"/>
              <a:ext cx="10820400" cy="4667400"/>
            </a:xfrm>
            <a:prstGeom prst="roundRect">
              <a:avLst>
                <a:gd fmla="val 2448" name="adj"/>
              </a:avLst>
            </a:prstGeom>
            <a:solidFill>
              <a:srgbClr val="0F172A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40" name="Google Shape;840;p50"/>
            <p:cNvGrpSpPr/>
            <p:nvPr/>
          </p:nvGrpSpPr>
          <p:grpSpPr>
            <a:xfrm>
              <a:off x="304800" y="304800"/>
              <a:ext cx="1047900" cy="266700"/>
              <a:chOff x="0" y="0"/>
              <a:chExt cx="1047900" cy="266700"/>
            </a:xfrm>
          </p:grpSpPr>
          <p:sp>
            <p:nvSpPr>
              <p:cNvPr id="841" name="Google Shape;841;p50"/>
              <p:cNvSpPr/>
              <p:nvPr/>
            </p:nvSpPr>
            <p:spPr>
              <a:xfrm>
                <a:off x="0" y="0"/>
                <a:ext cx="1047900" cy="266700"/>
              </a:xfrm>
              <a:prstGeom prst="roundRect">
                <a:avLst>
                  <a:gd fmla="val 21428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50"/>
              <p:cNvSpPr txBox="1"/>
              <p:nvPr/>
            </p:nvSpPr>
            <p:spPr>
              <a:xfrm>
                <a:off x="0" y="0"/>
                <a:ext cx="10479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38BDF8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QUESTION 01</a:t>
                </a:r>
                <a:endParaRPr b="1" sz="10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</p:grpSp>
        <p:sp>
          <p:nvSpPr>
            <p:cNvPr id="843" name="Google Shape;843;p50"/>
            <p:cNvSpPr txBox="1"/>
            <p:nvPr/>
          </p:nvSpPr>
          <p:spPr>
            <a:xfrm>
              <a:off x="304800" y="685800"/>
              <a:ext cx="10210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What is the most critical first step before asking an AI agent to fix a complex code regression?</a:t>
              </a:r>
              <a:endParaRPr b="1" sz="16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844" name="Google Shape;844;p50"/>
            <p:cNvGrpSpPr/>
            <p:nvPr/>
          </p:nvGrpSpPr>
          <p:grpSpPr>
            <a:xfrm>
              <a:off x="304800" y="1333500"/>
              <a:ext cx="10210800" cy="2781300"/>
              <a:chOff x="0" y="0"/>
              <a:chExt cx="10210800" cy="2781300"/>
            </a:xfrm>
          </p:grpSpPr>
          <p:grpSp>
            <p:nvGrpSpPr>
              <p:cNvPr id="845" name="Google Shape;845;p50"/>
              <p:cNvGrpSpPr/>
              <p:nvPr/>
            </p:nvGrpSpPr>
            <p:grpSpPr>
              <a:xfrm>
                <a:off x="0" y="0"/>
                <a:ext cx="10210800" cy="609600"/>
                <a:chOff x="0" y="0"/>
                <a:chExt cx="10210800" cy="609600"/>
              </a:xfrm>
            </p:grpSpPr>
            <p:sp>
              <p:nvSpPr>
                <p:cNvPr id="846" name="Google Shape;846;p50"/>
                <p:cNvSpPr/>
                <p:nvPr/>
              </p:nvSpPr>
              <p:spPr>
                <a:xfrm>
                  <a:off x="0" y="0"/>
                  <a:ext cx="10210800" cy="609600"/>
                </a:xfrm>
                <a:prstGeom prst="roundRect">
                  <a:avLst>
                    <a:gd fmla="val 12500" name="adj"/>
                  </a:avLst>
                </a:prstGeom>
                <a:solidFill>
                  <a:srgbClr val="1E293B"/>
                </a:solidFill>
                <a:ln cap="flat" cmpd="sng" w="9525">
                  <a:solidFill>
                    <a:srgbClr val="33415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7" name="Google Shape;847;p50"/>
                <p:cNvSpPr/>
                <p:nvPr/>
              </p:nvSpPr>
              <p:spPr>
                <a:xfrm>
                  <a:off x="133350" y="133350"/>
                  <a:ext cx="342900" cy="3429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0F172A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8" name="Google Shape;848;p50"/>
                <p:cNvSpPr txBox="1"/>
                <p:nvPr/>
              </p:nvSpPr>
              <p:spPr>
                <a:xfrm>
                  <a:off x="133350" y="133350"/>
                  <a:ext cx="34290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100">
                      <a:solidFill>
                        <a:srgbClr val="38BDF8"/>
                      </a:solidFill>
                      <a:latin typeface="JetBrains Mono"/>
                      <a:ea typeface="JetBrains Mono"/>
                      <a:cs typeface="JetBrains Mono"/>
                      <a:sym typeface="JetBrains Mono"/>
                    </a:rPr>
                    <a:t>A</a:t>
                  </a:r>
                  <a:endParaRPr b="1" sz="1100">
                    <a:solidFill>
                      <a:srgbClr val="38BDF8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endParaRPr>
                </a:p>
              </p:txBody>
            </p:sp>
            <p:sp>
              <p:nvSpPr>
                <p:cNvPr id="849" name="Google Shape;849;p50"/>
                <p:cNvSpPr txBox="1"/>
                <p:nvPr/>
              </p:nvSpPr>
              <p:spPr>
                <a:xfrm>
                  <a:off x="609600" y="190500"/>
                  <a:ext cx="9334500" cy="266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300">
                      <a:solidFill>
                        <a:srgbClr val="E2E8F0"/>
                      </a:solidFill>
                      <a:latin typeface="Plus Jakarta Sans Medium"/>
                      <a:ea typeface="Plus Jakarta Sans Medium"/>
                      <a:cs typeface="Plus Jakarta Sans Medium"/>
                      <a:sym typeface="Plus Jakarta Sans Medium"/>
                    </a:rPr>
                    <a:t>Paste the entire codebase into the prompt window and request a complete rewrite.</a:t>
                  </a:r>
                  <a:endParaRPr b="0" sz="1300">
                    <a:solidFill>
                      <a:srgbClr val="E2E8F0"/>
                    </a:solidFill>
                    <a:latin typeface="Plus Jakarta Sans Medium"/>
                    <a:ea typeface="Plus Jakarta Sans Medium"/>
                    <a:cs typeface="Plus Jakarta Sans Medium"/>
                    <a:sym typeface="Plus Jakarta Sans Medium"/>
                  </a:endParaRPr>
                </a:p>
              </p:txBody>
            </p:sp>
          </p:grpSp>
          <p:grpSp>
            <p:nvGrpSpPr>
              <p:cNvPr id="850" name="Google Shape;850;p50"/>
              <p:cNvGrpSpPr/>
              <p:nvPr/>
            </p:nvGrpSpPr>
            <p:grpSpPr>
              <a:xfrm>
                <a:off x="0" y="723900"/>
                <a:ext cx="10210800" cy="609600"/>
                <a:chOff x="0" y="0"/>
                <a:chExt cx="10210800" cy="609600"/>
              </a:xfrm>
            </p:grpSpPr>
            <p:sp>
              <p:nvSpPr>
                <p:cNvPr id="851" name="Google Shape;851;p50"/>
                <p:cNvSpPr/>
                <p:nvPr/>
              </p:nvSpPr>
              <p:spPr>
                <a:xfrm>
                  <a:off x="0" y="0"/>
                  <a:ext cx="10210800" cy="609600"/>
                </a:xfrm>
                <a:prstGeom prst="roundRect">
                  <a:avLst>
                    <a:gd fmla="val 12500" name="adj"/>
                  </a:avLst>
                </a:prstGeom>
                <a:solidFill>
                  <a:srgbClr val="06231D"/>
                </a:solidFill>
                <a:ln cap="flat" cmpd="sng" w="14300">
                  <a:solidFill>
                    <a:srgbClr val="05966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2" name="Google Shape;852;p50"/>
                <p:cNvSpPr/>
                <p:nvPr/>
              </p:nvSpPr>
              <p:spPr>
                <a:xfrm>
                  <a:off x="133350" y="133350"/>
                  <a:ext cx="342900" cy="3429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05966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3" name="Google Shape;853;p50"/>
                <p:cNvSpPr txBox="1"/>
                <p:nvPr/>
              </p:nvSpPr>
              <p:spPr>
                <a:xfrm>
                  <a:off x="133350" y="133350"/>
                  <a:ext cx="34290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100">
                      <a:solidFill>
                        <a:srgbClr val="FFFFFF"/>
                      </a:solidFill>
                      <a:latin typeface="JetBrains Mono"/>
                      <a:ea typeface="JetBrains Mono"/>
                      <a:cs typeface="JetBrains Mono"/>
                      <a:sym typeface="JetBrains Mono"/>
                    </a:rPr>
                    <a:t>B</a:t>
                  </a:r>
                  <a:endParaRPr b="1" sz="1100">
                    <a:solidFill>
                      <a:srgbClr val="FFFFFF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endParaRPr>
                </a:p>
              </p:txBody>
            </p:sp>
            <p:sp>
              <p:nvSpPr>
                <p:cNvPr id="854" name="Google Shape;854;p50"/>
                <p:cNvSpPr txBox="1"/>
                <p:nvPr/>
              </p:nvSpPr>
              <p:spPr>
                <a:xfrm>
                  <a:off x="609600" y="190500"/>
                  <a:ext cx="9334500" cy="266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300">
                      <a:solidFill>
                        <a:srgbClr val="34D399"/>
                      </a:solidFill>
                      <a:latin typeface="Plus Jakarta Sans"/>
                      <a:ea typeface="Plus Jakarta Sans"/>
                      <a:cs typeface="Plus Jakarta Sans"/>
                      <a:sym typeface="Plus Jakarta Sans"/>
                    </a:rPr>
                    <a:t>Reproduce the bug deterministically and extract clean, specific log evidence.</a:t>
                  </a:r>
                  <a:endParaRPr b="1" sz="1300">
                    <a:solidFill>
                      <a:srgbClr val="34D399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endParaRPr>
                </a:p>
              </p:txBody>
            </p:sp>
          </p:grpSp>
          <p:grpSp>
            <p:nvGrpSpPr>
              <p:cNvPr id="855" name="Google Shape;855;p50"/>
              <p:cNvGrpSpPr/>
              <p:nvPr/>
            </p:nvGrpSpPr>
            <p:grpSpPr>
              <a:xfrm>
                <a:off x="0" y="1447800"/>
                <a:ext cx="10210800" cy="609600"/>
                <a:chOff x="0" y="0"/>
                <a:chExt cx="10210800" cy="609600"/>
              </a:xfrm>
            </p:grpSpPr>
            <p:sp>
              <p:nvSpPr>
                <p:cNvPr id="856" name="Google Shape;856;p50"/>
                <p:cNvSpPr/>
                <p:nvPr/>
              </p:nvSpPr>
              <p:spPr>
                <a:xfrm>
                  <a:off x="0" y="0"/>
                  <a:ext cx="10210800" cy="609600"/>
                </a:xfrm>
                <a:prstGeom prst="roundRect">
                  <a:avLst>
                    <a:gd fmla="val 12500" name="adj"/>
                  </a:avLst>
                </a:prstGeom>
                <a:solidFill>
                  <a:srgbClr val="1E293B"/>
                </a:solidFill>
                <a:ln cap="flat" cmpd="sng" w="9525">
                  <a:solidFill>
                    <a:srgbClr val="33415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7" name="Google Shape;857;p50"/>
                <p:cNvSpPr/>
                <p:nvPr/>
              </p:nvSpPr>
              <p:spPr>
                <a:xfrm>
                  <a:off x="133350" y="133350"/>
                  <a:ext cx="342900" cy="3429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0F172A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8" name="Google Shape;858;p50"/>
                <p:cNvSpPr txBox="1"/>
                <p:nvPr/>
              </p:nvSpPr>
              <p:spPr>
                <a:xfrm>
                  <a:off x="133350" y="133350"/>
                  <a:ext cx="34290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100">
                      <a:solidFill>
                        <a:srgbClr val="38BDF8"/>
                      </a:solidFill>
                      <a:latin typeface="JetBrains Mono"/>
                      <a:ea typeface="JetBrains Mono"/>
                      <a:cs typeface="JetBrains Mono"/>
                      <a:sym typeface="JetBrains Mono"/>
                    </a:rPr>
                    <a:t>C</a:t>
                  </a:r>
                  <a:endParaRPr b="1" sz="1100">
                    <a:solidFill>
                      <a:srgbClr val="38BDF8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endParaRPr>
                </a:p>
              </p:txBody>
            </p:sp>
            <p:sp>
              <p:nvSpPr>
                <p:cNvPr id="859" name="Google Shape;859;p50"/>
                <p:cNvSpPr txBox="1"/>
                <p:nvPr/>
              </p:nvSpPr>
              <p:spPr>
                <a:xfrm>
                  <a:off x="609600" y="190500"/>
                  <a:ext cx="9334500" cy="266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300">
                      <a:solidFill>
                        <a:srgbClr val="E2E8F0"/>
                      </a:solidFill>
                      <a:latin typeface="Plus Jakarta Sans Medium"/>
                      <a:ea typeface="Plus Jakarta Sans Medium"/>
                      <a:cs typeface="Plus Jakarta Sans Medium"/>
                      <a:sym typeface="Plus Jakarta Sans Medium"/>
                    </a:rPr>
                    <a:t>Accept all suggested changes instantly to keep development momentum high.</a:t>
                  </a:r>
                  <a:endParaRPr b="0" sz="1300">
                    <a:solidFill>
                      <a:srgbClr val="E2E8F0"/>
                    </a:solidFill>
                    <a:latin typeface="Plus Jakarta Sans Medium"/>
                    <a:ea typeface="Plus Jakarta Sans Medium"/>
                    <a:cs typeface="Plus Jakarta Sans Medium"/>
                    <a:sym typeface="Plus Jakarta Sans Medium"/>
                  </a:endParaRPr>
                </a:p>
              </p:txBody>
            </p:sp>
          </p:grpSp>
          <p:grpSp>
            <p:nvGrpSpPr>
              <p:cNvPr id="860" name="Google Shape;860;p50"/>
              <p:cNvGrpSpPr/>
              <p:nvPr/>
            </p:nvGrpSpPr>
            <p:grpSpPr>
              <a:xfrm>
                <a:off x="0" y="2171700"/>
                <a:ext cx="10210800" cy="609600"/>
                <a:chOff x="0" y="0"/>
                <a:chExt cx="10210800" cy="609600"/>
              </a:xfrm>
            </p:grpSpPr>
            <p:sp>
              <p:nvSpPr>
                <p:cNvPr id="861" name="Google Shape;861;p50"/>
                <p:cNvSpPr/>
                <p:nvPr/>
              </p:nvSpPr>
              <p:spPr>
                <a:xfrm>
                  <a:off x="0" y="0"/>
                  <a:ext cx="10210800" cy="609600"/>
                </a:xfrm>
                <a:prstGeom prst="roundRect">
                  <a:avLst>
                    <a:gd fmla="val 12500" name="adj"/>
                  </a:avLst>
                </a:prstGeom>
                <a:solidFill>
                  <a:srgbClr val="1E293B"/>
                </a:solidFill>
                <a:ln cap="flat" cmpd="sng" w="9525">
                  <a:solidFill>
                    <a:srgbClr val="33415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2" name="Google Shape;862;p50"/>
                <p:cNvSpPr/>
                <p:nvPr/>
              </p:nvSpPr>
              <p:spPr>
                <a:xfrm>
                  <a:off x="133350" y="133350"/>
                  <a:ext cx="342900" cy="3429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0F172A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3" name="Google Shape;863;p50"/>
                <p:cNvSpPr txBox="1"/>
                <p:nvPr/>
              </p:nvSpPr>
              <p:spPr>
                <a:xfrm>
                  <a:off x="133350" y="133350"/>
                  <a:ext cx="34290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100">
                      <a:solidFill>
                        <a:srgbClr val="38BDF8"/>
                      </a:solidFill>
                      <a:latin typeface="JetBrains Mono"/>
                      <a:ea typeface="JetBrains Mono"/>
                      <a:cs typeface="JetBrains Mono"/>
                      <a:sym typeface="JetBrains Mono"/>
                    </a:rPr>
                    <a:t>D</a:t>
                  </a:r>
                  <a:endParaRPr b="1" sz="1100">
                    <a:solidFill>
                      <a:srgbClr val="38BDF8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endParaRPr>
                </a:p>
              </p:txBody>
            </p:sp>
            <p:sp>
              <p:nvSpPr>
                <p:cNvPr id="864" name="Google Shape;864;p50"/>
                <p:cNvSpPr txBox="1"/>
                <p:nvPr/>
              </p:nvSpPr>
              <p:spPr>
                <a:xfrm>
                  <a:off x="609600" y="190500"/>
                  <a:ext cx="9334500" cy="266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1300">
                      <a:solidFill>
                        <a:srgbClr val="E2E8F0"/>
                      </a:solidFill>
                      <a:latin typeface="Plus Jakarta Sans Medium"/>
                      <a:ea typeface="Plus Jakarta Sans Medium"/>
                      <a:cs typeface="Plus Jakarta Sans Medium"/>
                      <a:sym typeface="Plus Jakarta Sans Medium"/>
                    </a:rPr>
                    <a:t>Skip running local unit test suites as long as the code generates without syntax errors.</a:t>
                  </a:r>
                  <a:endParaRPr b="0" sz="1300">
                    <a:solidFill>
                      <a:srgbClr val="E2E8F0"/>
                    </a:solidFill>
                    <a:latin typeface="Plus Jakarta Sans Medium"/>
                    <a:ea typeface="Plus Jakarta Sans Medium"/>
                    <a:cs typeface="Plus Jakarta Sans Medium"/>
                    <a:sym typeface="Plus Jakarta Sans Medium"/>
                  </a:endParaRPr>
                </a:p>
              </p:txBody>
            </p:sp>
          </p:grpSp>
        </p:grpSp>
      </p:grpSp>
      <p:pic>
        <p:nvPicPr>
          <p:cNvPr id="865" name="Google Shape;865;p50" title="und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65625" y="0"/>
            <a:ext cx="726375" cy="11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E17"/>
        </a:solidFill>
      </p:bgPr>
    </p:bg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5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51"/>
          <p:cNvSpPr/>
          <p:nvPr/>
        </p:nvSpPr>
        <p:spPr>
          <a:xfrm>
            <a:off x="1257300" y="1760190"/>
            <a:ext cx="96774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51"/>
          <p:cNvSpPr/>
          <p:nvPr/>
        </p:nvSpPr>
        <p:spPr>
          <a:xfrm>
            <a:off x="1257300" y="2750790"/>
            <a:ext cx="96774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51"/>
          <p:cNvSpPr/>
          <p:nvPr/>
        </p:nvSpPr>
        <p:spPr>
          <a:xfrm>
            <a:off x="1257300" y="2750790"/>
            <a:ext cx="96774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74" name="Google Shape;87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300" y="201736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5" name="Google Shape;875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7300" y="290319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51"/>
          <p:cNvSpPr txBox="1"/>
          <p:nvPr/>
        </p:nvSpPr>
        <p:spPr>
          <a:xfrm>
            <a:off x="1257300" y="1104900"/>
            <a:ext cx="3019127" cy="38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  <p:sp>
        <p:nvSpPr>
          <p:cNvPr id="877" name="Google Shape;877;p51"/>
          <p:cNvSpPr txBox="1"/>
          <p:nvPr/>
        </p:nvSpPr>
        <p:spPr>
          <a:xfrm>
            <a:off x="2352675" y="1903065"/>
            <a:ext cx="86772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d3njjcbhbojbot.cloudfront.net/api/utilities/v1/imageproxy/https://images.ctfassets.net/wp1lcwdav1p1/2kRBFTF62sPERLzQ7uBwGZ/7d68617c88566e1d5e1f91184b624bfa/GettyImages-1171809360-converted-from-jpeg.webp?w=1500&amp;h=680&amp;q=60&amp;fit=fill&amp;f=faces&amp;fm=jpg&amp;fl=progressive&amp;auto=format%2Ccompress&amp;dpr=1&amp;w=1000</a:t>
            </a:r>
            <a:endParaRPr/>
          </a:p>
        </p:txBody>
      </p:sp>
      <p:sp>
        <p:nvSpPr>
          <p:cNvPr id="878" name="Google Shape;878;p51"/>
          <p:cNvSpPr txBox="1"/>
          <p:nvPr/>
        </p:nvSpPr>
        <p:spPr>
          <a:xfrm>
            <a:off x="2352675" y="2407890"/>
            <a:ext cx="240506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www.coursera.org</a:t>
            </a:r>
            <a:endParaRPr/>
          </a:p>
        </p:txBody>
      </p:sp>
      <p:sp>
        <p:nvSpPr>
          <p:cNvPr id="879" name="Google Shape;879;p51"/>
          <p:cNvSpPr txBox="1"/>
          <p:nvPr/>
        </p:nvSpPr>
        <p:spPr>
          <a:xfrm>
            <a:off x="2352675" y="2941290"/>
            <a:ext cx="89296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https://www.worktreewise.com/_next/image?url=%2Fimages%2Fblog%2Fgit-worktree-gui-2026.png&amp;w=3840&amp;q=75</a:t>
            </a:r>
            <a:endParaRPr/>
          </a:p>
        </p:txBody>
      </p:sp>
      <p:sp>
        <p:nvSpPr>
          <p:cNvPr id="880" name="Google Shape;880;p51"/>
          <p:cNvSpPr txBox="1"/>
          <p:nvPr/>
        </p:nvSpPr>
        <p:spPr>
          <a:xfrm>
            <a:off x="2352675" y="3141315"/>
            <a:ext cx="2952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www.worktreewise.com</a:t>
            </a:r>
            <a:endParaRPr/>
          </a:p>
        </p:txBody>
      </p:sp>
      <p:pic>
        <p:nvPicPr>
          <p:cNvPr id="881" name="Google Shape;881;p51" title="undp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65625" y="0"/>
            <a:ext cx="726375" cy="11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