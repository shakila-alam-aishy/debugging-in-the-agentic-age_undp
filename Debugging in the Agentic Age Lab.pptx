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Space Mono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lus Jakarta Sans"/>
      <p:regular r:id="rId28"/>
      <p:bold r:id="rId29"/>
      <p:italic r:id="rId30"/>
      <p:boldItalic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IOGyOj2ZG55bRT9wSVY8peNrr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Inter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lusJakartaSans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boldItalic.fntdata"/><Relationship Id="rId30" Type="http://schemas.openxmlformats.org/officeDocument/2006/relationships/font" Target="fonts/PlusJakartaSans-italic.fntdata"/><Relationship Id="rId11" Type="http://schemas.openxmlformats.org/officeDocument/2006/relationships/slide" Target="slides/slide5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4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SpaceMono-bold.fntdata"/><Relationship Id="rId16" Type="http://schemas.openxmlformats.org/officeDocument/2006/relationships/font" Target="fonts/SpaceMono-regular.fntdata"/><Relationship Id="rId19" Type="http://schemas.openxmlformats.org/officeDocument/2006/relationships/font" Target="fonts/SpaceMono-boldItalic.fntdata"/><Relationship Id="rId18" Type="http://schemas.openxmlformats.org/officeDocument/2006/relationships/font" Target="fonts/SpaceMon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1d2b660396d6d2d_59_0)">
  <p:cSld name="Generated (h21d2b660396d6d2d_59_0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2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0" name="Google Shape;120;p2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2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2" name="Google Shape;122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p3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3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/>
          <p:nvPr/>
        </p:nvSpPr>
        <p:spPr>
          <a:xfrm>
            <a:off x="762000" y="4470052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762000" y="1721197"/>
            <a:ext cx="2552700" cy="276225"/>
          </a:xfrm>
          <a:prstGeom prst="roundRect">
            <a:avLst>
              <a:gd fmla="val 1379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762000" y="4470052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762000" y="2436574"/>
            <a:ext cx="8901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E6ECF2"/>
                </a:solidFill>
                <a:latin typeface="Roboto"/>
                <a:ea typeface="Roboto"/>
                <a:cs typeface="Roboto"/>
                <a:sym typeface="Roboto"/>
              </a:rPr>
              <a:t>Debugging in the agentic age</a:t>
            </a:r>
            <a:endParaRPr b="1" sz="4000">
              <a:solidFill>
                <a:srgbClr val="E6ECF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4974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sz="40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762000" y="3555652"/>
            <a:ext cx="657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Diagnose contract mismatches, patch frontend runtime crashes, and detect hardcoded secrets using AI copilots and test suites.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895350" y="1778347"/>
            <a:ext cx="2381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SESSION 07 • LIVE WORKSHOP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3429000" y="1768822"/>
            <a:ext cx="253603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Zero-Cost AI Engineering 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762000" y="4746277"/>
            <a:ext cx="26074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Target 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762000" y="4946302"/>
            <a:ext cx="26074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session-7-donation-bug-lab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3190875" y="4746277"/>
            <a:ext cx="34885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3190875" y="4946302"/>
            <a:ext cx="34885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Automated Test → AI Prompt → Verify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6324600" y="4746277"/>
            <a:ext cx="26312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6324600" y="4946302"/>
            <a:ext cx="263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GitHub Codespaces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"/>
          <p:cNvSpPr/>
          <p:nvPr/>
        </p:nvSpPr>
        <p:spPr>
          <a:xfrm>
            <a:off x="495300" y="461963"/>
            <a:ext cx="57300" cy="3621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666750" y="361950"/>
            <a:ext cx="3810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About the Trainer</a:t>
            </a:r>
            <a:endParaRPr b="1" i="0" sz="2250" u="none" cap="none" strike="noStrike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666750" y="752475"/>
            <a:ext cx="381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Background &amp; Profile</a:t>
            </a:r>
            <a:endParaRPr b="0" i="0" sz="1400" u="none" cap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81" name="Google Shape;181;p2"/>
          <p:cNvGrpSpPr/>
          <p:nvPr/>
        </p:nvGrpSpPr>
        <p:grpSpPr>
          <a:xfrm>
            <a:off x="666750" y="1714500"/>
            <a:ext cx="2947746" cy="3474699"/>
            <a:chOff x="0" y="0"/>
            <a:chExt cx="2822700" cy="3327300"/>
          </a:xfrm>
        </p:grpSpPr>
        <p:sp>
          <p:nvSpPr>
            <p:cNvPr id="182" name="Google Shape;182;p2"/>
            <p:cNvSpPr/>
            <p:nvPr/>
          </p:nvSpPr>
          <p:spPr>
            <a:xfrm>
              <a:off x="0" y="0"/>
              <a:ext cx="2822700" cy="33273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0" y="0"/>
              <a:ext cx="2822700" cy="332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875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2"/>
          <p:cNvSpPr/>
          <p:nvPr/>
        </p:nvSpPr>
        <p:spPr>
          <a:xfrm>
            <a:off x="3905400" y="1744238"/>
            <a:ext cx="7620000" cy="1047900"/>
          </a:xfrm>
          <a:prstGeom prst="roundRect">
            <a:avLst>
              <a:gd fmla="val 16363" name="adj"/>
            </a:avLst>
          </a:prstGeom>
          <a:solidFill>
            <a:srgbClr val="1722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4143525" y="1934738"/>
            <a:ext cx="7143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Shakila Alam Aishy</a:t>
            </a:r>
            <a:endParaRPr b="1" i="0" sz="1500" u="none" cap="none" strike="noStrike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4143525" y="2220500"/>
            <a:ext cx="7381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Passionate about AI-driven development and modern debugging, with a focus on helping participants explore AI agents and use AI responsibly in software development.</a:t>
            </a:r>
            <a:endParaRPr b="0" i="0" sz="1300" u="none" cap="none" strike="noStrike">
              <a:solidFill>
                <a:srgbClr val="E2E8F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2E8F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3905400" y="3189100"/>
            <a:ext cx="7620000" cy="2000100"/>
          </a:xfrm>
          <a:prstGeom prst="roundRect">
            <a:avLst>
              <a:gd fmla="val 8571" name="adj"/>
            </a:avLst>
          </a:prstGeom>
          <a:solidFill>
            <a:srgbClr val="1722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3905400" y="3189100"/>
            <a:ext cx="38100" cy="2000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"/>
          <p:cNvSpPr txBox="1"/>
          <p:nvPr/>
        </p:nvSpPr>
        <p:spPr>
          <a:xfrm>
            <a:off x="4143525" y="3379600"/>
            <a:ext cx="7143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Education &amp; Academic Status</a:t>
            </a:r>
            <a:endParaRPr b="1" i="0" sz="1500" u="none" cap="none" strike="noStrike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0" name="Google Shape;190;p2"/>
          <p:cNvSpPr txBox="1"/>
          <p:nvPr/>
        </p:nvSpPr>
        <p:spPr>
          <a:xfrm>
            <a:off x="4143526" y="3722500"/>
            <a:ext cx="71439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University: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Begum Rokeya University, Rangpur</a:t>
            </a:r>
            <a:endParaRPr b="1" i="0" sz="1300" u="none" cap="none" strike="noStrike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Department: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Computer Science and Engineering</a:t>
            </a:r>
            <a:endParaRPr b="1" i="0" sz="1300" u="none" cap="none" strike="noStrike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Undergraduate Student</a:t>
            </a:r>
            <a:endParaRPr b="1" i="0" sz="1300" u="none" cap="none" strike="noStrike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Country:</a:t>
            </a:r>
            <a:r>
              <a:rPr b="0" i="0" lang="en-US" sz="13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Bangladesh</a:t>
            </a:r>
            <a:endParaRPr b="1" i="0" sz="1300" u="none" cap="none" strike="noStrike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1" name="Google Shape;191;p2" title="undp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75" y="1443188"/>
            <a:ext cx="3061901" cy="40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"/>
          <p:cNvSpPr txBox="1"/>
          <p:nvPr/>
        </p:nvSpPr>
        <p:spPr>
          <a:xfrm>
            <a:off x="762000" y="495300"/>
            <a:ext cx="10668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WORKSHOP MISSION</a:t>
            </a:r>
            <a:endParaRPr b="1" i="0" sz="11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762000" y="762000"/>
            <a:ext cx="10668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From Syntax Guessing to Autonomous Root-Cause Analysis</a:t>
            </a:r>
            <a:endParaRPr b="1" i="0" sz="2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99" name="Google Shape;199;p3"/>
          <p:cNvGrpSpPr/>
          <p:nvPr/>
        </p:nvGrpSpPr>
        <p:grpSpPr>
          <a:xfrm>
            <a:off x="762000" y="1524000"/>
            <a:ext cx="5143500" cy="4762500"/>
            <a:chOff x="0" y="0"/>
            <a:chExt cx="5143500" cy="4762500"/>
          </a:xfrm>
        </p:grpSpPr>
        <p:sp>
          <p:nvSpPr>
            <p:cNvPr id="200" name="Google Shape;200;p3"/>
            <p:cNvSpPr/>
            <p:nvPr/>
          </p:nvSpPr>
          <p:spPr>
            <a:xfrm>
              <a:off x="0" y="0"/>
              <a:ext cx="5143500" cy="4762500"/>
            </a:xfrm>
            <a:prstGeom prst="roundRect">
              <a:avLst>
                <a:gd fmla="val 3200" name="adj"/>
              </a:avLst>
            </a:prstGeom>
            <a:solidFill>
              <a:srgbClr val="131722"/>
            </a:solidFill>
            <a:ln cap="flat" cmpd="sng" w="14300">
              <a:solidFill>
                <a:srgbClr val="371B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304800" y="304800"/>
              <a:ext cx="1619100" cy="285900"/>
            </a:xfrm>
            <a:prstGeom prst="roundRect">
              <a:avLst>
                <a:gd fmla="val 50000" name="adj"/>
              </a:avLst>
            </a:prstGeom>
            <a:solidFill>
              <a:srgbClr val="3A151A"/>
            </a:solidFill>
            <a:ln cap="flat" cmpd="sng" w="9525">
              <a:solidFill>
                <a:srgbClr val="7F1D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"/>
            <p:cNvSpPr txBox="1"/>
            <p:nvPr/>
          </p:nvSpPr>
          <p:spPr>
            <a:xfrm>
              <a:off x="419100" y="352425"/>
              <a:ext cx="1390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5"/>
                <a:buFont typeface="Arial"/>
                <a:buNone/>
              </a:pPr>
              <a:r>
                <a:rPr b="1" i="0" lang="en-US" sz="925" u="none" cap="none" strike="noStrike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⚠️ THE ANTI-PATTERN</a:t>
              </a:r>
              <a:endParaRPr b="1" i="0" sz="925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3"/>
            <p:cNvSpPr txBox="1"/>
            <p:nvPr/>
          </p:nvSpPr>
          <p:spPr>
            <a:xfrm>
              <a:off x="304800" y="781050"/>
              <a:ext cx="4533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Vague Copy-Paste Prompts</a:t>
              </a:r>
              <a:endParaRPr b="1" i="0" sz="2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304800" y="1295400"/>
              <a:ext cx="4533900" cy="1619100"/>
            </a:xfrm>
            <a:prstGeom prst="roundRect">
              <a:avLst>
                <a:gd fmla="val 7058" name="adj"/>
              </a:avLst>
            </a:prstGeom>
            <a:solidFill>
              <a:srgbClr val="1A1D2A"/>
            </a:solidFill>
            <a:ln cap="flat" cmpd="sng" w="9525">
              <a:solidFill>
                <a:srgbClr val="2B30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 txBox="1"/>
            <p:nvPr/>
          </p:nvSpPr>
          <p:spPr>
            <a:xfrm>
              <a:off x="495300" y="1447800"/>
              <a:ext cx="4152900" cy="13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APPROACH</a:t>
              </a:r>
              <a:endParaRPr b="1" i="0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FCA5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Typing "My code does not work, fix it"</a:t>
              </a:r>
              <a:endParaRPr b="1" i="0" sz="1300" u="none" cap="none" strike="noStrike">
                <a:solidFill>
                  <a:srgbClr val="FCA5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Generates hallucinations and masks subtle API breakages.</a:t>
              </a:r>
              <a:endParaRPr b="0" i="0" sz="11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304800" y="3143250"/>
              <a:ext cx="4533900" cy="1314600"/>
            </a:xfrm>
            <a:prstGeom prst="roundRect">
              <a:avLst>
                <a:gd fmla="val 8695" name="adj"/>
              </a:avLst>
            </a:prstGeom>
            <a:solidFill>
              <a:srgbClr val="251217"/>
            </a:solidFill>
            <a:ln cap="flat" cmpd="sng" w="9525">
              <a:solidFill>
                <a:srgbClr val="501B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304800" y="3143250"/>
              <a:ext cx="57300" cy="13146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"/>
            <p:cNvSpPr txBox="1"/>
            <p:nvPr/>
          </p:nvSpPr>
          <p:spPr>
            <a:xfrm>
              <a:off x="533400" y="3333750"/>
              <a:ext cx="41148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RISK &amp; CONSEQUENCE</a:t>
              </a:r>
              <a:endParaRPr b="1" i="0" sz="9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CA5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Results in brittle patches and security blind spots.</a:t>
              </a:r>
              <a:endParaRPr b="1" i="0" sz="1400" u="none" cap="none" strike="noStrike">
                <a:solidFill>
                  <a:srgbClr val="FCA5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09" name="Google Shape;209;p3"/>
          <p:cNvGrpSpPr/>
          <p:nvPr/>
        </p:nvGrpSpPr>
        <p:grpSpPr>
          <a:xfrm>
            <a:off x="6286500" y="1524000"/>
            <a:ext cx="5143500" cy="4762500"/>
            <a:chOff x="0" y="0"/>
            <a:chExt cx="5143500" cy="4762500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5143500" cy="4762500"/>
            </a:xfrm>
            <a:prstGeom prst="roundRect">
              <a:avLst>
                <a:gd fmla="val 3200" name="adj"/>
              </a:avLst>
            </a:prstGeom>
            <a:solidFill>
              <a:srgbClr val="0F1B2D"/>
            </a:solidFill>
            <a:ln cap="flat" cmpd="sng" w="1430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04800" y="304800"/>
              <a:ext cx="2095500" cy="285900"/>
            </a:xfrm>
            <a:prstGeom prst="roundRect">
              <a:avLst>
                <a:gd fmla="val 50000" name="adj"/>
              </a:avLst>
            </a:prstGeom>
            <a:solidFill>
              <a:srgbClr val="132A4A"/>
            </a:solidFill>
            <a:ln cap="flat" cmpd="sng" w="9525">
              <a:solidFill>
                <a:srgbClr val="1E40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"/>
            <p:cNvSpPr txBox="1"/>
            <p:nvPr/>
          </p:nvSpPr>
          <p:spPr>
            <a:xfrm>
              <a:off x="419100" y="352425"/>
              <a:ext cx="18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✓ THE ENGINEERING STANDARD</a:t>
              </a:r>
              <a:endParaRPr b="1" i="0" sz="85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3" name="Google Shape;213;p3"/>
            <p:cNvSpPr txBox="1"/>
            <p:nvPr/>
          </p:nvSpPr>
          <p:spPr>
            <a:xfrm>
              <a:off x="304800" y="781050"/>
              <a:ext cx="4533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Contract-Aware Debugging</a:t>
              </a:r>
              <a:endParaRPr b="1" i="0" sz="2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04800" y="1295400"/>
              <a:ext cx="4533900" cy="1619100"/>
            </a:xfrm>
            <a:prstGeom prst="roundRect">
              <a:avLst>
                <a:gd fmla="val 7058" name="adj"/>
              </a:avLst>
            </a:prstGeom>
            <a:solidFill>
              <a:srgbClr val="13233A"/>
            </a:solidFill>
            <a:ln cap="flat" cmpd="sng" w="9525">
              <a:solidFill>
                <a:srgbClr val="1E3A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"/>
            <p:cNvSpPr txBox="1"/>
            <p:nvPr/>
          </p:nvSpPr>
          <p:spPr>
            <a:xfrm>
              <a:off x="495300" y="1447800"/>
              <a:ext cx="4152900" cy="13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METHODOLOGY</a:t>
              </a:r>
              <a:endParaRPr b="1" i="0" sz="1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Feed deterministic test logs, exact schema requirements, and file diffs to AI models to enforce contract integrity.</a:t>
              </a:r>
              <a:endParaRPr b="0" i="0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304800" y="3143250"/>
              <a:ext cx="4533900" cy="1314600"/>
            </a:xfrm>
            <a:prstGeom prst="roundRect">
              <a:avLst>
                <a:gd fmla="val 8695" name="adj"/>
              </a:avLst>
            </a:prstGeom>
            <a:solidFill>
              <a:srgbClr val="0C2340"/>
            </a:solidFill>
            <a:ln cap="flat" cmpd="sng" w="9525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304800" y="3143250"/>
              <a:ext cx="57300" cy="13146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"/>
            <p:cNvSpPr txBox="1"/>
            <p:nvPr/>
          </p:nvSpPr>
          <p:spPr>
            <a:xfrm>
              <a:off x="533400" y="3333750"/>
              <a:ext cx="41148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EXPECTED OUTCOME</a:t>
              </a:r>
              <a:endParaRPr b="1" i="0" sz="95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93C5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Achieves instant green test suites with zero manual guesswork.</a:t>
              </a:r>
              <a:endParaRPr b="1" i="0" sz="1400" u="none" cap="none" strike="noStrike">
                <a:solidFill>
                  <a:srgbClr val="93C5F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pic>
        <p:nvPicPr>
          <p:cNvPr id="219" name="Google Shape;219;p3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"/>
          <p:cNvSpPr/>
          <p:nvPr/>
        </p:nvSpPr>
        <p:spPr>
          <a:xfrm>
            <a:off x="762000" y="1619250"/>
            <a:ext cx="3403500" cy="4667400"/>
          </a:xfrm>
          <a:prstGeom prst="roundRect">
            <a:avLst>
              <a:gd fmla="val 4477" name="adj"/>
            </a:avLst>
          </a:prstGeom>
          <a:solidFill>
            <a:srgbClr val="131B2E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4394149" y="1619250"/>
            <a:ext cx="3403500" cy="4667400"/>
          </a:xfrm>
          <a:prstGeom prst="roundRect">
            <a:avLst>
              <a:gd fmla="val 4477" name="adj"/>
            </a:avLst>
          </a:prstGeom>
          <a:solidFill>
            <a:srgbClr val="131B2E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8026298" y="1619250"/>
            <a:ext cx="3403500" cy="4667400"/>
          </a:xfrm>
          <a:prstGeom prst="roundRect">
            <a:avLst>
              <a:gd fmla="val 4477" name="adj"/>
            </a:avLst>
          </a:prstGeom>
          <a:solidFill>
            <a:srgbClr val="131B2E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"/>
          <p:cNvPicPr preferRelativeResize="0"/>
          <p:nvPr/>
        </p:nvPicPr>
        <p:blipFill rotWithShape="1">
          <a:blip r:embed="rId4">
            <a:alphaModFix/>
          </a:blip>
          <a:srcRect b="1220" l="0" r="0" t="1220"/>
          <a:stretch/>
        </p:blipFill>
        <p:spPr>
          <a:xfrm>
            <a:off x="4660849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"/>
          <p:cNvPicPr preferRelativeResize="0"/>
          <p:nvPr/>
        </p:nvPicPr>
        <p:blipFill rotWithShape="1">
          <a:blip r:embed="rId5">
            <a:alphaModFix/>
          </a:blip>
          <a:srcRect b="1220" l="0" r="0" t="1220"/>
          <a:stretch/>
        </p:blipFill>
        <p:spPr>
          <a:xfrm>
            <a:off x="8292998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" y="2009775"/>
            <a:ext cx="171600" cy="1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"/>
          <p:cNvPicPr preferRelativeResize="0"/>
          <p:nvPr/>
        </p:nvPicPr>
        <p:blipFill rotWithShape="1">
          <a:blip r:embed="rId7">
            <a:alphaModFix/>
          </a:blip>
          <a:srcRect b="2634" l="0" r="0" t="2634"/>
          <a:stretch/>
        </p:blipFill>
        <p:spPr>
          <a:xfrm>
            <a:off x="4765624" y="2009775"/>
            <a:ext cx="171600" cy="1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"/>
          <p:cNvPicPr preferRelativeResize="0"/>
          <p:nvPr/>
        </p:nvPicPr>
        <p:blipFill rotWithShape="1">
          <a:blip r:embed="rId8">
            <a:alphaModFix/>
          </a:blip>
          <a:srcRect b="2634" l="0" r="0" t="2634"/>
          <a:stretch/>
        </p:blipFill>
        <p:spPr>
          <a:xfrm>
            <a:off x="8397773" y="2009775"/>
            <a:ext cx="171600" cy="1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"/>
          <p:cNvSpPr txBox="1"/>
          <p:nvPr/>
        </p:nvSpPr>
        <p:spPr>
          <a:xfrm>
            <a:off x="762000" y="495300"/>
            <a:ext cx="1143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CODEBASE ANATOMY</a:t>
            </a:r>
            <a:endParaRPr b="1" i="0" sz="11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762000" y="762000"/>
            <a:ext cx="11430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Intentional Flaws You Will Audit</a:t>
            </a:r>
            <a:endParaRPr b="1" i="0" sz="2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1028700" y="2476500"/>
            <a:ext cx="28701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FAILS API VALIDATION (400)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Payload Mismatch</a:t>
            </a:r>
            <a:endParaRPr b="1" i="0" sz="1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UI transmits frontend payload with key mismatch against backend schema.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PAYLOAD SCHEMA</a:t>
            </a:r>
            <a:endParaRPr b="1" i="0" sz="8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- UI:</a:t>
            </a: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donation_amount</a:t>
            </a:r>
            <a:endParaRPr b="0" i="0" sz="105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rPr>
              <a:t>+ API:</a:t>
            </a: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amount</a:t>
            </a:r>
            <a:endParaRPr b="0" i="0" sz="105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 txBox="1"/>
          <p:nvPr/>
        </p:nvSpPr>
        <p:spPr>
          <a:xfrm>
            <a:off x="4660849" y="2476500"/>
            <a:ext cx="28701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THROWS JS TYPEERROR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Unsafe Error Access</a:t>
            </a:r>
            <a:endParaRPr b="1" i="0" sz="1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Browser crashes trying to read properties on bad requests.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UNHANDLED ACCESS</a:t>
            </a:r>
            <a:endParaRPr b="1" i="0" sz="8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TypeError: Cannot read properties</a:t>
            </a:r>
            <a:endParaRPr b="0" i="0" sz="900" u="none" cap="none" strike="noStrike">
              <a:solidFill>
                <a:srgbClr val="F871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5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data.details.reason</a:t>
            </a:r>
            <a:endParaRPr b="0" i="0" sz="105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 txBox="1"/>
          <p:nvPr/>
        </p:nvSpPr>
        <p:spPr>
          <a:xfrm>
            <a:off x="8292998" y="2476500"/>
            <a:ext cx="28701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SECURITY VULNERABILITY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Hardcoded Secret</a:t>
            </a:r>
            <a:endParaRPr b="1" i="0" sz="1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Stripe secret credentials committed directly inside backend file.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EXPOSED FILE</a:t>
            </a:r>
            <a:endParaRPr b="1" i="0" sz="8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Location:</a:t>
            </a: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server.js</a:t>
            </a:r>
            <a:endParaRPr b="0" i="0" sz="105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⚠️ API Key hardcoded in source</a:t>
            </a:r>
            <a:endParaRPr b="0" i="0" sz="900" u="none" cap="none" strike="noStrike">
              <a:solidFill>
                <a:srgbClr val="EF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4" title="undp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/>
          <p:nvPr/>
        </p:nvSpPr>
        <p:spPr>
          <a:xfrm>
            <a:off x="762000" y="1905000"/>
            <a:ext cx="2495700" cy="4191000"/>
          </a:xfrm>
          <a:prstGeom prst="roundRect">
            <a:avLst>
              <a:gd fmla="val 4580" name="adj"/>
            </a:avLst>
          </a:prstGeom>
          <a:solidFill>
            <a:srgbClr val="131B2E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3486150" y="1905000"/>
            <a:ext cx="2495700" cy="4191000"/>
          </a:xfrm>
          <a:prstGeom prst="roundRect">
            <a:avLst>
              <a:gd fmla="val 4580" name="adj"/>
            </a:avLst>
          </a:prstGeom>
          <a:solidFill>
            <a:srgbClr val="131B2E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210300" y="1905000"/>
            <a:ext cx="2495700" cy="4191000"/>
          </a:xfrm>
          <a:prstGeom prst="roundRect">
            <a:avLst>
              <a:gd fmla="val 4580" name="adj"/>
            </a:avLst>
          </a:prstGeom>
          <a:solidFill>
            <a:srgbClr val="131B2E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8934450" y="1905000"/>
            <a:ext cx="2495700" cy="4191000"/>
          </a:xfrm>
          <a:prstGeom prst="roundRect">
            <a:avLst>
              <a:gd fmla="val 4580" name="adj"/>
            </a:avLst>
          </a:prstGeom>
          <a:solidFill>
            <a:srgbClr val="131B2E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762000" y="53340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EXECUTION BLUEPRINT</a:t>
            </a:r>
            <a:endParaRPr b="1" i="0" sz="105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762000" y="800100"/>
            <a:ext cx="10668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4-Step Autonomous Debugging Loop</a:t>
            </a:r>
            <a:endParaRPr b="1" i="0" sz="2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990600" y="2133600"/>
            <a:ext cx="2038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 b="1" i="0" sz="10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990600" y="2400300"/>
            <a:ext cx="2038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Trigger Failure</a:t>
            </a:r>
            <a:endParaRPr b="1" i="0" sz="1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990600" y="2819400"/>
            <a:ext cx="20385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Run test suite locally to capture and confirm the exact error condition.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3714750" y="2133600"/>
            <a:ext cx="2038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 b="1" i="0" sz="10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5"/>
          <p:cNvSpPr txBox="1"/>
          <p:nvPr/>
        </p:nvSpPr>
        <p:spPr>
          <a:xfrm>
            <a:off x="3714750" y="2400300"/>
            <a:ext cx="2038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Prompt</a:t>
            </a:r>
            <a:endParaRPr b="1" i="0" sz="1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4" name="Google Shape;254;p5"/>
          <p:cNvSpPr txBox="1"/>
          <p:nvPr/>
        </p:nvSpPr>
        <p:spPr>
          <a:xfrm>
            <a:off x="3714750" y="2819400"/>
            <a:ext cx="20385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Feed test error output alongside </a:t>
            </a:r>
            <a:r>
              <a:rPr b="0" i="0" lang="en-US" sz="1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server.js</a:t>
            </a: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script.js</a:t>
            </a: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directly into your AI assistant.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5"/>
          <p:cNvSpPr txBox="1"/>
          <p:nvPr/>
        </p:nvSpPr>
        <p:spPr>
          <a:xfrm>
            <a:off x="6438900" y="2133600"/>
            <a:ext cx="2038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 b="1" i="0" sz="10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6438900" y="2400300"/>
            <a:ext cx="2038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Apply &amp; Verify</a:t>
            </a:r>
            <a:endParaRPr b="1" i="0" sz="1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6438900" y="2819400"/>
            <a:ext cx="20385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Patch schema keys, run tests to confirm all tests turn green.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9163050" y="2133600"/>
            <a:ext cx="2038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 b="1" i="0" sz="10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9163050" y="2400300"/>
            <a:ext cx="2038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 &amp; Report</a:t>
            </a:r>
            <a:endParaRPr b="1" i="0" sz="1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9163050" y="2819400"/>
            <a:ext cx="20385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Scan for leaked API keys and document resolution steps in </a:t>
            </a:r>
            <a:r>
              <a:rPr b="0" i="0" lang="en-US" sz="1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BUG_REPORT.md</a:t>
            </a: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1" name="Google Shape;261;p5"/>
          <p:cNvGrpSpPr/>
          <p:nvPr/>
        </p:nvGrpSpPr>
        <p:grpSpPr>
          <a:xfrm>
            <a:off x="990600" y="4572000"/>
            <a:ext cx="2038500" cy="1238400"/>
            <a:chOff x="0" y="0"/>
            <a:chExt cx="2038500" cy="1238400"/>
          </a:xfrm>
        </p:grpSpPr>
        <p:sp>
          <p:nvSpPr>
            <p:cNvPr id="262" name="Google Shape;262;p5"/>
            <p:cNvSpPr/>
            <p:nvPr/>
          </p:nvSpPr>
          <p:spPr>
            <a:xfrm>
              <a:off x="0" y="0"/>
              <a:ext cx="2038500" cy="12384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" name="Google Shape;263;p5"/>
            <p:cNvGrpSpPr/>
            <p:nvPr/>
          </p:nvGrpSpPr>
          <p:grpSpPr>
            <a:xfrm>
              <a:off x="133350" y="152400"/>
              <a:ext cx="838200" cy="228600"/>
              <a:chOff x="0" y="0"/>
              <a:chExt cx="838200" cy="228600"/>
            </a:xfrm>
          </p:grpSpPr>
          <p:sp>
            <p:nvSpPr>
              <p:cNvPr id="264" name="Google Shape;264;p5"/>
              <p:cNvSpPr/>
              <p:nvPr/>
            </p:nvSpPr>
            <p:spPr>
              <a:xfrm>
                <a:off x="0" y="0"/>
                <a:ext cx="838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5"/>
              <p:cNvSpPr txBox="1"/>
              <p:nvPr/>
            </p:nvSpPr>
            <p:spPr>
              <a:xfrm>
                <a:off x="76200" y="28575"/>
                <a:ext cx="685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b="1" i="0" lang="en-US" sz="950" u="none" cap="none" strike="noStrike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npm test</a:t>
                </a:r>
                <a:endParaRPr b="1" i="0" sz="950" u="none" cap="none" strike="noStrike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" name="Google Shape;266;p5"/>
            <p:cNvSpPr txBox="1"/>
            <p:nvPr/>
          </p:nvSpPr>
          <p:spPr>
            <a:xfrm>
              <a:off x="133350" y="495300"/>
              <a:ext cx="17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RESULT</a:t>
              </a:r>
              <a:endParaRPr b="1" i="0" sz="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⚠️ 400 Bad Request</a:t>
              </a:r>
              <a:endParaRPr b="1" i="0" sz="9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7" name="Google Shape;267;p5"/>
          <p:cNvGrpSpPr/>
          <p:nvPr/>
        </p:nvGrpSpPr>
        <p:grpSpPr>
          <a:xfrm>
            <a:off x="3714750" y="4572000"/>
            <a:ext cx="2038500" cy="1238400"/>
            <a:chOff x="0" y="0"/>
            <a:chExt cx="2038500" cy="1238400"/>
          </a:xfrm>
        </p:grpSpPr>
        <p:sp>
          <p:nvSpPr>
            <p:cNvPr id="268" name="Google Shape;268;p5"/>
            <p:cNvSpPr/>
            <p:nvPr/>
          </p:nvSpPr>
          <p:spPr>
            <a:xfrm>
              <a:off x="0" y="0"/>
              <a:ext cx="2038500" cy="12384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5"/>
            <p:cNvSpPr txBox="1"/>
            <p:nvPr/>
          </p:nvSpPr>
          <p:spPr>
            <a:xfrm>
              <a:off x="133350" y="133350"/>
              <a:ext cx="1771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PROMPT INPUTS</a:t>
              </a:r>
              <a:endParaRPr b="1" i="0" sz="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📄 server.js</a:t>
              </a:r>
              <a:endParaRPr b="0" i="0" sz="9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📄 script.js</a:t>
              </a:r>
              <a:endParaRPr b="0" i="0" sz="9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F87171"/>
                  </a:solidFill>
                  <a:latin typeface="Arial"/>
                  <a:ea typeface="Arial"/>
                  <a:cs typeface="Arial"/>
                  <a:sym typeface="Arial"/>
                </a:rPr>
                <a:t>⚠️ error.log</a:t>
              </a:r>
              <a:endParaRPr b="0" i="0" sz="9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5"/>
          <p:cNvGrpSpPr/>
          <p:nvPr/>
        </p:nvGrpSpPr>
        <p:grpSpPr>
          <a:xfrm>
            <a:off x="6438900" y="4572000"/>
            <a:ext cx="2038500" cy="1238400"/>
            <a:chOff x="0" y="0"/>
            <a:chExt cx="2038500" cy="1238400"/>
          </a:xfrm>
        </p:grpSpPr>
        <p:sp>
          <p:nvSpPr>
            <p:cNvPr id="271" name="Google Shape;271;p5"/>
            <p:cNvSpPr/>
            <p:nvPr/>
          </p:nvSpPr>
          <p:spPr>
            <a:xfrm>
              <a:off x="0" y="0"/>
              <a:ext cx="2038500" cy="12384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5"/>
            <p:cNvGrpSpPr/>
            <p:nvPr/>
          </p:nvGrpSpPr>
          <p:grpSpPr>
            <a:xfrm>
              <a:off x="133350" y="152400"/>
              <a:ext cx="838200" cy="228600"/>
              <a:chOff x="0" y="0"/>
              <a:chExt cx="838200" cy="228600"/>
            </a:xfrm>
          </p:grpSpPr>
          <p:sp>
            <p:nvSpPr>
              <p:cNvPr id="273" name="Google Shape;273;p5"/>
              <p:cNvSpPr/>
              <p:nvPr/>
            </p:nvSpPr>
            <p:spPr>
              <a:xfrm>
                <a:off x="0" y="0"/>
                <a:ext cx="838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5"/>
              <p:cNvSpPr txBox="1"/>
              <p:nvPr/>
            </p:nvSpPr>
            <p:spPr>
              <a:xfrm>
                <a:off x="76200" y="28575"/>
                <a:ext cx="685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b="1" i="0" lang="en-US" sz="950" u="none" cap="none" strike="noStrike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npm test</a:t>
                </a:r>
                <a:endParaRPr b="1" i="0" sz="950" u="none" cap="none" strike="noStrike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5" name="Google Shape;275;p5"/>
            <p:cNvSpPr txBox="1"/>
            <p:nvPr/>
          </p:nvSpPr>
          <p:spPr>
            <a:xfrm>
              <a:off x="133350" y="495300"/>
              <a:ext cx="17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RESULT</a:t>
              </a:r>
              <a:endParaRPr b="1" i="0" sz="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4ADE80"/>
                  </a:solidFill>
                  <a:latin typeface="Inter"/>
                  <a:ea typeface="Inter"/>
                  <a:cs typeface="Inter"/>
                  <a:sym typeface="Inter"/>
                </a:rPr>
                <a:t>✓ 2 Passed Tests</a:t>
              </a:r>
              <a:endParaRPr b="1" i="0" sz="95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5"/>
          <p:cNvGrpSpPr/>
          <p:nvPr/>
        </p:nvGrpSpPr>
        <p:grpSpPr>
          <a:xfrm>
            <a:off x="9163050" y="4572000"/>
            <a:ext cx="2038500" cy="1238400"/>
            <a:chOff x="0" y="0"/>
            <a:chExt cx="2038500" cy="1238400"/>
          </a:xfrm>
        </p:grpSpPr>
        <p:sp>
          <p:nvSpPr>
            <p:cNvPr id="277" name="Google Shape;277;p5"/>
            <p:cNvSpPr/>
            <p:nvPr/>
          </p:nvSpPr>
          <p:spPr>
            <a:xfrm>
              <a:off x="0" y="0"/>
              <a:ext cx="2038500" cy="12384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5"/>
            <p:cNvSpPr txBox="1"/>
            <p:nvPr/>
          </p:nvSpPr>
          <p:spPr>
            <a:xfrm>
              <a:off x="133350" y="133350"/>
              <a:ext cx="1771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OUTPUT ARTIFACT</a:t>
              </a:r>
              <a:endParaRPr b="1" i="0" sz="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📝 BUG_REPORT.md</a:t>
              </a:r>
              <a:endParaRPr b="1" i="0" sz="9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✓ Leaked keys audited</a:t>
              </a:r>
              <a:endParaRPr b="0" i="0" sz="8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79" name="Google Shape;279;p5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6"/>
          <p:cNvGrpSpPr/>
          <p:nvPr/>
        </p:nvGrpSpPr>
        <p:grpSpPr>
          <a:xfrm>
            <a:off x="762000" y="1571625"/>
            <a:ext cx="4572000" cy="1200300"/>
            <a:chOff x="0" y="0"/>
            <a:chExt cx="4572000" cy="1200300"/>
          </a:xfrm>
        </p:grpSpPr>
        <p:sp>
          <p:nvSpPr>
            <p:cNvPr id="285" name="Google Shape;285;p6"/>
            <p:cNvSpPr/>
            <p:nvPr/>
          </p:nvSpPr>
          <p:spPr>
            <a:xfrm>
              <a:off x="0" y="0"/>
              <a:ext cx="4572000" cy="1200300"/>
            </a:xfrm>
            <a:prstGeom prst="roundRect">
              <a:avLst>
                <a:gd fmla="val 9523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0" y="0"/>
              <a:ext cx="38100" cy="1200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228600" y="2095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0284C7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6"/>
            <p:cNvSpPr txBox="1"/>
            <p:nvPr/>
          </p:nvSpPr>
          <p:spPr>
            <a:xfrm>
              <a:off x="228600" y="2095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</a:t>
              </a:r>
              <a:endParaRPr b="1" i="0" sz="1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9" name="Google Shape;289;p6"/>
            <p:cNvSpPr txBox="1"/>
            <p:nvPr/>
          </p:nvSpPr>
          <p:spPr>
            <a:xfrm>
              <a:off x="704850" y="190500"/>
              <a:ext cx="36195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1. The Concrete Symptom</a:t>
              </a:r>
              <a:endParaRPr b="1" i="0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Exact CLI error message or status code received.</a:t>
              </a:r>
              <a:endParaRPr b="0" i="0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0" name="Google Shape;290;p6"/>
          <p:cNvGrpSpPr/>
          <p:nvPr/>
        </p:nvGrpSpPr>
        <p:grpSpPr>
          <a:xfrm>
            <a:off x="762000" y="2962275"/>
            <a:ext cx="4572000" cy="1200300"/>
            <a:chOff x="0" y="0"/>
            <a:chExt cx="4572000" cy="1200300"/>
          </a:xfrm>
        </p:grpSpPr>
        <p:sp>
          <p:nvSpPr>
            <p:cNvPr id="291" name="Google Shape;291;p6"/>
            <p:cNvSpPr/>
            <p:nvPr/>
          </p:nvSpPr>
          <p:spPr>
            <a:xfrm>
              <a:off x="0" y="0"/>
              <a:ext cx="4572000" cy="1200300"/>
            </a:xfrm>
            <a:prstGeom prst="roundRect">
              <a:avLst>
                <a:gd fmla="val 9523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0" y="0"/>
              <a:ext cx="38100" cy="1200300"/>
            </a:xfrm>
            <a:prstGeom prst="roundRect">
              <a:avLst>
                <a:gd fmla="val 50000" name="adj"/>
              </a:avLst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228600" y="2095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6366F1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"/>
            <p:cNvSpPr txBox="1"/>
            <p:nvPr/>
          </p:nvSpPr>
          <p:spPr>
            <a:xfrm>
              <a:off x="228600" y="2095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818C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</a:t>
              </a:r>
              <a:endParaRPr b="1" i="0" sz="11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5" name="Google Shape;295;p6"/>
            <p:cNvSpPr txBox="1"/>
            <p:nvPr/>
          </p:nvSpPr>
          <p:spPr>
            <a:xfrm>
              <a:off x="704850" y="190500"/>
              <a:ext cx="36195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2. File Context Attachment</a:t>
              </a:r>
              <a:endParaRPr b="1" i="0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Both sides of the contract: requester &amp; receiver.</a:t>
              </a:r>
              <a:endParaRPr b="0" i="0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6" name="Google Shape;296;p6"/>
          <p:cNvGrpSpPr/>
          <p:nvPr/>
        </p:nvGrpSpPr>
        <p:grpSpPr>
          <a:xfrm>
            <a:off x="762000" y="4352925"/>
            <a:ext cx="4572000" cy="1200300"/>
            <a:chOff x="0" y="0"/>
            <a:chExt cx="4572000" cy="1200300"/>
          </a:xfrm>
        </p:grpSpPr>
        <p:sp>
          <p:nvSpPr>
            <p:cNvPr id="297" name="Google Shape;297;p6"/>
            <p:cNvSpPr/>
            <p:nvPr/>
          </p:nvSpPr>
          <p:spPr>
            <a:xfrm>
              <a:off x="0" y="0"/>
              <a:ext cx="4572000" cy="1200300"/>
            </a:xfrm>
            <a:prstGeom prst="roundRect">
              <a:avLst>
                <a:gd fmla="val 9523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0" y="0"/>
              <a:ext cx="38100" cy="1200300"/>
            </a:xfrm>
            <a:prstGeom prst="roundRect">
              <a:avLst>
                <a:gd fmla="val 5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228600" y="2095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10B981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"/>
            <p:cNvSpPr txBox="1"/>
            <p:nvPr/>
          </p:nvSpPr>
          <p:spPr>
            <a:xfrm>
              <a:off x="228600" y="2095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4D3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</a:t>
              </a:r>
              <a:endParaRPr b="1" i="0" sz="1100" u="none" cap="none" strike="noStrike">
                <a:solidFill>
                  <a:srgbClr val="34D3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1" name="Google Shape;301;p6"/>
            <p:cNvSpPr txBox="1"/>
            <p:nvPr/>
          </p:nvSpPr>
          <p:spPr>
            <a:xfrm>
              <a:off x="704850" y="190500"/>
              <a:ext cx="36195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3. Clear Constraints</a:t>
              </a:r>
              <a:endParaRPr b="1" i="0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Ask for root cause first, then minimal diff fix.</a:t>
              </a:r>
              <a:endParaRPr b="0" i="0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2" name="Google Shape;302;p6"/>
          <p:cNvGrpSpPr/>
          <p:nvPr/>
        </p:nvGrpSpPr>
        <p:grpSpPr>
          <a:xfrm>
            <a:off x="5715000" y="1571625"/>
            <a:ext cx="5715000" cy="3981600"/>
            <a:chOff x="0" y="0"/>
            <a:chExt cx="5715000" cy="3981600"/>
          </a:xfrm>
        </p:grpSpPr>
        <p:sp>
          <p:nvSpPr>
            <p:cNvPr id="303" name="Google Shape;303;p6"/>
            <p:cNvSpPr/>
            <p:nvPr/>
          </p:nvSpPr>
          <p:spPr>
            <a:xfrm>
              <a:off x="0" y="0"/>
              <a:ext cx="5715000" cy="3981600"/>
            </a:xfrm>
            <a:prstGeom prst="roundRect">
              <a:avLst>
                <a:gd fmla="val 2870" name="adj"/>
              </a:avLst>
            </a:prstGeom>
            <a:solidFill>
              <a:srgbClr val="030712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0" y="0"/>
              <a:ext cx="5715000" cy="419100"/>
            </a:xfrm>
            <a:custGeom>
              <a:rect b="b" l="l" r="r" t="t"/>
              <a:pathLst>
                <a:path extrusionOk="0" h="120000" w="120000">
                  <a:moveTo>
                    <a:pt x="0" y="32727"/>
                  </a:moveTo>
                  <a:cubicBezTo>
                    <a:pt x="0" y="14652"/>
                    <a:pt x="1075" y="0"/>
                    <a:pt x="2400" y="0"/>
                  </a:cubicBezTo>
                  <a:lnTo>
                    <a:pt x="117600" y="0"/>
                  </a:lnTo>
                  <a:cubicBezTo>
                    <a:pt x="118237" y="0"/>
                    <a:pt x="118847" y="3448"/>
                    <a:pt x="119297" y="9586"/>
                  </a:cubicBezTo>
                  <a:cubicBezTo>
                    <a:pt x="119747" y="15723"/>
                    <a:pt x="120000" y="24047"/>
                    <a:pt x="120000" y="3272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6"/>
            <p:cNvCxnSpPr/>
            <p:nvPr/>
          </p:nvCxnSpPr>
          <p:spPr>
            <a:xfrm>
              <a:off x="0" y="419100"/>
              <a:ext cx="571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6"/>
            <p:cNvSpPr/>
            <p:nvPr/>
          </p:nvSpPr>
          <p:spPr>
            <a:xfrm>
              <a:off x="180975" y="16192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333375" y="16192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485775" y="16192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6"/>
            <p:cNvSpPr txBox="1"/>
            <p:nvPr/>
          </p:nvSpPr>
          <p:spPr>
            <a:xfrm>
              <a:off x="762000" y="114300"/>
              <a:ext cx="419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PROMPT TEMPLATE TO COPY</a:t>
              </a:r>
              <a:endParaRPr b="1" i="0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6"/>
            <p:cNvSpPr txBox="1"/>
            <p:nvPr/>
          </p:nvSpPr>
          <p:spPr>
            <a:xfrm>
              <a:off x="266700" y="609600"/>
              <a:ext cx="51816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64748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</a:t>
              </a:r>
              <a:endParaRPr b="0" i="0" sz="950" u="none" cap="none" strike="noStrike">
                <a:solidFill>
                  <a:srgbClr val="64748B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When running </a:t>
              </a:r>
              <a:r>
                <a:rPr b="1" i="0" lang="en-US" sz="1100" u="none" cap="none" strike="noStrike">
                  <a:solidFill>
                    <a:srgbClr val="38BDF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npm test</a:t>
              </a:r>
              <a:r>
                <a:rPr b="0" i="0" lang="en-US" sz="11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I receive </a:t>
              </a:r>
              <a:r>
                <a:rPr b="1" i="0" lang="en-US" sz="1100" u="none" cap="none" strike="noStrike">
                  <a:solidFill>
                    <a:srgbClr val="F8717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Expected: 200, Received: 400</a:t>
              </a:r>
              <a:r>
                <a:rPr b="0" i="0" lang="en-US" sz="11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.</a:t>
              </a:r>
              <a:endParaRPr b="0" i="0" sz="1100" u="none" cap="none" strike="noStrike">
                <a:solidFill>
                  <a:srgbClr val="F8FAF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Refer to </a:t>
              </a:r>
              <a:r>
                <a:rPr b="1" i="0" lang="en-US" sz="1100" u="none" cap="none" strike="noStrike">
                  <a:solidFill>
                    <a:srgbClr val="818CF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server.js</a:t>
              </a:r>
              <a:r>
                <a:rPr b="0" i="0" lang="en-US" sz="11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and </a:t>
              </a:r>
              <a:r>
                <a:rPr b="1" i="0" lang="en-US" sz="1100" u="none" cap="none" strike="noStrike">
                  <a:solidFill>
                    <a:srgbClr val="818CF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public/script.js</a:t>
              </a:r>
              <a:r>
                <a:rPr b="0" i="0" lang="en-US" sz="11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:</a:t>
              </a:r>
              <a:endParaRPr b="0" i="0" sz="1100" u="none" cap="none" strike="noStrike">
                <a:solidFill>
                  <a:srgbClr val="F8FAF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94A3B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1.</a:t>
              </a:r>
              <a:r>
                <a:rPr b="0" i="0" lang="en-US" sz="1100" u="none" cap="none" strike="noStrike">
                  <a:solidFill>
                    <a:srgbClr val="34D39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Explain the schema mismatch between the client payload and server validation.</a:t>
              </a:r>
              <a:endParaRPr b="0" i="0" sz="1100" u="none" cap="none" strike="noStrike">
                <a:solidFill>
                  <a:srgbClr val="34D399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94A3B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2.</a:t>
              </a:r>
              <a:r>
                <a:rPr b="0" i="0" lang="en-US" sz="1100" u="none" cap="none" strike="noStrike">
                  <a:solidFill>
                    <a:srgbClr val="34D39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Provide the corrected frontend fetch payload.</a:t>
              </a:r>
              <a:endParaRPr b="0" i="0" sz="1100" u="none" cap="none" strike="noStrike">
                <a:solidFill>
                  <a:srgbClr val="34D399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94A3B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3.</a:t>
              </a:r>
              <a:r>
                <a:rPr b="0" i="0" lang="en-US" sz="1100" u="none" cap="none" strike="noStrike">
                  <a:solidFill>
                    <a:srgbClr val="34D39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Fix the unhandled TypeError in the UI error banner.</a:t>
              </a:r>
              <a:endParaRPr b="0" i="0" sz="1100" u="none" cap="none" strike="noStrike">
                <a:solidFill>
                  <a:srgbClr val="34D399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64748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"</a:t>
              </a:r>
              <a:endParaRPr b="0" i="0" sz="950" u="none" cap="none" strike="noStrike">
                <a:solidFill>
                  <a:srgbClr val="64748B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sp>
        <p:nvSpPr>
          <p:cNvPr id="311" name="Google Shape;311;p6"/>
          <p:cNvSpPr txBox="1"/>
          <p:nvPr/>
        </p:nvSpPr>
        <p:spPr>
          <a:xfrm>
            <a:off x="762000" y="49530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MASTERING AI PROMPTS</a:t>
            </a:r>
            <a:endParaRPr b="1" i="0" sz="105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762000" y="742950"/>
            <a:ext cx="10668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3-Part Context Prompting Formula</a:t>
            </a:r>
            <a:endParaRPr b="1" i="0" sz="2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13" name="Google Shape;313;p6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/>
          <p:nvPr/>
        </p:nvSpPr>
        <p:spPr>
          <a:xfrm>
            <a:off x="762000" y="1714500"/>
            <a:ext cx="4762500" cy="4381500"/>
          </a:xfrm>
          <a:prstGeom prst="roundRect">
            <a:avLst>
              <a:gd fmla="val 2608" name="adj"/>
            </a:avLst>
          </a:prstGeom>
          <a:solidFill>
            <a:srgbClr val="180A0E"/>
          </a:solidFill>
          <a:ln cap="flat" cmpd="sng" w="143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1066800" y="5143500"/>
            <a:ext cx="4152900" cy="609600"/>
          </a:xfrm>
          <a:prstGeom prst="roundRect">
            <a:avLst>
              <a:gd fmla="val 12500" name="adj"/>
            </a:avLst>
          </a:prstGeom>
          <a:solidFill>
            <a:srgbClr val="2A080C"/>
          </a:solidFill>
          <a:ln cap="flat" cmpd="sng" w="9525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5905500" y="1714500"/>
            <a:ext cx="5524500" cy="1295400"/>
          </a:xfrm>
          <a:prstGeom prst="roundRect">
            <a:avLst>
              <a:gd fmla="val 8823" name="adj"/>
            </a:avLst>
          </a:prstGeom>
          <a:solidFill>
            <a:srgbClr val="131B2E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5905500" y="3257550"/>
            <a:ext cx="5524500" cy="1295400"/>
          </a:xfrm>
          <a:prstGeom prst="roundRect">
            <a:avLst>
              <a:gd fmla="val 8823" name="adj"/>
            </a:avLst>
          </a:prstGeom>
          <a:solidFill>
            <a:srgbClr val="131B2E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5905500" y="4800600"/>
            <a:ext cx="5524500" cy="1295400"/>
          </a:xfrm>
          <a:prstGeom prst="roundRect">
            <a:avLst>
              <a:gd fmla="val 8823" name="adj"/>
            </a:avLst>
          </a:prstGeom>
          <a:solidFill>
            <a:srgbClr val="131B2E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762000" y="49530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SECURITY OBJECTIVE</a:t>
            </a:r>
            <a:endParaRPr b="1" i="0" sz="105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762000" y="742950"/>
            <a:ext cx="10668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Detecting Committed Secrets &amp; Credentials</a:t>
            </a:r>
            <a:endParaRPr b="1" i="0" sz="2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5" name="Google Shape;325;p7"/>
          <p:cNvSpPr txBox="1"/>
          <p:nvPr/>
        </p:nvSpPr>
        <p:spPr>
          <a:xfrm>
            <a:off x="1066800" y="2019300"/>
            <a:ext cx="41529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⚠️ CRITICAL VULNERABILITY</a:t>
            </a:r>
            <a:endParaRPr b="1" i="0" sz="950" u="none" cap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1066800" y="2362200"/>
            <a:ext cx="41529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ECACA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Hardcoded Stripe Secret</a:t>
            </a:r>
            <a:endParaRPr b="1" i="0" sz="2000" u="none" cap="none" strike="noStrike">
              <a:solidFill>
                <a:srgbClr val="FECAC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7" name="Google Shape;327;p7"/>
          <p:cNvSpPr txBox="1"/>
          <p:nvPr/>
        </p:nvSpPr>
        <p:spPr>
          <a:xfrm>
            <a:off x="1066800" y="2857500"/>
            <a:ext cx="41529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Storing production or test API keys directly in source files risks continuous repository scanning bots and unauthorized financial charges.</a:t>
            </a:r>
            <a:endParaRPr b="0" i="0" sz="1100" u="none" cap="none" strike="noStrike">
              <a:solidFill>
                <a:srgbClr val="FCA5A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1219200" y="5238750"/>
            <a:ext cx="38481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Space Mono"/>
                <a:ea typeface="Space Mono"/>
                <a:cs typeface="Space Mono"/>
                <a:sym typeface="Space Mono"/>
              </a:rPr>
              <a:t>const</a:t>
            </a:r>
            <a:r>
              <a:rPr b="0" i="0" lang="en-US" sz="1050" u="none" cap="none" strike="noStrike">
                <a:solidFill>
                  <a:srgbClr val="FCA5A5"/>
                </a:solidFill>
                <a:latin typeface="Space Mono"/>
                <a:ea typeface="Space Mono"/>
                <a:cs typeface="Space Mono"/>
                <a:sym typeface="Space Mono"/>
              </a:rPr>
              <a:t> STRIPE_SECRET_KEY = </a:t>
            </a:r>
            <a:r>
              <a:rPr b="0" i="0" lang="en-US" sz="105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"sk_test_51Mz..."</a:t>
            </a:r>
            <a:r>
              <a:rPr b="0" i="0" lang="en-US" sz="1050" u="none" cap="none" strike="noStrike">
                <a:solidFill>
                  <a:srgbClr val="FCA5A5"/>
                </a:solidFill>
                <a:latin typeface="Space Mono"/>
                <a:ea typeface="Space Mono"/>
                <a:cs typeface="Space Mono"/>
                <a:sym typeface="Space Mono"/>
              </a:rPr>
              <a:t>;</a:t>
            </a:r>
            <a:endParaRPr b="0" i="0" sz="1050" u="none" cap="none" strike="noStrike">
              <a:solidFill>
                <a:srgbClr val="FCA5A5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6553200" y="1962150"/>
            <a:ext cx="45720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AI Audit Prompt</a:t>
            </a:r>
            <a:endParaRPr b="1" i="0" sz="15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6553200" y="2305050"/>
            <a:ext cx="4572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Ask AI: </a:t>
            </a:r>
            <a:r>
              <a:rPr b="0" i="1" lang="en-US" sz="11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"Scan server.js for security anti-patterns and leaked secrets."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7"/>
          <p:cNvSpPr txBox="1"/>
          <p:nvPr/>
        </p:nvSpPr>
        <p:spPr>
          <a:xfrm>
            <a:off x="6553200" y="3505200"/>
            <a:ext cx="45720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Environment Isolation</a:t>
            </a:r>
            <a:endParaRPr b="1" i="0" sz="15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6553200" y="3848100"/>
            <a:ext cx="457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Extract keys into a local </a:t>
            </a:r>
            <a:r>
              <a:rPr b="1" i="0" lang="en-US" sz="11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.env</a:t>
            </a: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file accessed safely via </a:t>
            </a:r>
            <a:r>
              <a:rPr b="0" i="0" lang="en-US" sz="11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process.env</a:t>
            </a: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7"/>
          <p:cNvSpPr txBox="1"/>
          <p:nvPr/>
        </p:nvSpPr>
        <p:spPr>
          <a:xfrm>
            <a:off x="6553200" y="5048250"/>
            <a:ext cx="45720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Git Ignore Verification</a:t>
            </a:r>
            <a:endParaRPr b="1" i="0" sz="15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4" name="Google Shape;334;p7"/>
          <p:cNvSpPr txBox="1"/>
          <p:nvPr/>
        </p:nvSpPr>
        <p:spPr>
          <a:xfrm>
            <a:off x="6553200" y="5391150"/>
            <a:ext cx="4572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Ensure </a:t>
            </a:r>
            <a:r>
              <a:rPr b="1" i="0" lang="en-US" sz="11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.env</a:t>
            </a: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explicitly listed inside </a:t>
            </a:r>
            <a:r>
              <a:rPr b="0" i="0" lang="en-US" sz="11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.gitignore</a:t>
            </a: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before committing.</a:t>
            </a:r>
            <a:endParaRPr b="0" i="0" sz="11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6057900" y="196215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0284C7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6057900" y="19621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1" i="0" sz="1200" u="none" cap="none" strike="noStrike">
              <a:solidFill>
                <a:srgbClr val="38BD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6057900" y="350520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6057900" y="35052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1" i="0" sz="1200" u="none" cap="none" strike="noStrike">
              <a:solidFill>
                <a:srgbClr val="818CF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6057900" y="504825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6057900" y="50482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1" i="0" sz="1200" u="none" cap="none" strike="noStrike">
              <a:solidFill>
                <a:srgbClr val="34D399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5905500" y="1714500"/>
            <a:ext cx="38100" cy="12954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5905500" y="3257550"/>
            <a:ext cx="38100" cy="1295400"/>
          </a:xfrm>
          <a:prstGeom prst="roundRect">
            <a:avLst>
              <a:gd fmla="val 50000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5905500" y="4800600"/>
            <a:ext cx="38100" cy="1295400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762000" y="1714500"/>
            <a:ext cx="38100" cy="4381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7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8"/>
          <p:cNvGrpSpPr/>
          <p:nvPr/>
        </p:nvGrpSpPr>
        <p:grpSpPr>
          <a:xfrm>
            <a:off x="762000" y="1524000"/>
            <a:ext cx="4953000" cy="952500"/>
            <a:chOff x="0" y="0"/>
            <a:chExt cx="4953000" cy="952500"/>
          </a:xfrm>
        </p:grpSpPr>
        <p:sp>
          <p:nvSpPr>
            <p:cNvPr id="351" name="Google Shape;351;p8"/>
            <p:cNvSpPr/>
            <p:nvPr/>
          </p:nvSpPr>
          <p:spPr>
            <a:xfrm>
              <a:off x="0" y="0"/>
              <a:ext cx="4953000" cy="952500"/>
            </a:xfrm>
            <a:prstGeom prst="roundRect">
              <a:avLst>
                <a:gd fmla="val 10000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90500" y="1714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0284C7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8"/>
            <p:cNvSpPr txBox="1"/>
            <p:nvPr/>
          </p:nvSpPr>
          <p:spPr>
            <a:xfrm>
              <a:off x="190500" y="1714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</a:t>
              </a:r>
              <a:endParaRPr b="1" i="0" sz="1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5" name="Google Shape;355;p8"/>
            <p:cNvSpPr txBox="1"/>
            <p:nvPr/>
          </p:nvSpPr>
          <p:spPr>
            <a:xfrm>
              <a:off x="685800" y="171450"/>
              <a:ext cx="40767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Table of Identified Issues</a:t>
              </a:r>
              <a:endParaRPr b="1" i="0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File names, lines, and root causes.</a:t>
              </a:r>
              <a:endParaRPr b="0" i="0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6" name="Google Shape;356;p8"/>
          <p:cNvGrpSpPr/>
          <p:nvPr/>
        </p:nvGrpSpPr>
        <p:grpSpPr>
          <a:xfrm>
            <a:off x="762000" y="2628900"/>
            <a:ext cx="4953000" cy="952500"/>
            <a:chOff x="0" y="0"/>
            <a:chExt cx="4953000" cy="9525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0"/>
              <a:ext cx="4953000" cy="952500"/>
            </a:xfrm>
            <a:prstGeom prst="roundRect">
              <a:avLst>
                <a:gd fmla="val 10000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818C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190500" y="1714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6366F1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190500" y="1714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818C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</a:t>
              </a:r>
              <a:endParaRPr b="1" i="0" sz="11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1" name="Google Shape;361;p8"/>
            <p:cNvSpPr txBox="1"/>
            <p:nvPr/>
          </p:nvSpPr>
          <p:spPr>
            <a:xfrm>
              <a:off x="685800" y="171450"/>
              <a:ext cx="40767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AI Prompt Log</a:t>
              </a:r>
              <a:endParaRPr b="1" i="0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Exact prompts used to solve the problems.</a:t>
              </a:r>
              <a:endParaRPr b="0" i="0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2" name="Google Shape;362;p8"/>
          <p:cNvGrpSpPr/>
          <p:nvPr/>
        </p:nvGrpSpPr>
        <p:grpSpPr>
          <a:xfrm>
            <a:off x="762000" y="3733800"/>
            <a:ext cx="4953000" cy="952500"/>
            <a:chOff x="0" y="0"/>
            <a:chExt cx="4953000" cy="95250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4953000" cy="952500"/>
            </a:xfrm>
            <a:prstGeom prst="roundRect">
              <a:avLst>
                <a:gd fmla="val 10000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190500" y="1714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10B981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8"/>
            <p:cNvSpPr txBox="1"/>
            <p:nvPr/>
          </p:nvSpPr>
          <p:spPr>
            <a:xfrm>
              <a:off x="190500" y="1714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4D3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</a:t>
              </a:r>
              <a:endParaRPr b="1" i="0" sz="1100" u="none" cap="none" strike="noStrike">
                <a:solidFill>
                  <a:srgbClr val="34D39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7" name="Google Shape;367;p8"/>
            <p:cNvSpPr txBox="1"/>
            <p:nvPr/>
          </p:nvSpPr>
          <p:spPr>
            <a:xfrm>
              <a:off x="685800" y="171450"/>
              <a:ext cx="40767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Fixes Checklist</a:t>
              </a:r>
              <a:endParaRPr b="1" i="0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Payload fixed, safe error access, env variable set.</a:t>
              </a:r>
              <a:endParaRPr b="0" i="0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8" name="Google Shape;368;p8"/>
          <p:cNvGrpSpPr/>
          <p:nvPr/>
        </p:nvGrpSpPr>
        <p:grpSpPr>
          <a:xfrm>
            <a:off x="762000" y="4838700"/>
            <a:ext cx="4953000" cy="952500"/>
            <a:chOff x="0" y="0"/>
            <a:chExt cx="4953000" cy="952500"/>
          </a:xfrm>
        </p:grpSpPr>
        <p:sp>
          <p:nvSpPr>
            <p:cNvPr id="369" name="Google Shape;369;p8"/>
            <p:cNvSpPr/>
            <p:nvPr/>
          </p:nvSpPr>
          <p:spPr>
            <a:xfrm>
              <a:off x="0" y="0"/>
              <a:ext cx="4953000" cy="952500"/>
            </a:xfrm>
            <a:prstGeom prst="roundRect">
              <a:avLst>
                <a:gd fmla="val 10000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190500" y="1714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F43F5E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8"/>
            <p:cNvSpPr txBox="1"/>
            <p:nvPr/>
          </p:nvSpPr>
          <p:spPr>
            <a:xfrm>
              <a:off x="190500" y="1714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43F5E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</a:t>
              </a:r>
              <a:endParaRPr b="1" i="0" sz="11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3" name="Google Shape;373;p8"/>
            <p:cNvSpPr txBox="1"/>
            <p:nvPr/>
          </p:nvSpPr>
          <p:spPr>
            <a:xfrm>
              <a:off x="685800" y="171450"/>
              <a:ext cx="40767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Final Terminal Output</a:t>
              </a:r>
              <a:endParaRPr b="1" i="0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Copy-pasted passing Jest test suite logs.</a:t>
              </a:r>
              <a:endParaRPr b="0" i="0" sz="10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4" name="Google Shape;374;p8"/>
          <p:cNvGrpSpPr/>
          <p:nvPr/>
        </p:nvGrpSpPr>
        <p:grpSpPr>
          <a:xfrm>
            <a:off x="6000750" y="1524000"/>
            <a:ext cx="5429400" cy="4267200"/>
            <a:chOff x="0" y="0"/>
            <a:chExt cx="5429400" cy="4267200"/>
          </a:xfrm>
        </p:grpSpPr>
        <p:sp>
          <p:nvSpPr>
            <p:cNvPr id="375" name="Google Shape;375;p8"/>
            <p:cNvSpPr/>
            <p:nvPr/>
          </p:nvSpPr>
          <p:spPr>
            <a:xfrm>
              <a:off x="0" y="0"/>
              <a:ext cx="5429400" cy="4267200"/>
            </a:xfrm>
            <a:prstGeom prst="roundRect">
              <a:avLst>
                <a:gd fmla="val 2678" name="adj"/>
              </a:avLst>
            </a:prstGeom>
            <a:solidFill>
              <a:srgbClr val="030712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0" y="0"/>
              <a:ext cx="5429400" cy="400200"/>
            </a:xfrm>
            <a:custGeom>
              <a:rect b="b" l="l" r="r" t="t"/>
              <a:pathLst>
                <a:path extrusionOk="0" h="120000" w="120000">
                  <a:moveTo>
                    <a:pt x="0" y="34286"/>
                  </a:moveTo>
                  <a:cubicBezTo>
                    <a:pt x="0" y="15343"/>
                    <a:pt x="1131" y="0"/>
                    <a:pt x="2526" y="0"/>
                  </a:cubicBezTo>
                  <a:lnTo>
                    <a:pt x="117474" y="0"/>
                  </a:lnTo>
                  <a:cubicBezTo>
                    <a:pt x="118869" y="0"/>
                    <a:pt x="120000" y="15343"/>
                    <a:pt x="120000" y="34286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7" name="Google Shape;377;p8"/>
            <p:cNvCxnSpPr/>
            <p:nvPr/>
          </p:nvCxnSpPr>
          <p:spPr>
            <a:xfrm>
              <a:off x="0" y="4000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8" name="Google Shape;378;p8"/>
            <p:cNvSpPr/>
            <p:nvPr/>
          </p:nvSpPr>
          <p:spPr>
            <a:xfrm>
              <a:off x="12382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27622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42862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"/>
            <p:cNvSpPr txBox="1"/>
            <p:nvPr/>
          </p:nvSpPr>
          <p:spPr>
            <a:xfrm>
              <a:off x="762000" y="104775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EXPECTED FINAL TEST LOG</a:t>
              </a:r>
              <a:endParaRPr b="1" i="0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2" name="Google Shape;382;p8"/>
            <p:cNvSpPr txBox="1"/>
            <p:nvPr/>
          </p:nvSpPr>
          <p:spPr>
            <a:xfrm>
              <a:off x="228600" y="571500"/>
              <a:ext cx="4972200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4ADE8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PASS</a:t>
              </a:r>
              <a:r>
                <a:rPr b="0" i="0" lang="en-US" sz="1000" u="none" cap="none" strike="noStrike">
                  <a:solidFill>
                    <a:srgbClr val="94A3B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b="1" i="0" lang="en-US" sz="10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tests/donation.test.js</a:t>
              </a:r>
              <a:endParaRPr b="0" i="0" sz="1000" u="none" cap="none" strike="noStrike">
                <a:solidFill>
                  <a:srgbClr val="94A3B8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Donation API Verification</a:t>
              </a:r>
              <a:endParaRPr b="1" i="0" sz="1000" u="none" cap="none" strike="noStrike">
                <a:solidFill>
                  <a:srgbClr val="F8FAFC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4ADE8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✓ </a:t>
              </a:r>
              <a:r>
                <a:rPr b="0" i="0" lang="en-US" sz="1000" u="none" cap="none" strike="noStrike">
                  <a:solidFill>
                    <a:srgbClr val="CBD5E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should reject requests with missing donor name</a:t>
              </a:r>
              <a:endParaRPr b="0" i="0" sz="1000" u="none" cap="none" strike="noStrike">
                <a:solidFill>
                  <a:srgbClr val="4ADE80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4ADE8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✓ </a:t>
              </a:r>
              <a:r>
                <a:rPr b="0" i="0" lang="en-US" sz="1000" u="none" cap="none" strike="noStrike">
                  <a:solidFill>
                    <a:srgbClr val="CBD5E1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should successfully process a donation payload</a:t>
              </a:r>
              <a:endParaRPr b="0" i="0" sz="1000" u="none" cap="none" strike="noStrike">
                <a:solidFill>
                  <a:srgbClr val="4ADE80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Test Suites: </a:t>
              </a:r>
              <a:r>
                <a:rPr b="1" i="0" lang="en-US" sz="1000" u="none" cap="none" strike="noStrike">
                  <a:solidFill>
                    <a:srgbClr val="4ADE8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1 passed</a:t>
              </a:r>
              <a:r>
                <a:rPr b="0" i="0" lang="en-US" sz="1000" u="none" cap="none" strike="noStrike">
                  <a:solidFill>
                    <a:srgbClr val="94A3B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1 total</a:t>
              </a:r>
              <a:endParaRPr b="0" i="0" sz="1000" u="none" cap="none" strike="noStrike">
                <a:solidFill>
                  <a:srgbClr val="94A3B8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Tests: </a:t>
              </a:r>
              <a:r>
                <a:rPr b="1" i="0" lang="en-US" sz="1000" u="none" cap="none" strike="noStrike">
                  <a:solidFill>
                    <a:srgbClr val="4ADE8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2 passed</a:t>
              </a:r>
              <a:r>
                <a:rPr b="0" i="0" lang="en-US" sz="1000" u="none" cap="none" strike="noStrike">
                  <a:solidFill>
                    <a:srgbClr val="94A3B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, 2 total</a:t>
              </a:r>
              <a:endParaRPr b="0" i="0" sz="1000" u="none" cap="none" strike="noStrike">
                <a:solidFill>
                  <a:srgbClr val="94A3B8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Snapshots: </a:t>
              </a:r>
              <a:r>
                <a:rPr b="0" i="0" lang="en-US" sz="1000" u="none" cap="none" strike="noStrike">
                  <a:solidFill>
                    <a:srgbClr val="94A3B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 total</a:t>
              </a:r>
              <a:endParaRPr b="0" i="0" sz="1000" u="none" cap="none" strike="noStrike">
                <a:solidFill>
                  <a:srgbClr val="94A3B8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8FAFC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Time: </a:t>
              </a:r>
              <a:r>
                <a:rPr b="0" i="0" lang="en-US" sz="1000" u="none" cap="none" strike="noStrike">
                  <a:solidFill>
                    <a:srgbClr val="F59E0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0.812 s</a:t>
              </a:r>
              <a:endParaRPr b="0" i="0" sz="1000" u="none" cap="none" strike="noStrike">
                <a:solidFill>
                  <a:srgbClr val="94A3B8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1" lang="en-US" sz="850" u="none" cap="none" strike="noStrike">
                  <a:solidFill>
                    <a:srgbClr val="64748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Ran all test suites matching /donation.test.js/i.</a:t>
              </a:r>
              <a:endParaRPr b="0" i="1" sz="850" u="none" cap="none" strike="noStrike">
                <a:solidFill>
                  <a:srgbClr val="64748B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sp>
        <p:nvSpPr>
          <p:cNvPr id="383" name="Google Shape;383;p8"/>
          <p:cNvSpPr txBox="1"/>
          <p:nvPr/>
        </p:nvSpPr>
        <p:spPr>
          <a:xfrm>
            <a:off x="762000" y="495300"/>
            <a:ext cx="10668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STUDENT DELIVERABLE</a:t>
            </a:r>
            <a:endParaRPr b="1" i="0" sz="105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762000" y="742950"/>
            <a:ext cx="10668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Filling Out BUG_REPORT.md</a:t>
            </a:r>
            <a:endParaRPr b="1" i="0" sz="2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85" name="Google Shape;385;p8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"/>
          <p:cNvSpPr txBox="1"/>
          <p:nvPr/>
        </p:nvSpPr>
        <p:spPr>
          <a:xfrm>
            <a:off x="762000" y="4953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ACTION ITEM</a:t>
            </a:r>
            <a:endParaRPr b="1" i="0" sz="105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762000" y="742950"/>
            <a:ext cx="1066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Launch Codespaces &amp; Begin Lab</a:t>
            </a:r>
            <a:endParaRPr b="1" i="0" sz="2800" u="none" cap="none" strike="noStrike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92" name="Google Shape;392;p9"/>
          <p:cNvGrpSpPr/>
          <p:nvPr/>
        </p:nvGrpSpPr>
        <p:grpSpPr>
          <a:xfrm>
            <a:off x="762000" y="1619250"/>
            <a:ext cx="4953000" cy="1905000"/>
            <a:chOff x="0" y="0"/>
            <a:chExt cx="4953000" cy="1905000"/>
          </a:xfrm>
        </p:grpSpPr>
        <p:sp>
          <p:nvSpPr>
            <p:cNvPr id="393" name="Google Shape;393;p9"/>
            <p:cNvSpPr/>
            <p:nvPr/>
          </p:nvSpPr>
          <p:spPr>
            <a:xfrm>
              <a:off x="0" y="0"/>
              <a:ext cx="4953000" cy="1905000"/>
            </a:xfrm>
            <a:prstGeom prst="roundRect">
              <a:avLst>
                <a:gd fmla="val 6000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0" y="0"/>
              <a:ext cx="38100" cy="19050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"/>
            <p:cNvSpPr txBox="1"/>
            <p:nvPr/>
          </p:nvSpPr>
          <p:spPr>
            <a:xfrm>
              <a:off x="304800" y="266700"/>
              <a:ext cx="43434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9"/>
                <a:buFont typeface="Arial"/>
                <a:buNone/>
              </a:pPr>
              <a:r>
                <a:rPr b="1" i="0" lang="en-US" sz="879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REPOSITORY LINK</a:t>
              </a:r>
              <a:endParaRPr b="1" i="0" sz="879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203"/>
                <a:buFont typeface="Arial"/>
                <a:buNone/>
              </a:pPr>
              <a:r>
                <a:rPr b="1" i="0" lang="en-US" sz="1203" u="none" cap="none" strike="noStrike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Interactive Coding Lab</a:t>
              </a:r>
              <a:endParaRPr b="1" i="0" sz="1203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925"/>
                <a:buFont typeface="Arial"/>
                <a:buNone/>
              </a:pPr>
              <a:r>
                <a:rPr b="1" i="0" lang="en-US" sz="925" u="none" cap="none" strike="noStrike">
                  <a:solidFill>
                    <a:srgbClr val="38BDF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github.com/shakila-alam-aishy/session-7-donation-bug-lab</a:t>
              </a:r>
              <a:endParaRPr b="1" i="0" sz="925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396" name="Google Shape;396;p9"/>
          <p:cNvGrpSpPr/>
          <p:nvPr/>
        </p:nvGrpSpPr>
        <p:grpSpPr>
          <a:xfrm>
            <a:off x="762000" y="3762375"/>
            <a:ext cx="4953000" cy="2047800"/>
            <a:chOff x="0" y="0"/>
            <a:chExt cx="4953000" cy="2047800"/>
          </a:xfrm>
        </p:grpSpPr>
        <p:sp>
          <p:nvSpPr>
            <p:cNvPr id="397" name="Google Shape;397;p9"/>
            <p:cNvSpPr/>
            <p:nvPr/>
          </p:nvSpPr>
          <p:spPr>
            <a:xfrm>
              <a:off x="0" y="0"/>
              <a:ext cx="4953000" cy="2047800"/>
            </a:xfrm>
            <a:prstGeom prst="roundRect">
              <a:avLst>
                <a:gd fmla="val 5581" name="adj"/>
              </a:avLst>
            </a:prstGeom>
            <a:solidFill>
              <a:srgbClr val="131B2E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0" y="0"/>
              <a:ext cx="38100" cy="2047800"/>
            </a:xfrm>
            <a:prstGeom prst="roundRect">
              <a:avLst>
                <a:gd fmla="val 50000" name="adj"/>
              </a:avLst>
            </a:prstGeom>
            <a:solidFill>
              <a:srgbClr val="4ADE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304800" y="266700"/>
              <a:ext cx="4343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4ADE80"/>
                  </a:solidFill>
                  <a:latin typeface="Inter"/>
                  <a:ea typeface="Inter"/>
                  <a:cs typeface="Inter"/>
                  <a:sym typeface="Inter"/>
                </a:rPr>
                <a:t>TARGET TIME</a:t>
              </a:r>
              <a:endParaRPr b="1" i="0" sz="95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4ADE8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30 - </a:t>
              </a:r>
              <a:r>
                <a:rPr b="1" lang="en-US" sz="3200">
                  <a:solidFill>
                    <a:srgbClr val="4ADE8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</a:t>
              </a:r>
              <a:r>
                <a:rPr b="1" i="0" lang="en-US" sz="3200" u="none" cap="none" strike="noStrike">
                  <a:solidFill>
                    <a:srgbClr val="4ADE8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 Mins</a:t>
              </a:r>
              <a:endParaRPr b="1" i="0" sz="320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Allocated time for repository setup, AI prompt execution, and test verification.</a:t>
              </a:r>
              <a:endParaRPr b="0" i="0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0" name="Google Shape;400;p9"/>
          <p:cNvGrpSpPr/>
          <p:nvPr/>
        </p:nvGrpSpPr>
        <p:grpSpPr>
          <a:xfrm>
            <a:off x="6000750" y="1619250"/>
            <a:ext cx="5429400" cy="4191000"/>
            <a:chOff x="0" y="0"/>
            <a:chExt cx="5429400" cy="4191000"/>
          </a:xfrm>
        </p:grpSpPr>
        <p:sp>
          <p:nvSpPr>
            <p:cNvPr id="401" name="Google Shape;401;p9"/>
            <p:cNvSpPr/>
            <p:nvPr/>
          </p:nvSpPr>
          <p:spPr>
            <a:xfrm>
              <a:off x="0" y="0"/>
              <a:ext cx="5429400" cy="4191000"/>
            </a:xfrm>
            <a:prstGeom prst="roundRect">
              <a:avLst>
                <a:gd fmla="val 2727" name="adj"/>
              </a:avLst>
            </a:prstGeom>
            <a:solidFill>
              <a:srgbClr val="030712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0" y="0"/>
              <a:ext cx="5429400" cy="400200"/>
            </a:xfrm>
            <a:custGeom>
              <a:rect b="b" l="l" r="r" t="t"/>
              <a:pathLst>
                <a:path extrusionOk="0" h="120000" w="120000">
                  <a:moveTo>
                    <a:pt x="0" y="34286"/>
                  </a:moveTo>
                  <a:cubicBezTo>
                    <a:pt x="0" y="15343"/>
                    <a:pt x="1131" y="0"/>
                    <a:pt x="2526" y="0"/>
                  </a:cubicBezTo>
                  <a:lnTo>
                    <a:pt x="117474" y="0"/>
                  </a:lnTo>
                  <a:cubicBezTo>
                    <a:pt x="118869" y="0"/>
                    <a:pt x="120000" y="15343"/>
                    <a:pt x="120000" y="34286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9"/>
            <p:cNvCxnSpPr/>
            <p:nvPr/>
          </p:nvCxnSpPr>
          <p:spPr>
            <a:xfrm>
              <a:off x="0" y="4000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4" name="Google Shape;404;p9"/>
            <p:cNvSpPr/>
            <p:nvPr/>
          </p:nvSpPr>
          <p:spPr>
            <a:xfrm>
              <a:off x="14287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29527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44767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"/>
            <p:cNvSpPr txBox="1"/>
            <p:nvPr/>
          </p:nvSpPr>
          <p:spPr>
            <a:xfrm>
              <a:off x="762000" y="104775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LAB WORKFLOW STEPS</a:t>
              </a:r>
              <a:endParaRPr b="1" i="0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266700" y="571500"/>
              <a:ext cx="4896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Fork or Open Repository</a:t>
              </a:r>
              <a:endParaRPr b="1" i="0" sz="1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Clone to GitHub Codespaces or your local environment.</a:t>
              </a:r>
              <a:endParaRPr b="0" i="0" sz="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3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818C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Run Initial Test Suite</a:t>
              </a:r>
              <a:endParaRPr b="1" i="0" sz="1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Execute </a:t>
              </a:r>
              <a:r>
                <a:rPr b="0" i="0" lang="en-US" sz="950" u="none" cap="none" strike="noStrike">
                  <a:solidFill>
                    <a:srgbClr val="38BDF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npm test</a:t>
              </a:r>
              <a:r>
                <a:rPr b="0" i="0" lang="en-US" sz="9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in the terminal to capture failing tests.</a:t>
              </a:r>
              <a:endParaRPr b="0" i="0" sz="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3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2DD4B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Prompt AI Assistant</a:t>
              </a:r>
              <a:endParaRPr b="1" i="0" sz="1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Pass error logs and context files using the 3-part formula.</a:t>
              </a:r>
              <a:endParaRPr b="0" i="0" sz="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3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34D39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Verify &amp; Document</a:t>
              </a:r>
              <a:endParaRPr b="1" i="0" sz="1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Apply fixes, ensure all tests pass, and log steps in BUG_REPORT.md.</a:t>
              </a:r>
              <a:endParaRPr b="0" i="0" sz="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09" name="Google Shape;409;p9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